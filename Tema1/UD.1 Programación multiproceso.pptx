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2"/>
  </p:notes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75" r:id="rId10"/>
    <p:sldId id="276" r:id="rId11"/>
    <p:sldId id="277" r:id="rId12"/>
    <p:sldId id="258" r:id="rId13"/>
    <p:sldId id="278" r:id="rId14"/>
    <p:sldId id="279" r:id="rId15"/>
    <p:sldId id="259" r:id="rId16"/>
    <p:sldId id="260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0BA02-E641-43D2-B20D-97444800A10A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3F84-5E9D-4C2C-AAA9-90D59D61F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619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4D427-91C9-E7C8-B369-324DFEB8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04843DF-2A98-2736-773D-45BE403F4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FF32B2E-4E6A-B01D-7B38-3CFF09163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18539C-3D58-054D-5A10-4B1112E7A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3F84-5E9D-4C2C-AAA9-90D59D61FF51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2805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900B8-7310-AFDA-C61D-E11378B4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3A820A-2FD3-2D70-75FE-7B9865267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D80908-7220-C9FA-9E36-1046EBA77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2B6743-AD6C-C05D-8278-B61E155A0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3F84-5E9D-4C2C-AAA9-90D59D61FF51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490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0C5F9-A0D4-DCA1-E566-A404ED91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7C2559-56AE-171F-F1C5-6D8A6B5DC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52A1C71-9339-3566-F6F4-C1D6DD314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72530C-D57B-6E4F-EEDD-CD99A167C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3F84-5E9D-4C2C-AAA9-90D59D61FF51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8934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62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885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02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208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44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970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797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56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615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787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51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9B5FB1E-82B5-46F3-B88C-C868EE6E6AD7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80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7/docs/api/java/lang/ProcessBuilder.html" TargetMode="External"/><Relationship Id="rId2" Type="http://schemas.openxmlformats.org/officeDocument/2006/relationships/hyperlink" Target="https://docs.oracle.com/javase/7/docs/api/java/lang/Runtim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hyperlink" Target="https://docs.oracle.com/javase/7/docs/api/java/lang/Process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7/docs/api/java/lang/ProcessBuilder.html#redirectOutput()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e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CC8F6-47C8-FA21-27FC-9E4D4A9AB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42" y="2136520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s-ES" dirty="0"/>
              <a:t>UD.1 Programación multiproceso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393C01-BA27-947D-CB5D-24F50ACB07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PSP</a:t>
            </a:r>
          </a:p>
          <a:p>
            <a:r>
              <a:rPr lang="es-ES" dirty="0"/>
              <a:t>2º DAM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796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C09BF9A-8038-7028-84BD-1546E8ADA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03" y="154858"/>
            <a:ext cx="9960078" cy="604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8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6DEBED-D72B-DC80-4613-2E81DDFB2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7" y="209756"/>
            <a:ext cx="9999406" cy="598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4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B5FED35-48C7-980E-615D-711366034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0"/>
          <a:stretch/>
        </p:blipFill>
        <p:spPr>
          <a:xfrm>
            <a:off x="1002890" y="167968"/>
            <a:ext cx="10186220" cy="598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2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7A7E5B-8C49-A2D6-F711-7C421DB01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1"/>
          <a:stretch/>
        </p:blipFill>
        <p:spPr>
          <a:xfrm>
            <a:off x="1140541" y="69645"/>
            <a:ext cx="10215717" cy="594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5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F946D38-8E39-C50E-320F-038DCF5C5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0" b="5502"/>
          <a:stretch/>
        </p:blipFill>
        <p:spPr>
          <a:xfrm>
            <a:off x="1179870" y="98323"/>
            <a:ext cx="9979743" cy="618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88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AFFB82C-F315-AAA6-CE3B-4F1F50308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3" b="3159"/>
          <a:stretch/>
        </p:blipFill>
        <p:spPr>
          <a:xfrm>
            <a:off x="1139313" y="176981"/>
            <a:ext cx="10010468" cy="61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6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CB96A13-7381-C119-F0BD-78CC66543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" b="6554"/>
          <a:stretch/>
        </p:blipFill>
        <p:spPr>
          <a:xfrm>
            <a:off x="1179871" y="196644"/>
            <a:ext cx="10048568" cy="61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72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595E-86B6-7BB7-1550-26437075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51A4B-6FA0-37B3-830B-14ECD562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93" y="527981"/>
            <a:ext cx="10058400" cy="837708"/>
          </a:xfrm>
        </p:spPr>
        <p:txBody>
          <a:bodyPr/>
          <a:lstStyle/>
          <a:p>
            <a:r>
              <a:rPr lang="es-ES" dirty="0"/>
              <a:t>Gestión y estado entre los procesos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2BBB10-320D-775F-19F9-1286B7E60B61}"/>
              </a:ext>
            </a:extLst>
          </p:cNvPr>
          <p:cNvSpPr txBox="1"/>
          <p:nvPr/>
        </p:nvSpPr>
        <p:spPr>
          <a:xfrm>
            <a:off x="954472" y="1874268"/>
            <a:ext cx="10058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/>
              <a:t>Nuevo:</a:t>
            </a:r>
            <a:r>
              <a:rPr lang="es-ES" altLang="es-ES" dirty="0"/>
              <a:t> técnicamente no es un estado, sino el reflejo del instante en el que se crea el proceso.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/>
              <a:t>Listo: e</a:t>
            </a:r>
            <a:r>
              <a:rPr lang="es-ES" altLang="es-ES" dirty="0"/>
              <a:t>l proceso está en memoria, preparado para ejecutarse. Está a la espera de que el planificador le conceda tiempo de procesamiento.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/>
              <a:t>En ejecución:</a:t>
            </a:r>
            <a:r>
              <a:rPr lang="es-ES" altLang="es-ES" dirty="0"/>
              <a:t> el proceso se encuentra en ejecución.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/>
              <a:t>Bloqueado: s</a:t>
            </a:r>
            <a:r>
              <a:rPr lang="es-ES" altLang="es-ES" dirty="0"/>
              <a:t>e encuentra a la espera de que ocurra un evento externo ajeno al planificador.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s-ES" b="1" dirty="0"/>
              <a:t>Finalizado:</a:t>
            </a:r>
            <a:r>
              <a:rPr lang="es-ES" altLang="es-ES" dirty="0"/>
              <a:t> al igual que el «estado» Nuevo, no es técnicamente un estado. Refleja el instante posterior a la finalización del proceso.</a:t>
            </a:r>
          </a:p>
        </p:txBody>
      </p:sp>
      <p:pic>
        <p:nvPicPr>
          <p:cNvPr id="5123" name="Picture 3" descr="Algoritmos de Planificación de Procesos – Portfolio">
            <a:extLst>
              <a:ext uri="{FF2B5EF4-FFF2-40B4-BE49-F238E27FC236}">
                <a16:creationId xmlns:a16="http://schemas.microsoft.com/office/drawing/2014/main" id="{82F273DD-3559-A31D-F5D6-400221C44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994" y="4130446"/>
            <a:ext cx="5851797" cy="1940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905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927D5-9E83-3A04-41C7-39E4D838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CB68C-AA4E-B654-4EF6-036E0228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93" y="527981"/>
            <a:ext cx="10058400" cy="837708"/>
          </a:xfrm>
        </p:spPr>
        <p:txBody>
          <a:bodyPr/>
          <a:lstStyle/>
          <a:p>
            <a:r>
              <a:rPr lang="es-ES" dirty="0"/>
              <a:t>Sincronización entre procesos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042CB8C-1FC9-BE45-4489-C2ED0F533523}"/>
              </a:ext>
            </a:extLst>
          </p:cNvPr>
          <p:cNvSpPr txBox="1"/>
          <p:nvPr/>
        </p:nvSpPr>
        <p:spPr>
          <a:xfrm>
            <a:off x="954472" y="1874268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 dirty="0">
                <a:solidFill>
                  <a:schemeClr val="accent1"/>
                </a:solidFill>
              </a:rPr>
              <a:t>Mecanismos para gestionar un proceso:</a:t>
            </a:r>
            <a:endParaRPr lang="es-ES" altLang="es-ES" dirty="0">
              <a:solidFill>
                <a:schemeClr val="accent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ACCB81-F79F-787C-052E-87AEC6CFE15E}"/>
              </a:ext>
            </a:extLst>
          </p:cNvPr>
          <p:cNvSpPr txBox="1"/>
          <p:nvPr/>
        </p:nvSpPr>
        <p:spPr>
          <a:xfrm>
            <a:off x="693174" y="2299666"/>
            <a:ext cx="108843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Ejecución:</a:t>
            </a:r>
            <a:r>
              <a:rPr lang="es-ES" dirty="0"/>
              <a:t> un mecanismo para ejecutar procesos desde un proceso.</a:t>
            </a:r>
          </a:p>
          <a:p>
            <a:r>
              <a:rPr lang="es-ES" b="1" dirty="0"/>
              <a:t>Espera:</a:t>
            </a:r>
            <a:r>
              <a:rPr lang="es-ES" dirty="0"/>
              <a:t> un mecanismo para bloquear la ejecución de un proceso a la espera de que otro proceso termine.</a:t>
            </a:r>
          </a:p>
          <a:p>
            <a:r>
              <a:rPr lang="es-ES" b="1" dirty="0"/>
              <a:t>Generación de código de terminación:</a:t>
            </a:r>
            <a:r>
              <a:rPr lang="es-ES" dirty="0"/>
              <a:t> un mecanismo de comunicación que permita indicar a un proceso cómo ha terminado la ejecución mediante un código.</a:t>
            </a:r>
          </a:p>
          <a:p>
            <a:r>
              <a:rPr lang="es-ES" b="1" dirty="0"/>
              <a:t>Obtención de código de terminación:</a:t>
            </a:r>
            <a:r>
              <a:rPr lang="es-ES" dirty="0"/>
              <a:t> un mecanismo que permita a un proceso obtener el código de terminación de otro proceso.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46D6CAB-C3E4-2803-C23F-075F7FE28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343479"/>
              </p:ext>
            </p:extLst>
          </p:nvPr>
        </p:nvGraphicFramePr>
        <p:xfrm>
          <a:off x="1672969" y="4110059"/>
          <a:ext cx="9339903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4728">
                  <a:extLst>
                    <a:ext uri="{9D8B030D-6E8A-4147-A177-3AD203B41FA5}">
                      <a16:colId xmlns:a16="http://schemas.microsoft.com/office/drawing/2014/main" val="701604226"/>
                    </a:ext>
                  </a:extLst>
                </a:gridCol>
                <a:gridCol w="2151874">
                  <a:extLst>
                    <a:ext uri="{9D8B030D-6E8A-4147-A177-3AD203B41FA5}">
                      <a16:colId xmlns:a16="http://schemas.microsoft.com/office/drawing/2014/main" val="2104153915"/>
                    </a:ext>
                  </a:extLst>
                </a:gridCol>
                <a:gridCol w="3113301">
                  <a:extLst>
                    <a:ext uri="{9D8B030D-6E8A-4147-A177-3AD203B41FA5}">
                      <a16:colId xmlns:a16="http://schemas.microsoft.com/office/drawing/2014/main" val="237503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" dirty="0"/>
                        <a:t>Mecanismo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Clase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Método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35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Runtime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Exec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880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ProcessBuilder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Start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63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Espera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Process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waitFor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796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Generación de código de terminación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System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Exit</a:t>
                      </a:r>
                      <a:r>
                        <a:rPr lang="es-ES" dirty="0"/>
                        <a:t>(valor)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626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Obtención de código de terminación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Process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waitFor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36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16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44C04-EF31-BA2B-0B2F-87187A9D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38AE9-F3ED-220A-673D-5C2B4ED57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93" y="527981"/>
            <a:ext cx="10058400" cy="837708"/>
          </a:xfrm>
        </p:spPr>
        <p:txBody>
          <a:bodyPr/>
          <a:lstStyle/>
          <a:p>
            <a:r>
              <a:rPr lang="es-ES" dirty="0"/>
              <a:t>Sincronización entre procesos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7DBE62-8559-74D2-1652-CFE380B8D59A}"/>
              </a:ext>
            </a:extLst>
          </p:cNvPr>
          <p:cNvSpPr txBox="1"/>
          <p:nvPr/>
        </p:nvSpPr>
        <p:spPr>
          <a:xfrm>
            <a:off x="1529659" y="1874268"/>
            <a:ext cx="1420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 dirty="0">
                <a:solidFill>
                  <a:schemeClr val="accent1"/>
                </a:solidFill>
              </a:rPr>
              <a:t>Ejemplo</a:t>
            </a:r>
            <a:endParaRPr lang="es-ES" altLang="es-ES" dirty="0">
              <a:solidFill>
                <a:schemeClr val="accent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5A6BB8-9C87-89A3-34BF-6CB14AEFAA92}"/>
              </a:ext>
            </a:extLst>
          </p:cNvPr>
          <p:cNvSpPr txBox="1"/>
          <p:nvPr/>
        </p:nvSpPr>
        <p:spPr>
          <a:xfrm>
            <a:off x="5262716" y="6042228"/>
            <a:ext cx="1666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En Linux/Unix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17DD622-534F-AAF1-BC20-19E0CBD98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409" y="1874268"/>
            <a:ext cx="5054524" cy="1712349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88724E42-76B0-9AE8-6FBA-00306BC58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206180"/>
              </p:ext>
            </p:extLst>
          </p:nvPr>
        </p:nvGraphicFramePr>
        <p:xfrm>
          <a:off x="1729733" y="3782705"/>
          <a:ext cx="9026013" cy="2259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89">
                  <a:extLst>
                    <a:ext uri="{9D8B030D-6E8A-4147-A177-3AD203B41FA5}">
                      <a16:colId xmlns:a16="http://schemas.microsoft.com/office/drawing/2014/main" val="701604226"/>
                    </a:ext>
                  </a:extLst>
                </a:gridCol>
                <a:gridCol w="6954624">
                  <a:extLst>
                    <a:ext uri="{9D8B030D-6E8A-4147-A177-3AD203B41FA5}">
                      <a16:colId xmlns:a16="http://schemas.microsoft.com/office/drawing/2014/main" val="2104153915"/>
                    </a:ext>
                  </a:extLst>
                </a:gridCol>
              </a:tblGrid>
              <a:tr h="334511">
                <a:tc>
                  <a:txBody>
                    <a:bodyPr/>
                    <a:lstStyle/>
                    <a:p>
                      <a:r>
                        <a:rPr lang="es-ES" sz="1600" dirty="0"/>
                        <a:t>Código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Descripción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29035730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/>
                        <a:t>0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El proceso ha terminado correctamente.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294388017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1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Error genérico o fallo en la ejecución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066632318"/>
                  </a:ext>
                </a:extLst>
              </a:tr>
              <a:tr h="586968">
                <a:tc>
                  <a:txBody>
                    <a:bodyPr/>
                    <a:lstStyle/>
                    <a:p>
                      <a:r>
                        <a:rPr lang="es-ES" sz="1600" dirty="0"/>
                        <a:t>2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Error de uso incorrecto, por </a:t>
                      </a:r>
                      <a:r>
                        <a:rPr lang="es-ES" sz="1600"/>
                        <a:t>ejempl,o</a:t>
                      </a:r>
                      <a:r>
                        <a:rPr lang="es-ES" sz="1600" dirty="0"/>
                        <a:t> argumentos inválidos en la línea de comandos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12679600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/>
                        <a:t>126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comando no ejecutable.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16362699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127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comando no encontrado.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016236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385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0D7C9-D0AA-156E-BAAE-A05CAC071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018458" cy="825062"/>
          </a:xfrm>
        </p:spPr>
        <p:txBody>
          <a:bodyPr>
            <a:normAutofit/>
          </a:bodyPr>
          <a:lstStyle/>
          <a:p>
            <a:r>
              <a:rPr lang="es-ES" dirty="0"/>
              <a:t>Programación multiproceso en JAVA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C7FCF7-C8B6-F264-A4E6-FF3B4EFBC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229" y="2000063"/>
            <a:ext cx="8596668" cy="8250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2000" b="0" i="0" dirty="0">
                <a:solidFill>
                  <a:schemeClr val="tx1"/>
                </a:solidFill>
                <a:effectLst/>
                <a:latin typeface="Antic Didone"/>
              </a:rPr>
              <a:t>Hay 2 clases principalmente para crear estos procesos: </a:t>
            </a:r>
            <a:r>
              <a:rPr lang="es-ES" sz="2000" b="1" i="0" u="none" strike="noStrike" dirty="0" err="1">
                <a:solidFill>
                  <a:schemeClr val="tx1"/>
                </a:solidFill>
                <a:effectLst/>
                <a:latin typeface="Antic Didon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Runtime</a:t>
            </a:r>
            <a:r>
              <a:rPr lang="es-ES" sz="2000" b="0" i="0" dirty="0">
                <a:solidFill>
                  <a:schemeClr val="tx1"/>
                </a:solidFill>
                <a:effectLst/>
                <a:latin typeface="Antic Didone"/>
              </a:rPr>
              <a:t> y </a:t>
            </a:r>
            <a:r>
              <a:rPr lang="es-ES" sz="2000" b="1" i="0" u="none" strike="noStrike" dirty="0">
                <a:solidFill>
                  <a:schemeClr val="tx1"/>
                </a:solidFill>
                <a:effectLst/>
                <a:latin typeface="Antic Dido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ProcessBuilder</a:t>
            </a:r>
            <a:r>
              <a:rPr lang="es-ES" sz="2000" b="0" i="0" dirty="0">
                <a:solidFill>
                  <a:schemeClr val="tx1"/>
                </a:solidFill>
                <a:effectLst/>
                <a:latin typeface="Antic Didone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2000" b="0" i="0" dirty="0">
                <a:solidFill>
                  <a:schemeClr val="tx1"/>
                </a:solidFill>
                <a:effectLst/>
                <a:latin typeface="Antic Didone"/>
              </a:rPr>
              <a:t> Ambas clases son gestionadas mediante  la clase </a:t>
            </a:r>
            <a:r>
              <a:rPr lang="es-ES" sz="2000" b="1" i="0" u="none" strike="noStrike" dirty="0">
                <a:solidFill>
                  <a:schemeClr val="tx1"/>
                </a:solidFill>
                <a:effectLst/>
                <a:latin typeface="Antic Didon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</a:t>
            </a:r>
            <a:r>
              <a:rPr lang="es-ES" sz="2000" b="0" i="0" dirty="0">
                <a:solidFill>
                  <a:schemeClr val="tx1"/>
                </a:solidFill>
                <a:effectLst/>
                <a:latin typeface="Antic Didone"/>
              </a:rPr>
              <a:t>.</a:t>
            </a:r>
            <a:endParaRPr lang="es-ES" sz="2000" dirty="0">
              <a:solidFill>
                <a:schemeClr val="tx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1B8FD9-23E2-F815-0175-C48CFA367D4E}"/>
              </a:ext>
            </a:extLst>
          </p:cNvPr>
          <p:cNvSpPr txBox="1"/>
          <p:nvPr/>
        </p:nvSpPr>
        <p:spPr>
          <a:xfrm>
            <a:off x="888229" y="3123865"/>
            <a:ext cx="886080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ES" b="1" i="1" u="none" strike="noStrike" dirty="0">
                <a:effectLst/>
                <a:latin typeface="+mj-lt"/>
                <a:cs typeface="Alef" panose="00000500000000000000" pitchFamily="2" charset="-79"/>
              </a:rPr>
              <a:t>Process</a:t>
            </a:r>
          </a:p>
          <a:p>
            <a:pPr algn="l" fontAlgn="base"/>
            <a:r>
              <a:rPr lang="es-ES" sz="2000" dirty="0">
                <a:latin typeface="Antic Didone"/>
              </a:rPr>
              <a:t>Es una clase abstracta que permite controlar los procesos nativos del sistema que devuelven las clases </a:t>
            </a:r>
            <a:r>
              <a:rPr lang="es-ES" sz="2000" dirty="0" err="1">
                <a:latin typeface="Antic Didone"/>
              </a:rPr>
              <a:t>Runtime</a:t>
            </a:r>
            <a:r>
              <a:rPr lang="es-ES" sz="2000" dirty="0">
                <a:latin typeface="Antic Didone"/>
              </a:rPr>
              <a:t> y ProcessBuilder.</a:t>
            </a:r>
          </a:p>
        </p:txBody>
      </p:sp>
      <p:pic>
        <p:nvPicPr>
          <p:cNvPr id="1026" name="Picture 2" descr="Understanding Java Process and Java ProcessBuilder | Developer.com">
            <a:extLst>
              <a:ext uri="{FF2B5EF4-FFF2-40B4-BE49-F238E27FC236}">
                <a16:creationId xmlns:a16="http://schemas.microsoft.com/office/drawing/2014/main" id="{0CDA3E50-74FB-704C-84C4-36B38011A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064" y="4407490"/>
            <a:ext cx="2947833" cy="164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940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CF6F-FA50-B624-8581-2EB7C578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24BAA-9AEC-AA65-CCAD-95F271DD1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018458" cy="825062"/>
          </a:xfrm>
        </p:spPr>
        <p:txBody>
          <a:bodyPr>
            <a:normAutofit/>
          </a:bodyPr>
          <a:lstStyle/>
          <a:p>
            <a:r>
              <a:rPr lang="es-ES" dirty="0"/>
              <a:t>Programación multiproceso en JAVA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B3CEA61E-A482-823B-0DC5-2FF9A57C3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027247"/>
              </p:ext>
            </p:extLst>
          </p:nvPr>
        </p:nvGraphicFramePr>
        <p:xfrm>
          <a:off x="1729733" y="2750318"/>
          <a:ext cx="9026013" cy="3398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89">
                  <a:extLst>
                    <a:ext uri="{9D8B030D-6E8A-4147-A177-3AD203B41FA5}">
                      <a16:colId xmlns:a16="http://schemas.microsoft.com/office/drawing/2014/main" val="701604226"/>
                    </a:ext>
                  </a:extLst>
                </a:gridCol>
                <a:gridCol w="6954624">
                  <a:extLst>
                    <a:ext uri="{9D8B030D-6E8A-4147-A177-3AD203B41FA5}">
                      <a16:colId xmlns:a16="http://schemas.microsoft.com/office/drawing/2014/main" val="2104153915"/>
                    </a:ext>
                  </a:extLst>
                </a:gridCol>
              </a:tblGrid>
              <a:tr h="334511">
                <a:tc>
                  <a:txBody>
                    <a:bodyPr/>
                    <a:lstStyle/>
                    <a:p>
                      <a:r>
                        <a:rPr lang="es-ES" sz="1600" dirty="0"/>
                        <a:t>Método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Descripción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29035730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 err="1"/>
                        <a:t>Destroy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Destruye el proceso sobre el que se ejecuta.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294388017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Exitvalue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Devuelve el valor de retorno del proceso cuando este finaliza. Sirve para controlar el estado de la ejecución.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066632318"/>
                  </a:ext>
                </a:extLst>
              </a:tr>
              <a:tr h="586968">
                <a:tc>
                  <a:txBody>
                    <a:bodyPr/>
                    <a:lstStyle/>
                    <a:p>
                      <a:r>
                        <a:rPr lang="es-ES" sz="1600" dirty="0" err="1"/>
                        <a:t>getErrorStream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Proporciona un </a:t>
                      </a:r>
                      <a:r>
                        <a:rPr lang="es-ES" sz="1600" dirty="0" err="1"/>
                        <a:t>InputStream</a:t>
                      </a:r>
                      <a:r>
                        <a:rPr lang="es-ES" sz="1600" dirty="0"/>
                        <a:t> conectado a la salida de error del proceso.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12679600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 err="1"/>
                        <a:t>getInputStream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Proporciona un </a:t>
                      </a:r>
                      <a:r>
                        <a:rPr lang="es-ES" sz="1600" dirty="0" err="1"/>
                        <a:t>InputStream</a:t>
                      </a:r>
                      <a:r>
                        <a:rPr lang="es-ES" sz="1600" dirty="0"/>
                        <a:t> conectado a la salida normal del proceso.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16362699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getOutputStream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Proporciona un </a:t>
                      </a:r>
                      <a:r>
                        <a:rPr lang="es-ES" sz="1600" dirty="0" err="1"/>
                        <a:t>OutputStream</a:t>
                      </a:r>
                      <a:r>
                        <a:rPr lang="es-ES" sz="1600" dirty="0"/>
                        <a:t> conectado a la entrada normal del proceso.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01623662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isAlive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Determina si el proceso está o no en ejecución.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484380725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waitFor</a:t>
                      </a:r>
                      <a:r>
                        <a:rPr lang="es-ES" sz="1600" dirty="0"/>
                        <a:t>()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Detiene la ejecución del programa que lanza el proceso a la espera de que este último termine.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619786758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A82F9D0-D416-8AB5-172A-77C9A538B200}"/>
              </a:ext>
            </a:extLst>
          </p:cNvPr>
          <p:cNvSpPr txBox="1"/>
          <p:nvPr/>
        </p:nvSpPr>
        <p:spPr>
          <a:xfrm>
            <a:off x="1729733" y="2124990"/>
            <a:ext cx="3425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 dirty="0">
                <a:solidFill>
                  <a:schemeClr val="accent1"/>
                </a:solidFill>
              </a:rPr>
              <a:t>Métodos de la clase </a:t>
            </a:r>
            <a:r>
              <a:rPr lang="es-ES" altLang="es-ES" b="1" dirty="0" err="1">
                <a:solidFill>
                  <a:schemeClr val="accent1"/>
                </a:solidFill>
              </a:rPr>
              <a:t>Process</a:t>
            </a:r>
            <a:r>
              <a:rPr lang="es-ES" altLang="es-ES" b="1" dirty="0">
                <a:solidFill>
                  <a:schemeClr val="accent1"/>
                </a:solidFill>
              </a:rPr>
              <a:t>:</a:t>
            </a:r>
            <a:endParaRPr lang="es-ES" altLang="es-E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62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6EC2E-92D5-A58D-0739-D63428517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8E5F3-0C80-F3E6-D354-4994BAA9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018458" cy="825062"/>
          </a:xfrm>
        </p:spPr>
        <p:txBody>
          <a:bodyPr>
            <a:normAutofit/>
          </a:bodyPr>
          <a:lstStyle/>
          <a:p>
            <a:r>
              <a:rPr lang="es-ES" dirty="0"/>
              <a:t>Programación multiproceso en JAVA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F077F43-3C75-B1B8-4558-90D5320FD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488289"/>
              </p:ext>
            </p:extLst>
          </p:nvPr>
        </p:nvGraphicFramePr>
        <p:xfrm>
          <a:off x="1582993" y="2602834"/>
          <a:ext cx="9026013" cy="3163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89">
                  <a:extLst>
                    <a:ext uri="{9D8B030D-6E8A-4147-A177-3AD203B41FA5}">
                      <a16:colId xmlns:a16="http://schemas.microsoft.com/office/drawing/2014/main" val="701604226"/>
                    </a:ext>
                  </a:extLst>
                </a:gridCol>
                <a:gridCol w="6954624">
                  <a:extLst>
                    <a:ext uri="{9D8B030D-6E8A-4147-A177-3AD203B41FA5}">
                      <a16:colId xmlns:a16="http://schemas.microsoft.com/office/drawing/2014/main" val="2104153915"/>
                    </a:ext>
                  </a:extLst>
                </a:gridCol>
              </a:tblGrid>
              <a:tr h="334511">
                <a:tc>
                  <a:txBody>
                    <a:bodyPr/>
                    <a:lstStyle/>
                    <a:p>
                      <a:r>
                        <a:rPr lang="es-ES" sz="1600" dirty="0"/>
                        <a:t>Método</a:t>
                      </a:r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Descripción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29035730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 err="1"/>
                        <a:t>start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Inicia un nuevo proceso usando los atributos especificados.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2943880174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command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Permite obtener o asignar el programa y los argumentos de la instancia de ProcessBuilder.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066632318"/>
                  </a:ext>
                </a:extLst>
              </a:tr>
              <a:tr h="586968">
                <a:tc>
                  <a:txBody>
                    <a:bodyPr/>
                    <a:lstStyle/>
                    <a:p>
                      <a:r>
                        <a:rPr lang="es-ES" sz="1600" dirty="0" err="1"/>
                        <a:t>directory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Permite  obtener o asignar el directorio de trabajo del proceso.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4126796002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r>
                        <a:rPr lang="es-ES" sz="1600" dirty="0" err="1"/>
                        <a:t>environment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Proporciona información sobre el entorno de ejecución del proceso.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3163626997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redirectError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Permite determinar el destino de la salida de errores.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016236623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redirectInput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r>
                        <a:rPr lang="es-E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Lee la información  de un fichero y la almacena en RAM ese </a:t>
                      </a:r>
                      <a:r>
                        <a:rPr lang="es-E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processBuilder</a:t>
                      </a:r>
                      <a:r>
                        <a:rPr lang="es-E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484380725"/>
                  </a:ext>
                </a:extLst>
              </a:tr>
              <a:tr h="33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redirectOutput</a:t>
                      </a:r>
                      <a:endParaRPr lang="es-ES" sz="1600" dirty="0"/>
                    </a:p>
                  </a:txBody>
                  <a:tcPr marL="82055" marR="82055" marT="41027" marB="41027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Escribe la información del </a:t>
                      </a:r>
                      <a:r>
                        <a:rPr lang="es-E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proccesbuilder</a:t>
                      </a:r>
                      <a:r>
                        <a:rPr lang="es-E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en un fichero.</a:t>
                      </a:r>
                    </a:p>
                  </a:txBody>
                  <a:tcPr marL="82055" marR="82055" marT="41027" marB="41027"/>
                </a:tc>
                <a:extLst>
                  <a:ext uri="{0D108BD9-81ED-4DB2-BD59-A6C34878D82A}">
                    <a16:rowId xmlns:a16="http://schemas.microsoft.com/office/drawing/2014/main" val="1619786758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7BA73003-51A4-E0F2-0735-81674B206F4D}"/>
              </a:ext>
            </a:extLst>
          </p:cNvPr>
          <p:cNvSpPr txBox="1"/>
          <p:nvPr/>
        </p:nvSpPr>
        <p:spPr>
          <a:xfrm>
            <a:off x="1729733" y="2124990"/>
            <a:ext cx="4848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ES" b="1" dirty="0">
                <a:solidFill>
                  <a:schemeClr val="accent1"/>
                </a:solidFill>
              </a:rPr>
              <a:t>Métodos de la clase ProcessBuilder:</a:t>
            </a:r>
            <a:endParaRPr lang="es-ES" altLang="es-ES" dirty="0">
              <a:solidFill>
                <a:schemeClr val="accent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1781161-B7C7-F5B0-DD33-FEC9FE0E273D}"/>
              </a:ext>
            </a:extLst>
          </p:cNvPr>
          <p:cNvSpPr txBox="1"/>
          <p:nvPr/>
        </p:nvSpPr>
        <p:spPr>
          <a:xfrm>
            <a:off x="2512496" y="5875114"/>
            <a:ext cx="9932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2"/>
              </a:rPr>
              <a:t>https://docs.oracle.com/javase/7/docs/api/java/lang/ProcessBuilder.html#redirectOutput()</a:t>
            </a:r>
            <a:endParaRPr lang="es-ES" dirty="0"/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60641ED-6731-1E28-51CA-9C1E6328F53E}"/>
              </a:ext>
            </a:extLst>
          </p:cNvPr>
          <p:cNvSpPr txBox="1"/>
          <p:nvPr/>
        </p:nvSpPr>
        <p:spPr>
          <a:xfrm>
            <a:off x="677334" y="5875114"/>
            <a:ext cx="622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Documentación</a:t>
            </a:r>
            <a:endParaRPr lang="es-E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09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C03FF-8158-7DF9-4716-6B75C6EC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6234"/>
          </a:xfrm>
        </p:spPr>
        <p:txBody>
          <a:bodyPr/>
          <a:lstStyle/>
          <a:p>
            <a:r>
              <a:rPr lang="es-ES" dirty="0"/>
              <a:t>Proccess Builder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09F028-4769-FEF0-79CE-26D6AA55A49C}"/>
              </a:ext>
            </a:extLst>
          </p:cNvPr>
          <p:cNvSpPr txBox="1"/>
          <p:nvPr/>
        </p:nvSpPr>
        <p:spPr>
          <a:xfrm>
            <a:off x="1388851" y="2003908"/>
            <a:ext cx="577886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RUTA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“pokemon.exe"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//ProcessBuilder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pb = new ProcessBuilder();</a:t>
            </a:r>
          </a:p>
          <a:p>
            <a:r>
              <a:rPr 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//pb.command("ping", "google.com");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ProcessBuilder </a:t>
            </a:r>
            <a:r>
              <a:rPr lang="en-US" sz="1600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ProcessBuilder(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RUTA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s-E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Process </a:t>
            </a:r>
            <a:r>
              <a:rPr lang="es-ES" sz="16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s-ES" sz="1600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.start(); </a:t>
            </a:r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Iniciamos el proceso</a:t>
            </a:r>
            <a:endParaRPr lang="es-E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endParaRPr lang="es-ES" sz="1600" dirty="0">
              <a:latin typeface="Consolas" panose="020B0609020204030204" pitchFamily="49" charset="0"/>
            </a:endParaRPr>
          </a:p>
          <a:p>
            <a:pPr algn="l"/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s-ES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"ID del proceso "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.pid());</a:t>
            </a:r>
            <a:endParaRPr lang="es-ES" sz="1600" dirty="0">
              <a:latin typeface="Consolas" panose="020B0609020204030204" pitchFamily="49" charset="0"/>
            </a:endParaRPr>
          </a:p>
          <a:p>
            <a:pPr algn="l"/>
            <a:endParaRPr lang="es-ES" sz="1600" dirty="0">
              <a:latin typeface="Consolas" panose="020B0609020204030204" pitchFamily="49" charset="0"/>
            </a:endParaRPr>
          </a:p>
          <a:p>
            <a:pPr algn="l"/>
            <a:r>
              <a:rPr lang="es-ES" sz="16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.destroy(); </a:t>
            </a:r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Destruimos el proceso</a:t>
            </a:r>
          </a:p>
          <a:p>
            <a:pPr algn="l"/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s-ES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"Proceso finalizado"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s-ES" sz="1600" dirty="0">
              <a:latin typeface="Consolas" panose="020B0609020204030204" pitchFamily="49" charset="0"/>
            </a:endParaRPr>
          </a:p>
          <a:p>
            <a:pPr algn="l"/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s-E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(IOException </a:t>
            </a:r>
            <a:r>
              <a:rPr lang="es-E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s-E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endParaRPr lang="es-ES" sz="1600" dirty="0">
              <a:latin typeface="Consolas" panose="020B0609020204030204" pitchFamily="49" charset="0"/>
            </a:endParaRPr>
          </a:p>
          <a:p>
            <a:pPr algn="l"/>
            <a:r>
              <a:rPr lang="es-ES" sz="1600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.printStackTrace();</a:t>
            </a:r>
          </a:p>
          <a:p>
            <a:pPr algn="l"/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s-ES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AAD630-0127-ECE8-2106-5BA09E3B78D4}"/>
              </a:ext>
            </a:extLst>
          </p:cNvPr>
          <p:cNvSpPr txBox="1"/>
          <p:nvPr/>
        </p:nvSpPr>
        <p:spPr>
          <a:xfrm>
            <a:off x="6449750" y="4835453"/>
            <a:ext cx="4849210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1.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Instanciar el lanzador de procesos</a:t>
            </a:r>
          </a:p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2.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Construir el comando a ejecutar</a:t>
            </a:r>
          </a:p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3.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Lanzar el proceso/comando</a:t>
            </a:r>
          </a:p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4.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Obtener el id del proceso</a:t>
            </a:r>
          </a:p>
          <a:p>
            <a:pPr algn="l"/>
            <a:r>
              <a:rPr lang="es-ES" sz="1600" dirty="0">
                <a:solidFill>
                  <a:srgbClr val="3F7F5F"/>
                </a:solidFill>
                <a:latin typeface="Consolas" panose="020B0609020204030204" pitchFamily="49" charset="0"/>
              </a:rPr>
              <a:t>5. </a:t>
            </a:r>
            <a:r>
              <a:rPr lang="es-ES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Destruir el proceso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695257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C03FF-8158-7DF9-4716-6B75C6EC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6234"/>
          </a:xfrm>
        </p:spPr>
        <p:txBody>
          <a:bodyPr/>
          <a:lstStyle/>
          <a:p>
            <a:r>
              <a:rPr lang="es-ES" dirty="0" err="1"/>
              <a:t>Runtime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09F028-4769-FEF0-79CE-26D6AA55A49C}"/>
              </a:ext>
            </a:extLst>
          </p:cNvPr>
          <p:cNvSpPr txBox="1"/>
          <p:nvPr/>
        </p:nvSpPr>
        <p:spPr>
          <a:xfrm>
            <a:off x="803718" y="1847195"/>
            <a:ext cx="71736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sv-SE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sv-S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sv-SE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RUTA</a:t>
            </a:r>
            <a:r>
              <a:rPr lang="sv-S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v-SE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”pokemon.exe"</a:t>
            </a:r>
            <a:r>
              <a:rPr lang="sv-SE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s-ES" sz="1400" dirty="0">
              <a:latin typeface="Consolas" panose="020B0609020204030204" pitchFamily="49" charset="0"/>
            </a:endParaRPr>
          </a:p>
          <a:p>
            <a:pPr algn="l"/>
            <a:r>
              <a:rPr lang="es-E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s-E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es-ES" sz="1400" dirty="0">
              <a:latin typeface="Consolas" panose="020B0609020204030204" pitchFamily="49" charset="0"/>
            </a:endParaRP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Process </a:t>
            </a:r>
            <a:r>
              <a:rPr lang="es-ES" sz="14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Runtime.</a:t>
            </a:r>
            <a:r>
              <a:rPr lang="es-ES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getRuntime().exec(</a:t>
            </a:r>
            <a:r>
              <a:rPr lang="es-ES" sz="1400" i="1" dirty="0">
                <a:solidFill>
                  <a:srgbClr val="6A3E3E"/>
                </a:solidFill>
                <a:latin typeface="Consolas" panose="020B0609020204030204" pitchFamily="49" charset="0"/>
              </a:rPr>
              <a:t>RUTA</a:t>
            </a:r>
            <a:r>
              <a:rPr lang="es-ES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s-E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"ID del proceso "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s-ES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.pid());</a:t>
            </a:r>
          </a:p>
          <a:p>
            <a:pPr algn="l"/>
            <a:r>
              <a:rPr lang="es-ES" sz="1400" dirty="0">
                <a:solidFill>
                  <a:srgbClr val="3F7F5F"/>
                </a:solidFill>
                <a:latin typeface="Consolas" panose="020B0609020204030204" pitchFamily="49" charset="0"/>
              </a:rPr>
              <a:t>// CAPTURA DE LA SALIDA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BufferedReader </a:t>
            </a:r>
            <a:r>
              <a:rPr lang="en-US" sz="1400" dirty="0">
                <a:solidFill>
                  <a:srgbClr val="6A3E3E"/>
                </a:solidFill>
                <a:latin typeface="Consolas" panose="020B0609020204030204" pitchFamily="49" charset="0"/>
              </a:rPr>
              <a:t>reader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BufferedReader(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InputStreamReader(</a:t>
            </a:r>
            <a:r>
              <a:rPr lang="en-US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.getInputStream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()));</a:t>
            </a:r>
          </a:p>
          <a:p>
            <a:pPr algn="l"/>
            <a:r>
              <a:rPr lang="es-ES" sz="1400" dirty="0">
                <a:solidFill>
                  <a:srgbClr val="3F7F5F"/>
                </a:solidFill>
                <a:latin typeface="Consolas" panose="020B0609020204030204" pitchFamily="49" charset="0"/>
              </a:rPr>
              <a:t>// MOSTRAR LA SALIDA DEL PING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s-ES" sz="1400" dirty="0">
                <a:solidFill>
                  <a:srgbClr val="6A3E3E"/>
                </a:solidFill>
                <a:latin typeface="Consolas" panose="020B0609020204030204" pitchFamily="49" charset="0"/>
              </a:rPr>
              <a:t>line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((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line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reader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.readLine()) !=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s-ES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line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s-ES" sz="14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.destroy(); </a:t>
            </a:r>
            <a:r>
              <a:rPr lang="es-ES" sz="14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es-ES" sz="1400" u="sng" dirty="0">
                <a:solidFill>
                  <a:srgbClr val="3F7F5F"/>
                </a:solidFill>
                <a:latin typeface="Consolas" panose="020B0609020204030204" pitchFamily="49" charset="0"/>
              </a:rPr>
              <a:t>Destruimos el proceso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es-E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"Proceso finalizado"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endParaRPr lang="es-ES" sz="1400" dirty="0">
              <a:latin typeface="Consolas" panose="020B0609020204030204" pitchFamily="49" charset="0"/>
            </a:endParaRP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s-E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s-E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(IOException </a:t>
            </a:r>
            <a:r>
              <a:rPr lang="es-ES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s-E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endParaRPr lang="es-ES" sz="1400" dirty="0">
              <a:latin typeface="Consolas" panose="020B0609020204030204" pitchFamily="49" charset="0"/>
            </a:endParaRPr>
          </a:p>
          <a:p>
            <a:pPr algn="l"/>
            <a:r>
              <a:rPr lang="es-ES" sz="1400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.printStackTrace();</a:t>
            </a:r>
          </a:p>
          <a:p>
            <a:pPr algn="l"/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s-ES" sz="1600" dirty="0"/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D9D2AA6F-7058-5975-BA32-D1852DF1F76F}"/>
              </a:ext>
            </a:extLst>
          </p:cNvPr>
          <p:cNvSpPr/>
          <p:nvPr/>
        </p:nvSpPr>
        <p:spPr>
          <a:xfrm>
            <a:off x="7110248" y="3429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2D6FAF-3C38-328E-13AA-BE62BA9CC3E7}"/>
              </a:ext>
            </a:extLst>
          </p:cNvPr>
          <p:cNvSpPr txBox="1"/>
          <p:nvPr/>
        </p:nvSpPr>
        <p:spPr>
          <a:xfrm>
            <a:off x="8286048" y="3059668"/>
            <a:ext cx="31022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Leemos por consola</a:t>
            </a:r>
          </a:p>
          <a:p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la </a:t>
            </a:r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info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 proceso</a:t>
            </a:r>
          </a:p>
          <a:p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si la tiene: </a:t>
            </a:r>
          </a:p>
          <a:p>
            <a:r>
              <a:rPr lang="es-E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Ej</a:t>
            </a:r>
            <a:r>
              <a:rPr lang="es-ES" sz="1800" dirty="0">
                <a:solidFill>
                  <a:srgbClr val="000000"/>
                </a:solidFill>
                <a:latin typeface="Consolas" panose="020B0609020204030204" pitchFamily="49" charset="0"/>
              </a:rPr>
              <a:t>: Listar directorios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05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D9E8C-2383-405D-B55B-559AE7C4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85" y="452763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s-ES" dirty="0"/>
              <a:t>Diferencias </a:t>
            </a:r>
            <a:r>
              <a:rPr lang="es-ES" dirty="0" err="1"/>
              <a:t>RunTime</a:t>
            </a:r>
            <a:r>
              <a:rPr lang="es-ES" dirty="0"/>
              <a:t> -ProcessBuilder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8A760A-4843-4700-198D-7D5326D3191C}"/>
              </a:ext>
            </a:extLst>
          </p:cNvPr>
          <p:cNvSpPr txBox="1"/>
          <p:nvPr/>
        </p:nvSpPr>
        <p:spPr>
          <a:xfrm>
            <a:off x="662041" y="5263128"/>
            <a:ext cx="98225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Process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ps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Runtime.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getRuntime().exec(</a:t>
            </a:r>
            <a:r>
              <a:rPr lang="en-US" sz="1800" i="1" dirty="0">
                <a:solidFill>
                  <a:srgbClr val="2A00FF"/>
                </a:solidFill>
                <a:latin typeface="Consolas" panose="020B0609020204030204" pitchFamily="49" charset="0"/>
              </a:rPr>
              <a:t>"cmd /C start www.google.es"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D2EA90-7B55-1708-7141-0A951C5D29AB}"/>
              </a:ext>
            </a:extLst>
          </p:cNvPr>
          <p:cNvSpPr txBox="1"/>
          <p:nvPr/>
        </p:nvSpPr>
        <p:spPr>
          <a:xfrm>
            <a:off x="577487" y="2716908"/>
            <a:ext cx="964908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ProcessBuilder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ProcessBuilder(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"cmd"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"/C"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"start"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"www.google.es"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36749C2-B3FE-F89F-054A-60C817CA39AE}"/>
              </a:ext>
            </a:extLst>
          </p:cNvPr>
          <p:cNvSpPr txBox="1"/>
          <p:nvPr/>
        </p:nvSpPr>
        <p:spPr>
          <a:xfrm>
            <a:off x="1488051" y="3520725"/>
            <a:ext cx="817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&lt;String commandos [] = {“cmd”,”/C”, “start”,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  <a:hlinkClick r:id="rId2"/>
              </a:rPr>
              <a:t>”www.google.es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”};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4DF5E98-B2E4-EDB7-682D-280437F9B196}"/>
              </a:ext>
            </a:extLst>
          </p:cNvPr>
          <p:cNvSpPr txBox="1"/>
          <p:nvPr/>
        </p:nvSpPr>
        <p:spPr>
          <a:xfrm>
            <a:off x="4012095" y="5747509"/>
            <a:ext cx="380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Cadena de texto</a:t>
            </a:r>
            <a:endParaRPr lang="es-ES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4D4B31D-5BA0-3B20-B707-67021049153C}"/>
              </a:ext>
            </a:extLst>
          </p:cNvPr>
          <p:cNvSpPr txBox="1"/>
          <p:nvPr/>
        </p:nvSpPr>
        <p:spPr>
          <a:xfrm>
            <a:off x="4588129" y="3978660"/>
            <a:ext cx="1970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endParaRPr lang="es-E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A51633-25DD-A267-9448-DAF6C7737810}"/>
              </a:ext>
            </a:extLst>
          </p:cNvPr>
          <p:cNvSpPr txBox="1"/>
          <p:nvPr/>
        </p:nvSpPr>
        <p:spPr>
          <a:xfrm>
            <a:off x="577487" y="1913091"/>
            <a:ext cx="964908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ProcessBuilder 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ProcessBuilder(</a:t>
            </a:r>
            <a:r>
              <a:rPr lang="en-US" sz="1800" b="1" dirty="0">
                <a:solidFill>
                  <a:srgbClr val="2A00FF"/>
                </a:solidFill>
                <a:latin typeface="Consolas" panose="020B0609020204030204" pitchFamily="49" charset="0"/>
              </a:rPr>
              <a:t>“notepad.exe"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3AB1FA-3463-15F5-1166-B4823FE51AF6}"/>
              </a:ext>
            </a:extLst>
          </p:cNvPr>
          <p:cNvSpPr txBox="1"/>
          <p:nvPr/>
        </p:nvSpPr>
        <p:spPr>
          <a:xfrm>
            <a:off x="577487" y="4362105"/>
            <a:ext cx="98225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ProcessBuilder</a:t>
            </a:r>
            <a:r>
              <a:rPr lang="es-ES" sz="1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 = new ProcessBuilder();</a:t>
            </a:r>
          </a:p>
          <a:p>
            <a:r>
              <a:rPr lang="es-ES" dirty="0">
                <a:solidFill>
                  <a:srgbClr val="6A3E3E"/>
                </a:solidFill>
                <a:latin typeface="Consolas" panose="020B0609020204030204" pitchFamily="49" charset="0"/>
              </a:rPr>
              <a:t>pb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.command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"cmd"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"/C"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"start"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"www.google.es"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s-E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216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F8F73-840F-9833-25BE-AB25F4A4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6234"/>
          </a:xfrm>
        </p:spPr>
        <p:txBody>
          <a:bodyPr/>
          <a:lstStyle/>
          <a:p>
            <a:r>
              <a:rPr lang="es-ES" dirty="0"/>
              <a:t>Algunos métodos de Process…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ACDC0D-5BF4-A345-DB03-A378E51F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1803570"/>
            <a:ext cx="11724968" cy="566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b="1" dirty="0"/>
              <a:t>WaitFor(): 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waitFor() espera hasta que muera el proceso para continuar el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programa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Devuelve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1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si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ha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ido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mal , 0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si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ha </a:t>
            </a:r>
            <a:r>
              <a:rPr lang="en-US" sz="1800" b="0" i="0" dirty="0" err="1">
                <a:solidFill>
                  <a:srgbClr val="333333"/>
                </a:solidFill>
                <a:effectLst/>
                <a:latin typeface="inter-regular"/>
              </a:rPr>
              <a:t>ido</a:t>
            </a:r>
            <a:r>
              <a:rPr lang="en-US" sz="1800" b="0" i="0" dirty="0">
                <a:solidFill>
                  <a:srgbClr val="333333"/>
                </a:solidFill>
                <a:effectLst/>
                <a:latin typeface="inter-regular"/>
              </a:rPr>
              <a:t> bien.</a:t>
            </a:r>
            <a:endParaRPr lang="es-ES" sz="1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26B67BB-4B71-AF8D-5F1D-89A4FF9B129E}"/>
              </a:ext>
            </a:extLst>
          </p:cNvPr>
          <p:cNvSpPr txBox="1"/>
          <p:nvPr/>
        </p:nvSpPr>
        <p:spPr>
          <a:xfrm>
            <a:off x="2033751" y="2370415"/>
            <a:ext cx="7535917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Process_waitForMethodExample1 {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main(String[] args) {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try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{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</a:t>
            </a:r>
            <a:r>
              <a:rPr lang="es-ES" sz="1600" b="0" i="0" dirty="0">
                <a:solidFill>
                  <a:srgbClr val="008200"/>
                </a:solidFill>
                <a:effectLst/>
                <a:latin typeface="inter-regular"/>
              </a:rPr>
              <a:t>// Creando un nuevo proceso.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</a:t>
            </a:r>
            <a:r>
              <a:rPr lang="es-ES" sz="1600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“Paint se va a ejecutar…."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Process p = Runtime.getRuntime().exec(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"mspaint.exe"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</a:t>
            </a:r>
            <a:r>
              <a:rPr lang="es-ES" sz="1600" b="0" i="0" dirty="0">
                <a:solidFill>
                  <a:srgbClr val="008200"/>
                </a:solidFill>
                <a:effectLst/>
                <a:latin typeface="inter-regular"/>
              </a:rPr>
              <a:t>// Espera al proceso hasta que termine.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 p.waitFor();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</a:t>
            </a:r>
            <a:r>
              <a:rPr lang="es-ES" sz="1600" b="0" i="0" dirty="0">
                <a:solidFill>
                  <a:srgbClr val="008200"/>
                </a:solidFill>
                <a:effectLst/>
                <a:latin typeface="inter-regular"/>
              </a:rPr>
              <a:t>// Cuando cierras Pain</a:t>
            </a:r>
            <a:r>
              <a:rPr lang="es-ES" sz="1600" dirty="0">
                <a:solidFill>
                  <a:srgbClr val="008200"/>
                </a:solidFill>
                <a:latin typeface="inter-regular"/>
              </a:rPr>
              <a:t>t el programa continua </a:t>
            </a:r>
            <a:r>
              <a:rPr lang="es-ES" sz="1600" dirty="0" err="1">
                <a:solidFill>
                  <a:srgbClr val="008200"/>
                </a:solidFill>
                <a:latin typeface="inter-regular"/>
              </a:rPr>
              <a:t>aqui</a:t>
            </a:r>
            <a:endParaRPr lang="es-ES" sz="1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“</a:t>
            </a:r>
            <a:r>
              <a:rPr lang="es-ES" sz="1600" dirty="0">
                <a:solidFill>
                  <a:srgbClr val="0000FF"/>
                </a:solidFill>
                <a:latin typeface="inter-regular"/>
              </a:rPr>
              <a:t>Has salido de </a:t>
            </a:r>
            <a:r>
              <a:rPr lang="es-ES" sz="1600" dirty="0" err="1">
                <a:solidFill>
                  <a:srgbClr val="0000FF"/>
                </a:solidFill>
                <a:latin typeface="inter-regular"/>
              </a:rPr>
              <a:t>paint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."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} </a:t>
            </a:r>
            <a:r>
              <a:rPr lang="es-ES" sz="1600" b="1" i="0" dirty="0">
                <a:solidFill>
                  <a:srgbClr val="006699"/>
                </a:solidFill>
                <a:effectLst/>
                <a:latin typeface="inter-regular"/>
              </a:rPr>
              <a:t>catch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(Exception ex) {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   System.out.println(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s-ES" sz="1600" b="0" i="0" dirty="0" err="1">
                <a:solidFill>
                  <a:srgbClr val="0000FF"/>
                </a:solidFill>
                <a:effectLst/>
                <a:latin typeface="inter-regular"/>
              </a:rPr>
              <a:t>exception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 </a:t>
            </a:r>
            <a:r>
              <a:rPr lang="es-ES" sz="1600" b="0" i="0" dirty="0" err="1">
                <a:solidFill>
                  <a:srgbClr val="0000FF"/>
                </a:solidFill>
                <a:effectLst/>
                <a:latin typeface="inter-regular"/>
              </a:rPr>
              <a:t>is</a:t>
            </a:r>
            <a:r>
              <a:rPr lang="es-ES" sz="1600" b="0" i="0" dirty="0">
                <a:solidFill>
                  <a:srgbClr val="0000FF"/>
                </a:solidFill>
                <a:effectLst/>
                <a:latin typeface="inter-regular"/>
              </a:rPr>
              <a:t>:"</a:t>
            </a:r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+ex);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    }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s-ES" sz="16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3384292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F8F73-840F-9833-25BE-AB25F4A4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6900"/>
            <a:ext cx="8596668" cy="746234"/>
          </a:xfrm>
        </p:spPr>
        <p:txBody>
          <a:bodyPr/>
          <a:lstStyle/>
          <a:p>
            <a:r>
              <a:rPr lang="es-ES" dirty="0"/>
              <a:t>Algunos métodos de Process…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ACDC0D-5BF4-A345-DB03-A378E51F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03134"/>
            <a:ext cx="8596668" cy="566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Ejemplo 2: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4A9AEFB-4044-1E06-2328-98B651322B2B}"/>
              </a:ext>
            </a:extLst>
          </p:cNvPr>
          <p:cNvSpPr txBox="1"/>
          <p:nvPr/>
        </p:nvSpPr>
        <p:spPr>
          <a:xfrm>
            <a:off x="1166648" y="1448452"/>
            <a:ext cx="859666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s-ES" b="1" i="0" dirty="0">
                <a:solidFill>
                  <a:srgbClr val="006699"/>
                </a:solidFill>
                <a:effectLst/>
                <a:latin typeface="inter-regular"/>
              </a:rPr>
              <a:t>try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{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creando nuevo proceso.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Paint se ejecutará."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Process p1 = Runtime.getRuntime().exec(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"mspaint.exe"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espera hasta que termine el proceso.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p1.waitFor();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Cuando cierras manualmente notepad.exe el programa continuará aquí.</a:t>
            </a:r>
            <a:endParaRPr lang="es-E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“Has salido de Ms-</a:t>
            </a:r>
            <a:r>
              <a:rPr lang="es-ES" b="0" i="0" dirty="0" err="1">
                <a:solidFill>
                  <a:srgbClr val="0000FF"/>
                </a:solidFill>
                <a:effectLst/>
                <a:latin typeface="inter-regular"/>
              </a:rPr>
              <a:t>paint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"Notepad se ejecutará."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Process p2 = Runtime.getRuntime().exec(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"notepad.exe"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	// Espera hasta que el proceso termine.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	p2.waitFor();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Cuando cierras manualmente notepad.exe el programa continuará aquí</a:t>
            </a:r>
            <a:endParaRPr lang="es-E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“Has salido de Notepad."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} </a:t>
            </a:r>
            <a:r>
              <a:rPr lang="es-ES" b="1" i="0" dirty="0">
                <a:solidFill>
                  <a:srgbClr val="006699"/>
                </a:solidFill>
                <a:effectLst/>
                <a:latin typeface="inter-regular"/>
              </a:rPr>
              <a:t>catch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(Exception ex) {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"Oops! Un error surgió."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     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}  </a:t>
            </a:r>
            <a:endParaRPr lang="es-ES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}  </a:t>
            </a:r>
          </a:p>
        </p:txBody>
      </p:sp>
    </p:spTree>
    <p:extLst>
      <p:ext uri="{BB962C8B-B14F-4D97-AF65-F5344CB8AC3E}">
        <p14:creationId xmlns:p14="http://schemas.microsoft.com/office/powerpoint/2010/main" val="2510314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F8F73-840F-9833-25BE-AB25F4A4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6900"/>
            <a:ext cx="8596668" cy="746234"/>
          </a:xfrm>
        </p:spPr>
        <p:txBody>
          <a:bodyPr/>
          <a:lstStyle/>
          <a:p>
            <a:r>
              <a:rPr lang="es-ES" dirty="0"/>
              <a:t>Algunos métodos de Process…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ACDC0D-5BF4-A345-DB03-A378E51F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03134"/>
            <a:ext cx="8596668" cy="566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Ejemplo 3: Ejecución simultanea.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4B4BC0-3F7B-7A1D-F173-E24760085B43}"/>
              </a:ext>
            </a:extLst>
          </p:cNvPr>
          <p:cNvSpPr txBox="1"/>
          <p:nvPr/>
        </p:nvSpPr>
        <p:spPr>
          <a:xfrm>
            <a:off x="2096814" y="1669979"/>
            <a:ext cx="75083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i="0" dirty="0">
                <a:solidFill>
                  <a:srgbClr val="006699"/>
                </a:solidFill>
                <a:effectLst/>
                <a:latin typeface="inter-regular"/>
              </a:rPr>
              <a:t>try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“Ambos se ejecutan simultáneamente.\n"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"1. Ms Paint se ejecutará."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Process p1 = Runtime.getRuntime().exec(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"mspaint.exe"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"2. Notepad se ejecutará.\n\n"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Process p2 = Runtime.getRuntime().exec(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"notepad.exe"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espera hasta que el proceso 1 termina.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p1.waitFor();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s-ES" b="0" i="0" dirty="0">
                <a:solidFill>
                  <a:srgbClr val="008200"/>
                </a:solidFill>
                <a:effectLst/>
                <a:latin typeface="inter-regular"/>
              </a:rPr>
              <a:t>// Cuando manualmente cierras notepad.exe el programa continua aquí.</a:t>
            </a:r>
            <a:endParaRPr lang="es-E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“Has salido de Ms-</a:t>
            </a:r>
            <a:r>
              <a:rPr lang="es-ES" b="0" i="0" dirty="0" err="1">
                <a:solidFill>
                  <a:srgbClr val="0000FF"/>
                </a:solidFill>
                <a:effectLst/>
                <a:latin typeface="inter-regular"/>
              </a:rPr>
              <a:t>paint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    p2.waitFor();  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s-ES" dirty="0" err="1">
                <a:solidFill>
                  <a:srgbClr val="000000"/>
                </a:solidFill>
                <a:latin typeface="inter-regular"/>
              </a:rPr>
              <a:t>System.out.println</a:t>
            </a:r>
            <a:r>
              <a:rPr lang="es-ES" dirty="0">
                <a:solidFill>
                  <a:srgbClr val="000000"/>
                </a:solidFill>
                <a:latin typeface="inter-regular"/>
              </a:rPr>
              <a:t>(</a:t>
            </a:r>
            <a:r>
              <a:rPr lang="es-ES" dirty="0">
                <a:solidFill>
                  <a:srgbClr val="0000FF"/>
                </a:solidFill>
                <a:latin typeface="inter-regular"/>
              </a:rPr>
              <a:t>“Has salido de Notepad."</a:t>
            </a:r>
            <a:r>
              <a:rPr lang="es-ES" dirty="0">
                <a:solidFill>
                  <a:srgbClr val="000000"/>
                </a:solidFill>
                <a:latin typeface="inter-regular"/>
              </a:rPr>
              <a:t>);  </a:t>
            </a:r>
            <a:endParaRPr lang="es-E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} </a:t>
            </a:r>
            <a:r>
              <a:rPr lang="es-ES" b="1" i="0" dirty="0">
                <a:solidFill>
                  <a:srgbClr val="006699"/>
                </a:solidFill>
                <a:effectLst/>
                <a:latin typeface="inter-regular"/>
              </a:rPr>
              <a:t>catch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(Exception ex) {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    System.out.println(</a:t>
            </a:r>
            <a:r>
              <a:rPr lang="es-ES" b="0" i="0" dirty="0">
                <a:solidFill>
                  <a:srgbClr val="0000FF"/>
                </a:solidFill>
                <a:effectLst/>
                <a:latin typeface="inter-regular"/>
              </a:rPr>
              <a:t>"Oops! Un error ha ocurrido."</a:t>
            </a:r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}  </a:t>
            </a:r>
          </a:p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latin typeface="inter-regular"/>
              </a:rPr>
              <a:t>   }  </a:t>
            </a:r>
          </a:p>
        </p:txBody>
      </p:sp>
    </p:spTree>
    <p:extLst>
      <p:ext uri="{BB962C8B-B14F-4D97-AF65-F5344CB8AC3E}">
        <p14:creationId xmlns:p14="http://schemas.microsoft.com/office/powerpoint/2010/main" val="12439079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582</TotalTime>
  <Words>1419</Words>
  <Application>Microsoft Office PowerPoint</Application>
  <PresentationFormat>Panorámica</PresentationFormat>
  <Paragraphs>205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Antic Didone</vt:lpstr>
      <vt:lpstr>Aptos</vt:lpstr>
      <vt:lpstr>Calibri</vt:lpstr>
      <vt:lpstr>Calibri Light</vt:lpstr>
      <vt:lpstr>Consolas</vt:lpstr>
      <vt:lpstr>inter-regular</vt:lpstr>
      <vt:lpstr>Wingdings</vt:lpstr>
      <vt:lpstr>Retrospección</vt:lpstr>
      <vt:lpstr>UD.1 Programación multiproceso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Gestión y estado entre los procesos</vt:lpstr>
      <vt:lpstr>Sincronización entre procesos</vt:lpstr>
      <vt:lpstr>Sincronización entre procesos</vt:lpstr>
      <vt:lpstr>Programación multiproceso en JAVA</vt:lpstr>
      <vt:lpstr>Programación multiproceso en JAVA</vt:lpstr>
      <vt:lpstr>Programación multiproceso en JAVA</vt:lpstr>
      <vt:lpstr>Proccess Builder</vt:lpstr>
      <vt:lpstr>Runtime</vt:lpstr>
      <vt:lpstr>Diferencias RunTime -ProcessBuilder</vt:lpstr>
      <vt:lpstr>Algunos métodos de Process…</vt:lpstr>
      <vt:lpstr>Algunos métodos de Process…</vt:lpstr>
      <vt:lpstr>Algunos métodos de Process…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UD.2 Programación multihilo</dc:title>
  <dc:creator>Eduardo Del Olmo</dc:creator>
  <cp:lastModifiedBy>Eduardo Del olmo</cp:lastModifiedBy>
  <cp:revision>32</cp:revision>
  <dcterms:created xsi:type="dcterms:W3CDTF">2022-08-26T20:38:56Z</dcterms:created>
  <dcterms:modified xsi:type="dcterms:W3CDTF">2026-09-14T10:09:17Z</dcterms:modified>
</cp:coreProperties>
</file>