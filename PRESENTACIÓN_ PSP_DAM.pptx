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2" r:id="rId3"/>
    <p:sldId id="262" r:id="rId4"/>
    <p:sldId id="270" r:id="rId5"/>
    <p:sldId id="256" r:id="rId6"/>
    <p:sldId id="271" r:id="rId7"/>
    <p:sldId id="261" r:id="rId8"/>
    <p:sldId id="258" r:id="rId9"/>
    <p:sldId id="268" r:id="rId10"/>
    <p:sldId id="257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41DFA-4D9E-8C24-5A8B-5BBCC1192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EE0310-0939-B742-62B5-92808740B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D30227-5938-3524-D36D-55BFDC18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E1347C-7705-6A0D-64F8-7DBF78BD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33B836-0B52-F6F5-D5A6-EDEFCD1F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2655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DB775-C8E3-2B52-2D30-364D7B21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C4BE62-74AB-4230-8C77-75AAB293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53DC4-BB89-1D18-A24F-057606564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68FFE5-CD05-F079-12C4-F473B9DC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34A881-8457-95FA-7328-9C159277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076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0D90B-CB31-98A1-4146-EC593C77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2BFEBB-E243-5F33-B618-51A6A941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4AB7D0-3DDD-791B-EEFD-1293B031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7BAE11-602E-0569-167E-C256B433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0DB64-D2EF-A855-4638-3B2E41C4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739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CA282-F192-2521-B383-A2CAF709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C8A89B-F299-0580-9F3C-2AE48E0CE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B677D9-7A22-0CD0-CE67-79903250E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A313C2-6EF0-C006-C9FD-384E555C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1B3653-16C1-0C99-2C5F-5C7852A8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E4FF64-271A-6AB8-D852-3EAEF4D3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70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A0918-695C-A1E3-04BF-828E69481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422FE9-5DA7-F33F-EEA3-59068934D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43B44E-4D2F-0079-1764-D81996DB0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656B1E8-17B7-7AE8-08A7-5E14A4124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2F6BD6-3A07-F96F-33CD-9FC9383A2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008777D-9CBF-9724-D7F9-EB8DDB72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DAAE2F-D3E2-92C1-9F7F-96059A1E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FF0DFB-78A3-C560-0549-08EE1B30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980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15FF2-B59E-C0D3-965E-51B6C841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9ED39A1-9E23-78BF-90AD-F76747E4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C48720-EC28-AC3B-1E7D-40F1B0CC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51CBFB-E712-6F98-E3DE-A2899204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9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7D183CA-8A9A-A5C8-D71F-D40A9D77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7664F6-3F13-C8B4-9EDE-2792745E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3BE969-BA37-1965-36AD-342A7BD6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089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A6C2D-BE2A-DE3E-2448-7831E422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B95C98-10F8-52B3-9A05-86936FC74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14DEB8-CBCD-C1F3-98DB-D05CF78D4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6359B9-79D6-1505-EEEA-B6B89001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1B0B62-6D77-F8CA-8B0D-4C9653B9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9EB228-5C56-8B1F-3A96-F4FAD906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161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22A94-BE93-8756-8B88-CCED8970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9FFD29-1D2B-1908-9BC2-F3C4588A4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79FD4E-1169-53C3-D74F-C2C9683D8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B48AE7-13E6-30B4-B501-977ED868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42BD01-3E76-B8AE-9EDA-BB160843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C9DE66-2810-D7FB-DAE7-53A694769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433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48AB4-759A-EC85-A6EA-4224C2F8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8F1BBD-F20D-6D5F-095E-F7DCDD1E2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BE2290-F9F9-30AA-4C07-11A77723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E94DE3-2A84-0FAB-874A-1F4709247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EB0204-A592-0334-E8B0-0A04009E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2928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5490EE-6349-AFB2-B2ED-8510C74A3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81E4C8-415D-20C8-5482-E17F5E2B4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D2B060-0FB3-09D4-4D5E-D90FE331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3AAF65-98B3-FA97-30CC-71DACEE2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5A194-D87D-5D07-C943-52E04C05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54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515596-447F-C144-0A79-8BC8B2A9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77432D-32FE-6728-24AE-514A6244C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2D45F5-8900-B477-F3E3-75E833830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225C8-9CA3-44EE-84E3-5684C3418AA9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782B96-2D41-7407-6264-B18BCDC98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EA87F-FE3C-D366-BC44-9140497F4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AAABE-214D-4F7A-A6A9-F664DBDF70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46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909560" y="685800"/>
            <a:ext cx="3429000" cy="5440680"/>
          </a:xfrm>
          <a:prstGeom prst="round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2480" y="132588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132588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74320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P3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2743200"/>
            <a:ext cx="9601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P4</a:t>
            </a:r>
          </a:p>
        </p:txBody>
      </p:sp>
      <p:sp>
        <p:nvSpPr>
          <p:cNvPr id="8" name="Rectangle 7"/>
          <p:cNvSpPr/>
          <p:nvPr/>
        </p:nvSpPr>
        <p:spPr>
          <a:xfrm>
            <a:off x="9345168" y="1627632"/>
            <a:ext cx="411480" cy="45720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69680" y="2011680"/>
            <a:ext cx="45720" cy="731520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95560" y="2011680"/>
            <a:ext cx="45720" cy="731520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45168" y="3044952"/>
            <a:ext cx="411480" cy="45720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4160520"/>
            <a:ext cx="2240280" cy="822960"/>
          </a:xfrm>
          <a:prstGeom prst="round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SERVICIOS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257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1AF"/>
                </a:solidFill>
                <a:latin typeface="Aptos"/>
              </a:defRPr>
            </a:pPr>
            <a:r>
              <a:t>PROCESOS · HILOS · 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1440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700" b="1">
                <a:solidFill>
                  <a:srgbClr val="12233A"/>
                </a:solidFill>
                <a:latin typeface="Aptos Display"/>
              </a:defRPr>
            </a:pPr>
            <a:r>
              <a:t>PROGRAMACIÓN</a:t>
            </a:r>
          </a:p>
          <a:p>
            <a:pPr>
              <a:defRPr sz="3700" b="1">
                <a:solidFill>
                  <a:srgbClr val="12233A"/>
                </a:solidFill>
                <a:latin typeface="Aptos Display"/>
              </a:defRPr>
            </a:pPr>
            <a:r>
              <a:t>DE SERVICIOS</a:t>
            </a:r>
          </a:p>
          <a:p>
            <a:pPr>
              <a:defRPr sz="4000" b="1">
                <a:solidFill>
                  <a:srgbClr val="0091AF"/>
                </a:solidFill>
                <a:latin typeface="Aptos Display"/>
              </a:defRPr>
            </a:pPr>
            <a:r>
              <a:t>Y PROCESOS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6309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86370"/>
                </a:solidFill>
                <a:latin typeface="Aptos"/>
              </a:defRPr>
            </a:pPr>
            <a:r>
              <a:t>Programación concurrente, comunicaciones y servicios en 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4480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33A"/>
                </a:solidFill>
                <a:latin typeface="Aptos"/>
              </a:defRPr>
            </a:pPr>
            <a:r>
              <a:t>DESARROLLO DE APLICACIONES MULTIPLATAFORMA · 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3A"/>
                </a:solidFill>
                <a:latin typeface="Aptos"/>
              </a:defRPr>
            </a:pPr>
            <a:r>
              <a:t>Eduardo del Olmo Ibáñez</a:t>
            </a:r>
          </a:p>
          <a:p>
            <a:pPr>
              <a:defRPr sz="1400">
                <a:solidFill>
                  <a:srgbClr val="0091AF"/>
                </a:solidFill>
                <a:latin typeface="Aptos"/>
              </a:defRPr>
            </a:pPr>
            <a:r>
              <a:t>IES Comercio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  <a:latin typeface="Aptos Display"/>
              </a:defRPr>
            </a:pPr>
            <a:r>
              <a:t>NORMAS ESENCIALES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2"/>
                </a:solidFill>
                <a:latin typeface="Aptos"/>
              </a:defRPr>
            </a:pPr>
            <a:r>
              <a:t>Para trabajar en un ambiente adecuado y aprovechar las clases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1947672"/>
            <a:ext cx="566928" cy="56692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3352" y="1874519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2233A"/>
                </a:solidFill>
                <a:latin typeface="Aptos"/>
              </a:defRPr>
            </a:pPr>
            <a:r>
              <a:t>RESPETO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2194560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2"/>
                </a:solidFill>
                <a:latin typeface="Aptos"/>
              </a:defRPr>
            </a:pPr>
            <a:r>
              <a:t>Respeto a los compañeros y al profesor.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73736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73951" y="1947672"/>
            <a:ext cx="566928" cy="56692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1" y="1874519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2233A"/>
                </a:solidFill>
                <a:latin typeface="Aptos"/>
              </a:defRPr>
            </a:pPr>
            <a:r>
              <a:t>PUNTUALIDAD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1" y="2194560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2"/>
                </a:solidFill>
                <a:latin typeface="Aptos"/>
              </a:defRPr>
            </a:pPr>
            <a:r>
              <a:t>Llegar a clase y comenzar el trabajo a tiempo.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1832" y="3182112"/>
            <a:ext cx="566928" cy="56692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3108960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2233A"/>
                </a:solidFill>
                <a:latin typeface="Aptos"/>
              </a:defRPr>
            </a:pPr>
            <a:r>
              <a:t>PARTICIPACIÓN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3429000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2"/>
                </a:solidFill>
                <a:latin typeface="Aptos"/>
              </a:defRPr>
            </a:pPr>
            <a:r>
              <a:t>Implicarse en las explicaciones, actividades y prácticas.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97180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73951" y="3182112"/>
            <a:ext cx="566928" cy="56692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1" y="3108960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2233A"/>
                </a:solidFill>
                <a:latin typeface="Aptos"/>
              </a:defRPr>
            </a:pPr>
            <a:r>
              <a:t>NO COPIAR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1" y="3429000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2"/>
                </a:solidFill>
                <a:latin typeface="Aptos"/>
              </a:defRPr>
            </a:pPr>
            <a:r>
              <a:t>El trabajo entregado debe ser propio.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0624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1832" y="4416552"/>
            <a:ext cx="566928" cy="56692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4343400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2233A"/>
                </a:solidFill>
                <a:latin typeface="Aptos"/>
              </a:defRPr>
            </a:pPr>
            <a:r>
              <a:t>ORDEN Y LIMPIEZA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4663440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2"/>
                </a:solidFill>
                <a:latin typeface="Aptos"/>
              </a:defRPr>
            </a:pPr>
            <a:r>
              <a:t>Mantener el aula y el puesto de trabajo en buenas condiciones.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20624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73951" y="4416552"/>
            <a:ext cx="566928" cy="56692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1" y="4343400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2233A"/>
                </a:solidFill>
                <a:latin typeface="Aptos"/>
              </a:defRPr>
            </a:pPr>
            <a:r>
              <a:t>USO DEL ORDENADOR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1" y="4663440"/>
            <a:ext cx="3886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B5562"/>
                </a:solidFill>
                <a:latin typeface="Aptos"/>
              </a:defRPr>
            </a:pPr>
            <a:r>
              <a:t>No instalar programas inapropiados o ajenos al trabajo de clase.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5715000"/>
            <a:ext cx="9509760" cy="594360"/>
          </a:xfrm>
          <a:prstGeom prst="roundRect">
            <a:avLst/>
          </a:prstGeom>
          <a:solidFill>
            <a:srgbClr val="E8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RESPETO · RESPONSABILIDAD · TRABAJO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F5B63AB-90A1-6DDD-8006-9708D0BC8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1" y="254361"/>
            <a:ext cx="9686002" cy="645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66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  <a:latin typeface="Aptos Display"/>
              </a:defRPr>
            </a:pPr>
            <a:r>
              <a:t>¿DE QUÉ TRATA EL MÓDULO?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038" y="1207008"/>
            <a:ext cx="1052544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B5562"/>
                </a:solidFill>
                <a:latin typeface="Aptos"/>
              </a:defRPr>
            </a:pPr>
            <a:r>
              <a:rPr dirty="0" err="1"/>
              <a:t>Aprenderemos</a:t>
            </a:r>
            <a:r>
              <a:rPr dirty="0"/>
              <a:t> a </a:t>
            </a:r>
            <a:r>
              <a:rPr dirty="0" err="1"/>
              <a:t>desarrollar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capaces</a:t>
            </a:r>
            <a:r>
              <a:rPr dirty="0"/>
              <a:t> de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simultáneamente</a:t>
            </a:r>
            <a:r>
              <a:rPr dirty="0"/>
              <a:t>, </a:t>
            </a:r>
            <a:endParaRPr lang="es-ES" dirty="0"/>
          </a:p>
          <a:p>
            <a:pPr algn="ctr">
              <a:defRPr sz="2000">
                <a:solidFill>
                  <a:srgbClr val="4B5562"/>
                </a:solidFill>
                <a:latin typeface="Aptos"/>
              </a:defRPr>
            </a:pPr>
            <a:r>
              <a:rPr dirty="0" err="1"/>
              <a:t>comunicarse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 la red y </a:t>
            </a:r>
            <a:r>
              <a:rPr dirty="0" err="1"/>
              <a:t>ofrecer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de forma </a:t>
            </a:r>
            <a:r>
              <a:rPr dirty="0" err="1"/>
              <a:t>segura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42032"/>
            <a:ext cx="242316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26464" y="2779776"/>
            <a:ext cx="749808" cy="74980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657600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12233A"/>
                </a:solidFill>
                <a:latin typeface="Aptos"/>
              </a:defRPr>
            </a:pPr>
            <a:r>
              <a:t>PROCESOS E HILOS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281" y="4096512"/>
            <a:ext cx="2241319" cy="609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concurrentes</a:t>
            </a:r>
            <a:r>
              <a:rPr dirty="0"/>
              <a:t> 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capaces</a:t>
            </a:r>
            <a:r>
              <a:rPr dirty="0"/>
              <a:t> de</a:t>
            </a:r>
            <a:r>
              <a:rPr lang="es-ES" dirty="0"/>
              <a:t>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varias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de forma </a:t>
            </a:r>
            <a:r>
              <a:rPr dirty="0" err="1"/>
              <a:t>coordinada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542032"/>
            <a:ext cx="242316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88536" y="2779776"/>
            <a:ext cx="749808" cy="74980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3657600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12233A"/>
                </a:solidFill>
                <a:latin typeface="Aptos"/>
              </a:defRPr>
            </a:pPr>
            <a:r>
              <a:t>COMUNICACIÓN EN 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6057" y="4096512"/>
            <a:ext cx="2343910" cy="78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Comunicar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/>
              <a:t>TCP/IP </a:t>
            </a:r>
            <a:r>
              <a:rPr dirty="0" err="1"/>
              <a:t>ysockets</a:t>
            </a:r>
            <a:r>
              <a:rPr dirty="0"/>
              <a:t> 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siguiendo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cliente-servidor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2542032"/>
            <a:ext cx="242316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150608" y="2779776"/>
            <a:ext cx="749808" cy="74980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12233A"/>
                </a:solidFill>
                <a:latin typeface="Aptos"/>
              </a:defRPr>
            </a:pPr>
            <a:r>
              <a:t>SERVICIOS EN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601" y="4096512"/>
            <a:ext cx="2266966" cy="609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Desarrollar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y </a:t>
            </a:r>
            <a:r>
              <a:rPr dirty="0" err="1"/>
              <a:t>servidores</a:t>
            </a:r>
            <a:r>
              <a:rPr dirty="0"/>
              <a:t> 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/>
              <a:t>que </a:t>
            </a:r>
            <a:r>
              <a:rPr dirty="0" err="1"/>
              <a:t>ofrezcan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y </a:t>
            </a:r>
            <a:r>
              <a:rPr dirty="0" err="1"/>
              <a:t>atiendan</a:t>
            </a:r>
            <a:r>
              <a:rPr dirty="0"/>
              <a:t> 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conexiones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2542032"/>
            <a:ext cx="242316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12680" y="2779776"/>
            <a:ext cx="749808" cy="749808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657600"/>
            <a:ext cx="2167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30" b="1">
                <a:solidFill>
                  <a:srgbClr val="12233A"/>
                </a:solidFill>
                <a:latin typeface="Aptos"/>
              </a:defRPr>
            </a:pPr>
            <a:r>
              <a:t>PROGRAMACIÓN SEGURA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5929" y="4096512"/>
            <a:ext cx="2632451" cy="609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Proteger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, </a:t>
            </a:r>
            <a:r>
              <a:rPr dirty="0" err="1"/>
              <a:t>comunicaciones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/>
              <a:t> y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endParaRPr lang="es-ES" dirty="0"/>
          </a:p>
          <a:p>
            <a:pPr algn="ctr">
              <a:defRPr sz="1120">
                <a:solidFill>
                  <a:srgbClr val="4B5562"/>
                </a:solidFill>
                <a:latin typeface="Aptos"/>
              </a:defRPr>
            </a:pPr>
            <a:r>
              <a:rPr dirty="0" err="1"/>
              <a:t>técnicas</a:t>
            </a:r>
            <a:r>
              <a:rPr dirty="0"/>
              <a:t> </a:t>
            </a:r>
            <a:r>
              <a:rPr dirty="0" err="1"/>
              <a:t>criptográficas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440680"/>
            <a:ext cx="10012680" cy="777240"/>
          </a:xfrm>
          <a:prstGeom prst="roundRect">
            <a:avLst/>
          </a:prstGeom>
          <a:solidFill>
            <a:srgbClr val="E8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33A"/>
                </a:solidFill>
                <a:latin typeface="Aptos"/>
              </a:defRPr>
            </a:pPr>
            <a:r>
              <a:t>OBJETIVO: crear aplicaciones concurrentes y distribuidas capaces de comunicarse y prestar servicios en red de forma segura.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  <a:latin typeface="Aptos Display"/>
              </a:defRPr>
            </a:pPr>
            <a:r>
              <a:t>KOTLIN Y JETPACK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B5562"/>
                </a:solidFill>
                <a:latin typeface="Aptos"/>
              </a:defRPr>
            </a:pPr>
            <a:r>
              <a:t>Durante el curso utilizaremos tecnologías actuales para desarrollar nuestras aplicaciones Android.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331720"/>
            <a:ext cx="4846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2788920"/>
            <a:ext cx="960120" cy="96012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6517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233A"/>
                </a:solidFill>
                <a:latin typeface="Aptos"/>
              </a:defRPr>
            </a:pPr>
            <a:r>
              <a:t>KOTLIN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24612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2"/>
                </a:solidFill>
                <a:latin typeface="Aptos"/>
              </a:defRPr>
            </a:pPr>
            <a:r>
              <a:t>Lenguaje que utilizaremos para programar la lógica y el funcionamiento de las aplicaciones.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4846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75120" y="2788920"/>
            <a:ext cx="960120" cy="96012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517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233A"/>
                </a:solidFill>
                <a:latin typeface="Aptos"/>
              </a:defRPr>
            </a:pPr>
            <a:r>
              <a:t>JETPACK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24612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2"/>
                </a:solidFill>
                <a:latin typeface="Aptos"/>
              </a:defRPr>
            </a:pPr>
            <a:r>
              <a:t>Herramienta moderna para crear las interfaces de usuario de nuestras aplicaciones Android.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5349240"/>
            <a:ext cx="9372600" cy="822960"/>
          </a:xfrm>
          <a:prstGeom prst="roundRect">
            <a:avLst/>
          </a:prstGeom>
          <a:solidFill>
            <a:srgbClr val="E8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33A"/>
                </a:solidFill>
                <a:latin typeface="Aptos"/>
              </a:defRPr>
            </a:pPr>
            <a:r>
              <a:t>KOTLIN = PROGRAMACIÓN     +     JETPACK COMPOSE = INTERFAZ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  <a:latin typeface="Aptos Display"/>
              </a:defRPr>
            </a:pPr>
            <a:r>
              <a:t>CONTENIDOS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4B5562"/>
                </a:solidFill>
                <a:latin typeface="Aptos"/>
              </a:defRPr>
            </a:pPr>
            <a:r>
              <a:t>¿Qué vamos a trabajar durante el curso?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64208"/>
            <a:ext cx="10287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1764792"/>
            <a:ext cx="457200" cy="45720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556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"/>
              </a:defRPr>
            </a:pPr>
            <a:r>
              <a:t>Flujos de entrada y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764792"/>
            <a:ext cx="5897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2"/>
                </a:solidFill>
                <a:latin typeface="Aptos"/>
              </a:defRPr>
            </a:pPr>
            <a:r>
              <a:t>Streams de caracteres, bytes y transformación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10287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569464"/>
            <a:ext cx="457200" cy="45720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60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"/>
              </a:defRPr>
            </a:pPr>
            <a:r>
              <a:t>Programación multiproceso y multihilo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69464"/>
            <a:ext cx="5897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2"/>
                </a:solidFill>
                <a:latin typeface="Aptos"/>
              </a:defRPr>
            </a:pPr>
            <a:r>
              <a:t>Procesos, hilos, concurrencia, paralelismo y sincronización.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73552"/>
            <a:ext cx="10287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3374136"/>
            <a:ext cx="457200" cy="45720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6499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"/>
              </a:defRPr>
            </a:pPr>
            <a:r>
              <a:t>Comunicaciones TCP/IP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374136"/>
            <a:ext cx="5897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2"/>
                </a:solidFill>
                <a:latin typeface="Aptos"/>
              </a:defRPr>
            </a:pPr>
            <a:r>
              <a:t>Sockets, protocolos y aplicaciones cliente-servidor.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78224"/>
            <a:ext cx="10287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78808"/>
            <a:ext cx="457200" cy="45720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69663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"/>
              </a:defRPr>
            </a:pPr>
            <a:r>
              <a:t>Generación de servicios en 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178808"/>
            <a:ext cx="5897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2"/>
                </a:solidFill>
                <a:latin typeface="Aptos"/>
              </a:defRPr>
            </a:pPr>
            <a:r>
              <a:t>Servicios, clientes y servidores y comunicaciones simultáneas.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82896"/>
            <a:ext cx="10287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97280" y="4983480"/>
            <a:ext cx="457200" cy="45720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97433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"/>
              </a:defRPr>
            </a:pPr>
            <a:r>
              <a:t>Programación segura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983480"/>
            <a:ext cx="5897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B5562"/>
                </a:solidFill>
                <a:latin typeface="Aptos"/>
              </a:defRPr>
            </a:pPr>
            <a:r>
              <a:t>Criptografía, cifrado y comunicaciones seguras.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5897880"/>
            <a:ext cx="9509760" cy="548640"/>
          </a:xfrm>
          <a:prstGeom prst="roundRect">
            <a:avLst/>
          </a:prstGeom>
          <a:solidFill>
            <a:srgbClr val="E8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33A"/>
                </a:solidFill>
                <a:latin typeface="Aptos"/>
              </a:defRPr>
            </a:pPr>
            <a:r>
              <a:t>PROCESOS · HILOS · REDES · SERVICIOS ·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 Display"/>
              </a:defRPr>
            </a:pPr>
            <a: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3741"/>
                </a:solidFill>
                <a:latin typeface="Aptos Display"/>
              </a:defRPr>
            </a:pPr>
            <a:r>
              <a:t>APRENDER HACIENDO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2880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38528" y="251460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5643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3192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46505A"/>
                </a:solidFill>
                <a:latin typeface="Aptos"/>
              </a:defRPr>
            </a:pPr>
            <a:r>
              <a:t>El profesor introduce y explica los conceptos necesarios.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240280"/>
            <a:ext cx="2880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30368" y="251460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45643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PUESTA EN PRÁCTICA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93192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46505A"/>
                </a:solidFill>
                <a:latin typeface="Aptos"/>
              </a:defRPr>
            </a:pPr>
            <a:r>
              <a:t>Los alumnos aplican lo aprendido mediante ejercicios y prácticas.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240280"/>
            <a:ext cx="2880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22208" y="251460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45643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RESOLUCIÓN DE PROBLEMAS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93192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46505A"/>
                </a:solidFill>
                <a:latin typeface="Aptos"/>
              </a:defRPr>
            </a:pPr>
            <a:r>
              <a:t>Se plantean situaciones y retos similares a un entorno profesional.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257800"/>
            <a:ext cx="9646920" cy="9144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4E79"/>
                </a:solidFill>
                <a:latin typeface="Aptos"/>
              </a:defRPr>
            </a:pPr>
            <a:r>
              <a:t>OBJETIVO: comprender los conceptos y, sobre todo, saber aplicarlos en la práctica.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 Display"/>
              </a:defRPr>
            </a:pPr>
            <a: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4B"/>
                </a:solidFill>
                <a:latin typeface="Aptos"/>
              </a:defRPr>
            </a:pPr>
            <a:r>
              <a:t>¿Cómo se evaluará el módulo?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1" y="2295144"/>
            <a:ext cx="658368" cy="65836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76272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EXÁMENES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96896"/>
            <a:ext cx="3703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05A"/>
                </a:solidFill>
                <a:latin typeface="Aptos"/>
              </a:defRPr>
            </a:pPr>
            <a:r>
              <a:t>Pruebas teóricas y/o prácticas.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73952" y="2295144"/>
            <a:ext cx="658368" cy="65836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76272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PRÁCTICAS Y ACTIVIDADES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96896"/>
            <a:ext cx="3703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05A"/>
                </a:solidFill>
                <a:latin typeface="Aptos"/>
              </a:defRPr>
            </a:pPr>
            <a:r>
              <a:t>Ejercicios, prácticas y proyectos realizados durante el curso.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3271" y="4032504"/>
            <a:ext cx="658368" cy="65836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913632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EVALUACIÓN CONTINUA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334256"/>
            <a:ext cx="3703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05A"/>
                </a:solidFill>
                <a:latin typeface="Aptos"/>
              </a:defRPr>
            </a:pPr>
            <a:r>
              <a:t>La calificación se obtiene a partir de los Resultados de Aprendizaje (RA).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73952" y="4032504"/>
            <a:ext cx="658368" cy="65836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913632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  <a:latin typeface="Aptos"/>
              </a:defRPr>
            </a:pPr>
            <a:r>
              <a:t>RECUPERACIÓN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334256"/>
            <a:ext cx="3703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05A"/>
                </a:solidFill>
                <a:latin typeface="Aptos"/>
              </a:defRPr>
            </a:pPr>
            <a:r>
              <a:t>Se podrán recuperar los bloques no superados.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5532120"/>
            <a:ext cx="9326880" cy="71323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4E79"/>
                </a:solidFill>
                <a:latin typeface="Aptos"/>
              </a:defRPr>
            </a:pPr>
            <a:r>
              <a:t>PARA SUPERAR EL MÓDULO: es necesario superar todos los Resultados de Aprendizaje.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33A"/>
                </a:solidFill>
                <a:latin typeface="Aptos Display"/>
              </a:defRPr>
            </a:pPr>
            <a: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4B5562"/>
                </a:solidFill>
                <a:latin typeface="Aptos"/>
              </a:defRPr>
            </a:pPr>
            <a:r>
              <a:t>La calificación del módulo se obtendrá a partir de dos tipos de evidencias: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057400"/>
            <a:ext cx="4800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2542032"/>
            <a:ext cx="1234440" cy="123444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80 %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146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233A"/>
                </a:solidFill>
                <a:latin typeface="Aptos"/>
              </a:defRPr>
            </a:pPr>
            <a:r>
              <a:t>EXAMEN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46120"/>
            <a:ext cx="2606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2"/>
                </a:solidFill>
                <a:latin typeface="Aptos"/>
              </a:defRPr>
            </a:pPr>
            <a:r>
              <a:t>Pruebas para comprobar la comprensión y aplicación de los contenidos trabajados.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57400"/>
            <a:ext cx="4800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20840" y="2542032"/>
            <a:ext cx="1234440" cy="1234440"/>
          </a:xfrm>
          <a:prstGeom prst="ellipse">
            <a:avLst/>
          </a:prstGeom>
          <a:solidFill>
            <a:srgbClr val="00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5146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233A"/>
                </a:solidFill>
                <a:latin typeface="Aptos"/>
              </a:defRPr>
            </a:pPr>
            <a:r>
              <a:t>ACTIVIDADES PRÁCTICAS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246120"/>
            <a:ext cx="2606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2"/>
                </a:solidFill>
                <a:latin typeface="Aptos"/>
              </a:defRPr>
            </a:pPr>
            <a:r>
              <a:t>Ejercicios y prácticas realizadas durante el desarrollo de las unidades.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486400"/>
            <a:ext cx="9418320" cy="731520"/>
          </a:xfrm>
          <a:prstGeom prst="roundRect">
            <a:avLst/>
          </a:prstGeom>
          <a:solidFill>
            <a:srgbClr val="E8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2233A"/>
                </a:solidFill>
                <a:latin typeface="Aptos"/>
              </a:defRPr>
            </a:pPr>
            <a:r>
              <a:t>80 % EXAMEN  +  20 % ACTIVIDADES PRÁCTICAS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Aptos Display"/>
              </a:defRPr>
            </a:pPr>
            <a:r>
              <a:t>PROFESOR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1600200"/>
            <a:ext cx="82753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606040" y="2331720"/>
            <a:ext cx="1417320" cy="14173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24028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Eduardo del Olmo Ibáñez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8" y="2971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14B55"/>
                </a:solidFill>
                <a:latin typeface="Aptos"/>
              </a:defRPr>
            </a:pPr>
            <a:r>
              <a:t>Profesor de Entornos de Desarrollo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3840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  <a:latin typeface="Aptos"/>
              </a:defRPr>
            </a:pPr>
            <a:r>
              <a:t>CONTACTO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25196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741"/>
                </a:solidFill>
                <a:latin typeface="Aptos"/>
              </a:defRPr>
            </a:pPr>
            <a:r>
              <a:t>edelolmo@iescomercio.com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48463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3"/>
                </a:solidFill>
                <a:latin typeface="Aptos"/>
              </a:defRPr>
            </a:pPr>
            <a:r>
              <a:t>IES Comercio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586</Words>
  <Application>Microsoft Office PowerPoint</Application>
  <PresentationFormat>Panorámica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Del olmo</dc:creator>
  <cp:lastModifiedBy>Eduardo Del olmo</cp:lastModifiedBy>
  <cp:revision>8</cp:revision>
  <dcterms:created xsi:type="dcterms:W3CDTF">2026-09-08T10:06:22Z</dcterms:created>
  <dcterms:modified xsi:type="dcterms:W3CDTF">2026-09-09T10:49:07Z</dcterms:modified>
</cp:coreProperties>
</file>