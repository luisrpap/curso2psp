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6" r:id="rId8"/>
    <p:sldId id="267" r:id="rId9"/>
    <p:sldId id="268" r:id="rId10"/>
    <p:sldId id="269" r:id="rId11"/>
    <p:sldId id="270" r:id="rId12"/>
    <p:sldId id="276" r:id="rId13"/>
    <p:sldId id="277" r:id="rId14"/>
    <p:sldId id="280" r:id="rId15"/>
    <p:sldId id="281" r:id="rId16"/>
    <p:sldId id="282" r:id="rId17"/>
    <p:sldId id="279" r:id="rId18"/>
    <p:sldId id="262" r:id="rId19"/>
    <p:sldId id="271" r:id="rId20"/>
    <p:sldId id="263" r:id="rId21"/>
    <p:sldId id="274" r:id="rId22"/>
    <p:sldId id="264" r:id="rId23"/>
    <p:sldId id="275" r:id="rId24"/>
    <p:sldId id="283" r:id="rId25"/>
    <p:sldId id="284" r:id="rId26"/>
    <p:sldId id="272" r:id="rId27"/>
    <p:sldId id="265" r:id="rId28"/>
    <p:sldId id="285" r:id="rId29"/>
  </p:sldIdLst>
  <p:sldSz cx="12192000" cy="6858000"/>
  <p:notesSz cx="6858000" cy="12192000"/>
  <p:embeddedFontLst>
    <p:embeddedFont>
      <p:font typeface="Lexend Bold" panose="020B0604020202020204" charset="0"/>
      <p:regular r:id="rId31"/>
    </p:embeddedFont>
    <p:embeddedFont>
      <p:font typeface="Consolas" panose="020B0609020204030204" pitchFamily="49" charset="0"/>
      <p:regular r:id="rId32"/>
      <p:bold r:id="rId33"/>
      <p:italic r:id="rId34"/>
      <p:boldItalic r:id="rId35"/>
    </p:embeddedFont>
    <p:embeddedFont>
      <p:font typeface="Calibri" panose="020F0502020204030204" pitchFamily="34" charset="0"/>
      <p:regular r:id="rId36"/>
      <p:bold r:id="rId37"/>
      <p:italic r:id="rId38"/>
      <p:boldItalic r:id="rId39"/>
    </p:embeddedFont>
    <p:embeddedFont>
      <p:font typeface="Lexend Medium" panose="020B0604020202020204" charset="0"/>
      <p:regular r:id="rId40"/>
    </p:embeddedFont>
    <p:embeddedFont>
      <p:font typeface="Krona One" panose="020B0604020202020204" charset="0"/>
      <p:regular r:id="rId41"/>
    </p:embeddedFont>
    <p:embeddedFont>
      <p:font typeface="Martian Mono Medium" panose="020B0604020202020204" charset="0"/>
      <p:regular r:id="rId42"/>
    </p:embeddedFont>
    <p:embeddedFont>
      <p:font typeface="Lexend" panose="020B0604020202020204" charset="0"/>
      <p:regular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6433" autoAdjust="0"/>
  </p:normalViewPr>
  <p:slideViewPr>
    <p:cSldViewPr snapToGrid="0" snapToObjects="1">
      <p:cViewPr varScale="1">
        <p:scale>
          <a:sx n="112" d="100"/>
          <a:sy n="112" d="100"/>
        </p:scale>
        <p:origin x="516" y="7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825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a la unidad de programación multihilo en Java. Hasta ahora hemos trabajado con procesos independientes creados por el sistema operativo. Hoy descubriremos cómo ejecutar múltiples tareas simultáneas dentro de un único programa Java.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Recordemos lo visto en temas anteriores: un proceso tiene aislamiento total gracias a la memoria virtual. Si un proceso hijo falla, el resto sigue vivo. La pregunta clave es: ¿merece la pena pagar el coste de un proceso completo cada vez que queremos hacer una tarea secundaria?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Destacad a los alumnos la diferencia de escala: un proceso nuevo requiere pedir memoria al kernel, clonar descriptores y configurar la tabla de páginas. Es matar moscas a cañonazos si solo queremos descargar un archivo en segundo plano.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Fijaos en el esquema: el proceso Java engloba a todos los hilos. Comparten el Heap, por lo que pasar información entre ellos no requiere sockets ni tuberías, solo leer objetos en memoria.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conceptual resume el dilema del desarrollador. Los hilos son ligeros y potentes, pero un fallo de memoria compartida puede corromper el estado de toda la aplicación.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Subrayad con insistencia el método start() frente a run(). Invocar run() directamente es una llamada a un método ordinario. Para crear el contexto de ejecución en el sistema operativo siempre debemos usar start().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12447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50956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471070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41905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1468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355726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73133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988355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75948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029252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179919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Explicad que el operador incremento no es indivisible. Descomponer contador++ en lectura, suma y escritura ayuda a visualizar cómo un hilo pisa el trabajo del otro en el registro de la CPU.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326991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Insistid en la regla de oro: la sincronización debe durar lo mínimo imprescindible. Bloquear métodos enteros durante operaciones de I/O lentas inutiliza las ventajas del paralelismo.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773147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Relacionad este punto directamente con lo que verán en Android Studio: si hacéis una llamada de red en el hilo principal (Main/UI Thread), la app arroja NetworkOnMainThreadException. ¡Los hilos secundarios son obligatorios!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977213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427491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9794965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Relacionad este punto directamente con lo que verán en Android Studio: si hacéis una llamada de red en el hilo principal (Main/UI Thread), la app arroja NetworkOnMainThreadException. ¡Los hilos secundarios son obligatorios!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9551157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164780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5154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5154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87380" y="1109345"/>
            <a:ext cx="6299042"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FFFFFF"/>
                </a:solidFill>
                <a:latin typeface="Martian Mono Medium" pitchFamily="34" charset="0"/>
                <a:ea typeface="Martian Mono Medium" pitchFamily="34" charset="-122"/>
                <a:cs typeface="Martian Mono Medium" pitchFamily="34" charset="-120"/>
              </a:rPr>
              <a:t>PROGRAMACIÓN DE SERVICIOS Y PROCESOS · 2º DAM</a:t>
            </a:r>
            <a:endParaRPr lang="en-US" sz="1300" dirty="0"/>
          </a:p>
        </p:txBody>
      </p:sp>
      <p:sp>
        <p:nvSpPr>
          <p:cNvPr id="3" name="Text 1"/>
          <p:cNvSpPr/>
          <p:nvPr/>
        </p:nvSpPr>
        <p:spPr>
          <a:xfrm>
            <a:off x="787380" y="1452862"/>
            <a:ext cx="5689458" cy="1097161"/>
          </a:xfrm>
          <a:prstGeom prst="rect">
            <a:avLst/>
          </a:prstGeom>
          <a:noFill/>
          <a:ln/>
        </p:spPr>
        <p:txBody>
          <a:bodyPr wrap="square" lIns="0" tIns="0" rIns="0" bIns="0" rtlCol="0" anchor="t">
            <a:normAutofit lnSpcReduction="10000"/>
          </a:bodyPr>
          <a:lstStyle/>
          <a:p>
            <a:pPr marL="0" indent="0" algn="l">
              <a:lnSpc>
                <a:spcPct val="90000"/>
              </a:lnSpc>
              <a:buNone/>
            </a:pPr>
            <a:r>
              <a:rPr lang="en-US" sz="4000" kern="100" spc="-40" dirty="0">
                <a:solidFill>
                  <a:srgbClr val="FFFFFF"/>
                </a:solidFill>
                <a:latin typeface="Krona One" pitchFamily="34" charset="0"/>
                <a:ea typeface="Krona One" pitchFamily="34" charset="-122"/>
                <a:cs typeface="Krona One" pitchFamily="34" charset="-120"/>
              </a:rPr>
              <a:t>Programación</a:t>
            </a:r>
            <a:endParaRPr lang="en-US" sz="4000" dirty="0"/>
          </a:p>
          <a:p>
            <a:pPr marL="0" indent="0" algn="l">
              <a:lnSpc>
                <a:spcPct val="90000"/>
              </a:lnSpc>
              <a:buNone/>
            </a:pPr>
            <a:r>
              <a:rPr lang="en-US" sz="4000" kern="100" spc="-40" dirty="0">
                <a:solidFill>
                  <a:srgbClr val="FFFFFF"/>
                </a:solidFill>
                <a:latin typeface="Krona One" pitchFamily="34" charset="0"/>
                <a:ea typeface="Krona One" pitchFamily="34" charset="-122"/>
                <a:cs typeface="Krona One" pitchFamily="34" charset="-120"/>
              </a:rPr>
              <a:t>Multihilo en Java</a:t>
            </a:r>
            <a:endParaRPr lang="en-US" sz="4000" dirty="0"/>
          </a:p>
        </p:txBody>
      </p:sp>
      <p:sp>
        <p:nvSpPr>
          <p:cNvPr id="4" name="Text 2"/>
          <p:cNvSpPr/>
          <p:nvPr/>
        </p:nvSpPr>
        <p:spPr>
          <a:xfrm>
            <a:off x="787380" y="2725857"/>
            <a:ext cx="5689458" cy="1234380"/>
          </a:xfrm>
          <a:prstGeom prst="rect">
            <a:avLst/>
          </a:prstGeom>
          <a:noFill/>
          <a:ln/>
        </p:spPr>
        <p:txBody>
          <a:bodyPr wrap="square" lIns="0" tIns="0" rIns="0" bIns="0" rtlCol="0" anchor="t">
            <a:normAutofit lnSpcReduction="10000"/>
          </a:bodyPr>
          <a:lstStyle/>
          <a:p>
            <a:pPr marL="0" indent="0" algn="l">
              <a:lnSpc>
                <a:spcPct val="113000"/>
              </a:lnSpc>
              <a:buNone/>
            </a:pPr>
            <a:r>
              <a:rPr lang="en-US" sz="2400" dirty="0">
                <a:solidFill>
                  <a:srgbClr val="FFFFFF"/>
                </a:solidFill>
                <a:latin typeface="Lexend" pitchFamily="34" charset="0"/>
                <a:ea typeface="Lexend" pitchFamily="34" charset="-122"/>
                <a:cs typeface="Lexend" pitchFamily="34" charset="-120"/>
              </a:rPr>
              <a:t>De la ejecución aislada por procesos a la concurrencia ligera dentro de la Máquina Virtual Java.</a:t>
            </a:r>
            <a:endParaRPr lang="en-US" sz="2400" dirty="0"/>
          </a:p>
        </p:txBody>
      </p:sp>
      <p:sp>
        <p:nvSpPr>
          <p:cNvPr id="5" name="Text 3"/>
          <p:cNvSpPr/>
          <p:nvPr/>
        </p:nvSpPr>
        <p:spPr>
          <a:xfrm>
            <a:off x="787380" y="4262497"/>
            <a:ext cx="6299042"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FFFFFF"/>
                </a:solidFill>
                <a:latin typeface="Lexend" pitchFamily="34" charset="0"/>
                <a:ea typeface="Lexend" pitchFamily="34" charset="-122"/>
                <a:cs typeface="Lexend" pitchFamily="34" charset="-120"/>
              </a:rPr>
              <a:t>UNIDAD DIDÁCTICA · CONCURRENCIA Y CONTROL DE HILOS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26745"/>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REPASO DE ARQUITECTURA</a:t>
            </a:r>
            <a:endParaRPr lang="en-US" sz="1300" dirty="0"/>
          </a:p>
        </p:txBody>
      </p:sp>
      <p:sp>
        <p:nvSpPr>
          <p:cNvPr id="3" name="Text 1"/>
          <p:cNvSpPr/>
          <p:nvPr/>
        </p:nvSpPr>
        <p:spPr>
          <a:xfrm>
            <a:off x="609585" y="946375"/>
            <a:ext cx="10972526"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120"/>
              </a:rPr>
              <a:t>Los procesos: lo que ya conocemos</a:t>
            </a:r>
            <a:endParaRPr lang="en-US" sz="2800" dirty="0"/>
          </a:p>
        </p:txBody>
      </p:sp>
      <p:sp>
        <p:nvSpPr>
          <p:cNvPr id="4" name="Text 2"/>
          <p:cNvSpPr/>
          <p:nvPr/>
        </p:nvSpPr>
        <p:spPr>
          <a:xfrm>
            <a:off x="609585" y="1650544"/>
            <a:ext cx="3428914" cy="1542852"/>
          </a:xfrm>
          <a:prstGeom prst="rect">
            <a:avLst/>
          </a:prstGeom>
          <a:noFill/>
          <a:ln/>
        </p:spPr>
        <p:txBody>
          <a:bodyPr wrap="square" lIns="0" tIns="0" rIns="0" bIns="0" rtlCol="0" anchor="t">
            <a:normAutofit lnSpcReduction="10000"/>
          </a:bodyPr>
          <a:lstStyle/>
          <a:p>
            <a:pPr>
              <a:lnSpc>
                <a:spcPct val="113000"/>
              </a:lnSpc>
            </a:pPr>
            <a:r>
              <a:rPr lang="es-ES" dirty="0">
                <a:solidFill>
                  <a:srgbClr val="E6E9FF"/>
                </a:solidFill>
                <a:latin typeface="Lexend" pitchFamily="34" charset="0"/>
                <a:ea typeface="Lexend" pitchFamily="34" charset="-122"/>
                <a:cs typeface="Lexend" pitchFamily="34" charset="-120"/>
              </a:rPr>
              <a:t>Un proceso es un programa en ejecución que dispone de su propia memoria y recursos gestionados por el sistema operativo.</a:t>
            </a:r>
            <a:endParaRPr lang="en-US" sz="1800" dirty="0"/>
          </a:p>
        </p:txBody>
      </p:sp>
      <p:sp>
        <p:nvSpPr>
          <p:cNvPr id="5" name="Text 3"/>
          <p:cNvSpPr/>
          <p:nvPr/>
        </p:nvSpPr>
        <p:spPr>
          <a:xfrm>
            <a:off x="609585" y="3843318"/>
            <a:ext cx="365750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PROCESO PADRE</a:t>
            </a:r>
            <a:endParaRPr lang="en-US" sz="1300" dirty="0"/>
          </a:p>
        </p:txBody>
      </p:sp>
      <p:sp>
        <p:nvSpPr>
          <p:cNvPr id="6" name="Text 4"/>
          <p:cNvSpPr/>
          <p:nvPr/>
        </p:nvSpPr>
        <p:spPr>
          <a:xfrm>
            <a:off x="609585" y="4163278"/>
            <a:ext cx="3428914"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120"/>
              </a:rPr>
              <a:t>Gestión central</a:t>
            </a:r>
            <a:endParaRPr lang="en-US" sz="2400" dirty="0"/>
          </a:p>
        </p:txBody>
      </p:sp>
      <p:sp>
        <p:nvSpPr>
          <p:cNvPr id="7" name="Text 5"/>
          <p:cNvSpPr/>
          <p:nvPr/>
        </p:nvSpPr>
        <p:spPr>
          <a:xfrm>
            <a:off x="609585" y="4771866"/>
            <a:ext cx="3428914" cy="1234281"/>
          </a:xfrm>
          <a:prstGeom prst="rect">
            <a:avLst/>
          </a:prstGeom>
          <a:noFill/>
          <a:ln/>
        </p:spPr>
        <p:txBody>
          <a:bodyPr wrap="square" lIns="0" tIns="0" rIns="0" bIns="0" rtlCol="0" anchor="t">
            <a:normAutofit lnSpcReduction="10000"/>
          </a:bodyPr>
          <a:lstStyle/>
          <a:p>
            <a:pPr>
              <a:lnSpc>
                <a:spcPct val="113000"/>
              </a:lnSpc>
            </a:pPr>
            <a:r>
              <a:rPr lang="es-ES" dirty="0">
                <a:solidFill>
                  <a:srgbClr val="E6E9FF"/>
                </a:solidFill>
                <a:latin typeface="Lexend" pitchFamily="34" charset="0"/>
                <a:ea typeface="Lexend" pitchFamily="34" charset="-122"/>
                <a:cs typeface="Lexend" pitchFamily="34" charset="-120"/>
              </a:rPr>
              <a:t>El proceso padre inicia la ejecución y controla el ciclo de vida de los procesos hijos que crea.</a:t>
            </a:r>
            <a:endParaRPr lang="en-US" sz="1800" dirty="0"/>
          </a:p>
        </p:txBody>
      </p:sp>
      <p:sp>
        <p:nvSpPr>
          <p:cNvPr id="9" name="Text 7"/>
          <p:cNvSpPr/>
          <p:nvPr/>
        </p:nvSpPr>
        <p:spPr>
          <a:xfrm>
            <a:off x="4495688" y="1659116"/>
            <a:ext cx="3428914"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TRES HIJOS AISLADOS</a:t>
            </a:r>
            <a:endParaRPr lang="en-US" sz="1300" dirty="0"/>
          </a:p>
        </p:txBody>
      </p:sp>
      <p:sp>
        <p:nvSpPr>
          <p:cNvPr id="10" name="Text 8"/>
          <p:cNvSpPr/>
          <p:nvPr/>
        </p:nvSpPr>
        <p:spPr>
          <a:xfrm>
            <a:off x="4495688" y="1979077"/>
            <a:ext cx="3200320"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120"/>
              </a:rPr>
              <a:t>Espacio propio</a:t>
            </a:r>
            <a:endParaRPr lang="en-US" sz="2400" dirty="0"/>
          </a:p>
        </p:txBody>
      </p:sp>
      <p:sp>
        <p:nvSpPr>
          <p:cNvPr id="11" name="Text 9"/>
          <p:cNvSpPr/>
          <p:nvPr/>
        </p:nvSpPr>
        <p:spPr>
          <a:xfrm>
            <a:off x="4495688" y="2587665"/>
            <a:ext cx="3200320" cy="1234281"/>
          </a:xfrm>
          <a:prstGeom prst="rect">
            <a:avLst/>
          </a:prstGeom>
          <a:noFill/>
          <a:ln/>
        </p:spPr>
        <p:txBody>
          <a:bodyPr wrap="square" lIns="0" tIns="0" rIns="0" bIns="0" rtlCol="0" anchor="t">
            <a:normAutofit fontScale="70000" lnSpcReduction="20000"/>
          </a:bodyPr>
          <a:lstStyle/>
          <a:p>
            <a:pPr>
              <a:lnSpc>
                <a:spcPct val="113000"/>
              </a:lnSpc>
            </a:pPr>
            <a:r>
              <a:rPr lang="es-ES" dirty="0">
                <a:solidFill>
                  <a:srgbClr val="E6E9FF"/>
                </a:solidFill>
                <a:latin typeface="Lexend" pitchFamily="34" charset="0"/>
                <a:ea typeface="Lexend" pitchFamily="34" charset="-122"/>
                <a:cs typeface="Lexend" pitchFamily="34" charset="-120"/>
              </a:rPr>
              <a:t>Cada proceso dispone de su propia memoria y recursos, por lo que puede ejecutarse de forma independiente.</a:t>
            </a:r>
          </a:p>
          <a:p>
            <a:pPr>
              <a:lnSpc>
                <a:spcPct val="113000"/>
              </a:lnSpc>
            </a:pPr>
            <a:endParaRPr lang="en-US" sz="1900" dirty="0">
              <a:solidFill>
                <a:srgbClr val="E6E9FF"/>
              </a:solidFill>
              <a:latin typeface="Lexend" pitchFamily="34" charset="0"/>
              <a:ea typeface="Lexend" pitchFamily="34" charset="-122"/>
              <a:cs typeface="Lexend" pitchFamily="34" charset="-120"/>
            </a:endParaRPr>
          </a:p>
          <a:p>
            <a:pPr>
              <a:lnSpc>
                <a:spcPct val="113000"/>
              </a:lnSpc>
            </a:pPr>
            <a:r>
              <a:rPr lang="es-ES" sz="1900" dirty="0">
                <a:solidFill>
                  <a:srgbClr val="E6E9FF"/>
                </a:solidFill>
                <a:latin typeface="Lexend" pitchFamily="34" charset="0"/>
                <a:ea typeface="Lexend" pitchFamily="34" charset="-122"/>
                <a:cs typeface="Lexend" pitchFamily="34" charset="-120"/>
              </a:rPr>
              <a:t>Los cambios realizados en un proceso no afectan directamente a los demás.</a:t>
            </a:r>
            <a:endParaRPr lang="en-US" sz="1900" dirty="0">
              <a:solidFill>
                <a:srgbClr val="E6E9FF"/>
              </a:solidFill>
              <a:latin typeface="Lexend" pitchFamily="34" charset="0"/>
              <a:ea typeface="Lexend" pitchFamily="34" charset="-122"/>
              <a:cs typeface="Lexend" pitchFamily="34" charset="-120"/>
            </a:endParaRPr>
          </a:p>
        </p:txBody>
      </p:sp>
      <p:sp>
        <p:nvSpPr>
          <p:cNvPr id="12" name="Text 10"/>
          <p:cNvSpPr/>
          <p:nvPr/>
        </p:nvSpPr>
        <p:spPr>
          <a:xfrm>
            <a:off x="4489338" y="4044328"/>
            <a:ext cx="3428914"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B9BEEA"/>
                </a:solidFill>
                <a:latin typeface="Lexend" pitchFamily="34" charset="0"/>
                <a:ea typeface="Lexend" pitchFamily="34" charset="-122"/>
                <a:cs typeface="Lexend" pitchFamily="34" charset="-120"/>
              </a:rPr>
              <a:t>Sin colisiones de memoria</a:t>
            </a:r>
            <a:endParaRPr lang="en-US" sz="1400" dirty="0"/>
          </a:p>
        </p:txBody>
      </p:sp>
      <p:sp>
        <p:nvSpPr>
          <p:cNvPr id="13" name="Text 11"/>
          <p:cNvSpPr/>
          <p:nvPr/>
        </p:nvSpPr>
        <p:spPr>
          <a:xfrm>
            <a:off x="8153196" y="1659116"/>
            <a:ext cx="3428914"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EL DILEMA</a:t>
            </a:r>
            <a:endParaRPr lang="en-US" sz="1300" dirty="0"/>
          </a:p>
        </p:txBody>
      </p:sp>
      <p:sp>
        <p:nvSpPr>
          <p:cNvPr id="14" name="Text 12"/>
          <p:cNvSpPr/>
          <p:nvPr/>
        </p:nvSpPr>
        <p:spPr>
          <a:xfrm>
            <a:off x="8153196" y="1979077"/>
            <a:ext cx="3428914" cy="1188541"/>
          </a:xfrm>
          <a:prstGeom prst="rect">
            <a:avLst/>
          </a:prstGeom>
          <a:noFill/>
          <a:ln/>
        </p:spPr>
        <p:txBody>
          <a:bodyPr wrap="square" lIns="0" tIns="0" rIns="0" bIns="0" rtlCol="0" anchor="t">
            <a:normAutofit/>
          </a:bodyPr>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120"/>
              </a:rPr>
              <a:t>¿Es necesario crear un proceso completo para cada tarea?</a:t>
            </a:r>
            <a:endParaRPr lang="en-US" sz="2400" dirty="0"/>
          </a:p>
        </p:txBody>
      </p:sp>
      <p:sp>
        <p:nvSpPr>
          <p:cNvPr id="15" name="Text 13"/>
          <p:cNvSpPr/>
          <p:nvPr/>
        </p:nvSpPr>
        <p:spPr>
          <a:xfrm>
            <a:off x="8153196" y="3380026"/>
            <a:ext cx="3428914" cy="1542852"/>
          </a:xfrm>
          <a:prstGeom prst="rect">
            <a:avLst/>
          </a:prstGeom>
          <a:noFill/>
          <a:ln/>
        </p:spPr>
        <p:txBody>
          <a:bodyPr wrap="square" lIns="0" tIns="0" rIns="0" bIns="0" rtlCol="0" anchor="t">
            <a:normAutofit lnSpcReduction="10000"/>
          </a:bodyPr>
          <a:lstStyle/>
          <a:p>
            <a:pPr>
              <a:lnSpc>
                <a:spcPct val="113000"/>
              </a:lnSpc>
            </a:pPr>
            <a:r>
              <a:rPr lang="es-ES" dirty="0">
                <a:solidFill>
                  <a:srgbClr val="E6E9FF"/>
                </a:solidFill>
                <a:latin typeface="Lexend" pitchFamily="34" charset="0"/>
                <a:ea typeface="Lexend" pitchFamily="34" charset="-122"/>
                <a:cs typeface="Lexend" pitchFamily="34" charset="-120"/>
              </a:rPr>
              <a:t>El aislamiento aporta seguridad e independencia, pero crear muchos procesos implica consumir más memoria y recursos.</a:t>
            </a:r>
            <a:endParaRPr lang="en-US" sz="1800" dirty="0"/>
          </a:p>
        </p:txBody>
      </p:sp>
      <p:sp>
        <p:nvSpPr>
          <p:cNvPr id="16" name="Text 14"/>
          <p:cNvSpPr/>
          <p:nvPr/>
        </p:nvSpPr>
        <p:spPr>
          <a:xfrm>
            <a:off x="8153196" y="5100995"/>
            <a:ext cx="3428914" cy="693241"/>
          </a:xfrm>
          <a:prstGeom prst="rect">
            <a:avLst/>
          </a:prstGeom>
          <a:noFill/>
          <a:ln/>
        </p:spPr>
        <p:txBody>
          <a:bodyPr wrap="square" lIns="0" tIns="0" rIns="0" bIns="0" rtlCol="0" anchor="t">
            <a:normAutofit/>
          </a:bodyPr>
          <a:lstStyle/>
          <a:p>
            <a:pPr>
              <a:lnSpc>
                <a:spcPct val="108000"/>
              </a:lnSpc>
            </a:pPr>
            <a:r>
              <a:rPr lang="es-ES" sz="1400" kern="100" spc="14" dirty="0">
                <a:solidFill>
                  <a:srgbClr val="B9BEEA"/>
                </a:solidFill>
                <a:latin typeface="Lexend" pitchFamily="34" charset="0"/>
                <a:ea typeface="Lexend" pitchFamily="34" charset="-122"/>
                <a:cs typeface="Lexend" pitchFamily="34" charset="-120"/>
              </a:rPr>
              <a:t>Los procesos están aislados entre sí, pero compartir información entre ellos resulta más complejo.</a:t>
            </a:r>
            <a:endParaRPr lang="en-US" sz="1400" dirty="0"/>
          </a:p>
        </p:txBody>
      </p:sp>
      <p:sp>
        <p:nvSpPr>
          <p:cNvPr id="17" name="Shape 15"/>
          <p:cNvSpPr/>
          <p:nvPr/>
        </p:nvSpPr>
        <p:spPr>
          <a:xfrm>
            <a:off x="4260743" y="1641971"/>
            <a:ext cx="12700" cy="4764484"/>
          </a:xfrm>
          <a:prstGeom prst="rect">
            <a:avLst/>
          </a:prstGeom>
          <a:solidFill>
            <a:srgbClr val="3A3D8C"/>
          </a:solidFill>
          <a:ln/>
        </p:spPr>
      </p:sp>
      <p:sp>
        <p:nvSpPr>
          <p:cNvPr id="18" name="Shape 16"/>
          <p:cNvSpPr/>
          <p:nvPr/>
        </p:nvSpPr>
        <p:spPr>
          <a:xfrm>
            <a:off x="7918252" y="1641971"/>
            <a:ext cx="12700" cy="4764484"/>
          </a:xfrm>
          <a:prstGeom prst="rect">
            <a:avLst/>
          </a:prstGeom>
          <a:solidFill>
            <a:srgbClr val="3A3D8C"/>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06390" y="347345"/>
            <a:ext cx="7315017"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EL COSTE DEL MULTIPROCESO</a:t>
            </a:r>
            <a:endParaRPr lang="en-US" sz="1300" dirty="0"/>
          </a:p>
        </p:txBody>
      </p:sp>
      <p:sp>
        <p:nvSpPr>
          <p:cNvPr id="3" name="Text 1"/>
          <p:cNvSpPr/>
          <p:nvPr/>
        </p:nvSpPr>
        <p:spPr>
          <a:xfrm>
            <a:off x="406390" y="666975"/>
            <a:ext cx="6908627" cy="817761"/>
          </a:xfrm>
          <a:prstGeom prst="rect">
            <a:avLst/>
          </a:prstGeom>
          <a:noFill/>
          <a:ln/>
        </p:spPr>
        <p:txBody>
          <a:bodyPr wrap="square" lIns="0" tIns="0" rIns="0" bIns="0" rtlCol="0" anchor="t">
            <a:normAutofit lnSpcReduction="10000"/>
          </a:bodyPr>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120"/>
              </a:rPr>
              <a:t>Un proceso por tarea sale caro</a:t>
            </a:r>
            <a:endParaRPr lang="en-US" sz="2800" dirty="0"/>
          </a:p>
        </p:txBody>
      </p:sp>
      <p:sp>
        <p:nvSpPr>
          <p:cNvPr id="4" name="Text 2"/>
          <p:cNvSpPr/>
          <p:nvPr/>
        </p:nvSpPr>
        <p:spPr>
          <a:xfrm>
            <a:off x="406390" y="1780024"/>
            <a:ext cx="6908627" cy="617141"/>
          </a:xfrm>
          <a:prstGeom prst="rect">
            <a:avLst/>
          </a:prstGeom>
          <a:noFill/>
          <a:ln/>
        </p:spPr>
        <p:txBody>
          <a:bodyPr wrap="square" lIns="0" tIns="0" rIns="0" bIns="0" rtlCol="0" anchor="t">
            <a:normAutofit lnSpcReduction="10000"/>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Crear y conmutar procesos requiere más memoria, más recursos y más tiempo.</a:t>
            </a:r>
            <a:endParaRPr lang="en-US" sz="1800" dirty="0"/>
          </a:p>
        </p:txBody>
      </p:sp>
      <p:sp>
        <p:nvSpPr>
          <p:cNvPr id="5" name="Text 3"/>
          <p:cNvSpPr/>
          <p:nvPr/>
        </p:nvSpPr>
        <p:spPr>
          <a:xfrm>
            <a:off x="406390" y="2661642"/>
            <a:ext cx="3301917" cy="2646363"/>
          </a:xfrm>
          <a:prstGeom prst="rect">
            <a:avLst/>
          </a:prstGeom>
          <a:noFill/>
          <a:ln/>
        </p:spPr>
        <p:txBody>
          <a:bodyPr wrap="square" lIns="0" tIns="0" rIns="0" bIns="0" rtlCol="0" anchor="t">
            <a:normAutofit fontScale="85000" lnSpcReduction="10000"/>
          </a:bodyPr>
          <a:lstStyle/>
          <a:p>
            <a:pPr>
              <a:lnSpc>
                <a:spcPct val="113000"/>
              </a:lnSpc>
              <a:spcAft>
                <a:spcPts val="1350"/>
              </a:spcAft>
            </a:pPr>
            <a:r>
              <a:rPr lang="en-US" sz="1800" b="1" dirty="0">
                <a:solidFill>
                  <a:srgbClr val="E6E9FF"/>
                </a:solidFill>
                <a:latin typeface="Lexend Bold" pitchFamily="34" charset="0"/>
                <a:ea typeface="Lexend Bold" pitchFamily="34" charset="-122"/>
                <a:cs typeface="Lexend Bold" pitchFamily="34" charset="-120"/>
              </a:rPr>
              <a:t>Duplicación de memoria:</a:t>
            </a:r>
            <a:r>
              <a:rPr lang="en-US" sz="1800" dirty="0">
                <a:solidFill>
                  <a:srgbClr val="E6E9FF"/>
                </a:solidFill>
                <a:latin typeface="Lexend" pitchFamily="34" charset="0"/>
                <a:ea typeface="Lexend" pitchFamily="34" charset="-122"/>
                <a:cs typeface="Lexend" pitchFamily="34" charset="-120"/>
              </a:rPr>
              <a:t> cada </a:t>
            </a:r>
            <a:r>
              <a:rPr lang="en-US" sz="1800" dirty="0" err="1">
                <a:solidFill>
                  <a:srgbClr val="E6E9FF"/>
                </a:solidFill>
                <a:latin typeface="Lexend" pitchFamily="34" charset="0"/>
                <a:ea typeface="Lexend" pitchFamily="34" charset="-122"/>
                <a:cs typeface="Lexend" pitchFamily="34" charset="-120"/>
              </a:rPr>
              <a:t>proceso</a:t>
            </a:r>
            <a:r>
              <a:rPr lang="en-US" sz="1800" dirty="0">
                <a:solidFill>
                  <a:srgbClr val="E6E9FF"/>
                </a:solidFill>
                <a:latin typeface="Lexend" pitchFamily="34" charset="0"/>
                <a:ea typeface="Lexend" pitchFamily="34" charset="-122"/>
                <a:cs typeface="Lexend" pitchFamily="34" charset="-120"/>
              </a:rPr>
              <a:t> </a:t>
            </a:r>
            <a:r>
              <a:rPr lang="en-US" sz="1800" dirty="0" err="1">
                <a:solidFill>
                  <a:srgbClr val="E6E9FF"/>
                </a:solidFill>
                <a:latin typeface="Lexend" pitchFamily="34" charset="0"/>
                <a:ea typeface="Lexend" pitchFamily="34" charset="-122"/>
                <a:cs typeface="Lexend" pitchFamily="34" charset="-120"/>
              </a:rPr>
              <a:t>mantiene</a:t>
            </a:r>
            <a:r>
              <a:rPr lang="en-US" sz="1800" dirty="0">
                <a:solidFill>
                  <a:srgbClr val="E6E9FF"/>
                </a:solidFill>
                <a:latin typeface="Lexend" pitchFamily="34" charset="0"/>
                <a:ea typeface="Lexend" pitchFamily="34" charset="-122"/>
                <a:cs typeface="Lexend" pitchFamily="34" charset="-120"/>
              </a:rPr>
              <a:t> </a:t>
            </a:r>
            <a:r>
              <a:rPr lang="en-US" sz="1800" dirty="0" err="1">
                <a:solidFill>
                  <a:srgbClr val="E6E9FF"/>
                </a:solidFill>
                <a:latin typeface="Lexend" pitchFamily="34" charset="0"/>
                <a:ea typeface="Lexend" pitchFamily="34" charset="-122"/>
                <a:cs typeface="Lexend" pitchFamily="34" charset="-120"/>
              </a:rPr>
              <a:t>código</a:t>
            </a:r>
            <a:r>
              <a:rPr lang="en-US" sz="1800" dirty="0">
                <a:solidFill>
                  <a:srgbClr val="E6E9FF"/>
                </a:solidFill>
                <a:latin typeface="Lexend" pitchFamily="34" charset="0"/>
                <a:ea typeface="Lexend" pitchFamily="34" charset="-122"/>
                <a:cs typeface="Lexend" pitchFamily="34" charset="-120"/>
              </a:rPr>
              <a:t>, datos, heap (</a:t>
            </a:r>
            <a:r>
              <a:rPr lang="es-ES" dirty="0">
                <a:solidFill>
                  <a:srgbClr val="E6E9FF"/>
                </a:solidFill>
                <a:latin typeface="Lexend" pitchFamily="34" charset="0"/>
                <a:ea typeface="Lexend" pitchFamily="34" charset="-122"/>
                <a:cs typeface="Lexend" pitchFamily="34" charset="-120"/>
              </a:rPr>
              <a:t>zona de memoria para objetos creados en ejecución)</a:t>
            </a:r>
            <a:r>
              <a:rPr lang="en-US" sz="1800" dirty="0">
                <a:solidFill>
                  <a:srgbClr val="E6E9FF"/>
                </a:solidFill>
                <a:latin typeface="Lexend" pitchFamily="34" charset="0"/>
                <a:ea typeface="Lexend" pitchFamily="34" charset="-122"/>
                <a:cs typeface="Lexend" pitchFamily="34" charset="-120"/>
              </a:rPr>
              <a:t> y variables del entorno.</a:t>
            </a:r>
            <a:endParaRPr lang="en-US" sz="1800" dirty="0"/>
          </a:p>
          <a:p>
            <a:pPr>
              <a:lnSpc>
                <a:spcPct val="113000"/>
              </a:lnSpc>
            </a:pPr>
            <a:r>
              <a:rPr lang="en-US" sz="1800" b="1" dirty="0">
                <a:solidFill>
                  <a:srgbClr val="E6E9FF"/>
                </a:solidFill>
                <a:latin typeface="Lexend Bold" pitchFamily="34" charset="0"/>
                <a:ea typeface="Lexend Bold" pitchFamily="34" charset="-122"/>
                <a:cs typeface="Lexend Bold" pitchFamily="34" charset="-120"/>
              </a:rPr>
              <a:t>Sobrecarga del kernel:</a:t>
            </a:r>
            <a:r>
              <a:rPr lang="en-US" sz="1800" dirty="0">
                <a:solidFill>
                  <a:srgbClr val="E6E9FF"/>
                </a:solidFill>
                <a:latin typeface="Lexend" pitchFamily="34" charset="0"/>
                <a:ea typeface="Lexend" pitchFamily="34" charset="-122"/>
                <a:cs typeface="Lexend" pitchFamily="34" charset="-120"/>
              </a:rPr>
              <a:t> </a:t>
            </a:r>
            <a:r>
              <a:rPr lang="es-ES" dirty="0">
                <a:solidFill>
                  <a:srgbClr val="E6E9FF"/>
                </a:solidFill>
                <a:latin typeface="Lexend" pitchFamily="34" charset="0"/>
                <a:ea typeface="Lexend" pitchFamily="34" charset="-122"/>
                <a:cs typeface="Lexend" pitchFamily="34" charset="-120"/>
              </a:rPr>
              <a:t>Crear un proceso requiere reservar memoria y recursos adicionales del sistema operativo.</a:t>
            </a:r>
            <a:endParaRPr lang="en-US" sz="1800" dirty="0"/>
          </a:p>
        </p:txBody>
      </p:sp>
      <p:sp>
        <p:nvSpPr>
          <p:cNvPr id="6" name="Text 4"/>
          <p:cNvSpPr/>
          <p:nvPr/>
        </p:nvSpPr>
        <p:spPr>
          <a:xfrm>
            <a:off x="4013100" y="2670215"/>
            <a:ext cx="3301917" cy="1234281"/>
          </a:xfrm>
          <a:prstGeom prst="rect">
            <a:avLst/>
          </a:prstGeom>
          <a:noFill/>
          <a:ln/>
        </p:spPr>
        <p:txBody>
          <a:bodyPr wrap="square" lIns="0" tIns="0" rIns="0" bIns="0" rtlCol="0" anchor="t">
            <a:normAutofit fontScale="92500" lnSpcReduction="20000"/>
          </a:bodyPr>
          <a:lstStyle/>
          <a:p>
            <a:pPr>
              <a:lnSpc>
                <a:spcPct val="113000"/>
              </a:lnSpc>
            </a:pPr>
            <a:r>
              <a:rPr lang="en-US" sz="1800" b="1" dirty="0">
                <a:solidFill>
                  <a:srgbClr val="E6E9FF"/>
                </a:solidFill>
                <a:latin typeface="Lexend Bold" pitchFamily="34" charset="0"/>
                <a:ea typeface="Lexend Bold" pitchFamily="34" charset="-122"/>
                <a:cs typeface="Lexend Bold" pitchFamily="34" charset="-120"/>
              </a:rPr>
              <a:t>Cambio de contexto lento:</a:t>
            </a:r>
            <a:r>
              <a:rPr lang="en-US" sz="1800" dirty="0">
                <a:solidFill>
                  <a:srgbClr val="E6E9FF"/>
                </a:solidFill>
                <a:latin typeface="Lexend" pitchFamily="34" charset="0"/>
                <a:ea typeface="Lexend" pitchFamily="34" charset="-122"/>
                <a:cs typeface="Lexend" pitchFamily="34" charset="-120"/>
              </a:rPr>
              <a:t> </a:t>
            </a:r>
            <a:r>
              <a:rPr lang="es-ES" dirty="0">
                <a:solidFill>
                  <a:srgbClr val="E6E9FF"/>
                </a:solidFill>
                <a:latin typeface="Lexend" pitchFamily="34" charset="0"/>
                <a:ea typeface="Lexend" pitchFamily="34" charset="-122"/>
                <a:cs typeface="Lexend" pitchFamily="34" charset="-120"/>
              </a:rPr>
              <a:t>Cambiar entre procesos requiere más trabajo para el sistema operativo que cambiar entre hilos.</a:t>
            </a:r>
            <a:endParaRPr lang="en-US" sz="1800" dirty="0"/>
          </a:p>
        </p:txBody>
      </p:sp>
      <p:sp>
        <p:nvSpPr>
          <p:cNvPr id="7" name="Shape 5"/>
          <p:cNvSpPr/>
          <p:nvPr/>
        </p:nvSpPr>
        <p:spPr>
          <a:xfrm>
            <a:off x="406390" y="5460405"/>
            <a:ext cx="6908627" cy="960041"/>
          </a:xfrm>
          <a:prstGeom prst="roundRect">
            <a:avLst>
              <a:gd name="adj" fmla="val 15874"/>
            </a:avLst>
          </a:prstGeom>
          <a:solidFill>
            <a:srgbClr val="1E1F66"/>
          </a:solidFill>
          <a:ln w="19050">
            <a:solidFill>
              <a:srgbClr val="FF9347"/>
            </a:solidFill>
            <a:prstDash val="solid"/>
          </a:ln>
          <a:effectLst>
            <a:outerShdw blurRad="201930" dist="127" dir="16200000" algn="bl" rotWithShape="0">
              <a:srgbClr val="FF9347">
                <a:alpha val="30000"/>
              </a:srgbClr>
            </a:outerShdw>
          </a:effectLst>
        </p:spPr>
      </p:sp>
      <p:sp>
        <p:nvSpPr>
          <p:cNvPr id="8" name="Text 6"/>
          <p:cNvSpPr/>
          <p:nvPr/>
        </p:nvSpPr>
        <p:spPr>
          <a:xfrm>
            <a:off x="654034" y="5640427"/>
            <a:ext cx="6413340" cy="617141"/>
          </a:xfrm>
          <a:prstGeom prst="rect">
            <a:avLst/>
          </a:prstGeom>
          <a:noFill/>
          <a:ln/>
        </p:spPr>
        <p:txBody>
          <a:bodyPr wrap="square" lIns="0" tIns="0" rIns="0" bIns="0" rtlCol="0" anchor="t">
            <a:normAutofit lnSpcReduction="10000"/>
          </a:bodyPr>
          <a:lstStyle/>
          <a:p>
            <a:pPr marL="0" indent="0" algn="l">
              <a:lnSpc>
                <a:spcPct val="113000"/>
              </a:lnSpc>
              <a:buNone/>
            </a:pPr>
            <a:r>
              <a:rPr lang="en-US" sz="1800" b="1" dirty="0">
                <a:solidFill>
                  <a:srgbClr val="FF9347"/>
                </a:solidFill>
                <a:latin typeface="Lexend Bold" pitchFamily="34" charset="0"/>
                <a:ea typeface="Lexend Bold" pitchFamily="34" charset="-122"/>
                <a:cs typeface="Lexend Bold" pitchFamily="34" charset="-120"/>
              </a:rPr>
              <a:t>Conclusión clave:</a:t>
            </a:r>
            <a:r>
              <a:rPr lang="en-US" sz="1800" dirty="0">
                <a:solidFill>
                  <a:srgbClr val="FF9347"/>
                </a:solidFill>
                <a:latin typeface="Lexend" pitchFamily="34" charset="0"/>
                <a:ea typeface="Lexend" pitchFamily="34" charset="-122"/>
                <a:cs typeface="Lexend" pitchFamily="34" charset="-120"/>
              </a:rPr>
              <a:t> No siempre necesitamos un proceso completo para cada trabajo</a:t>
            </a:r>
            <a:endParaRPr lang="en-US" sz="1800" dirty="0"/>
          </a:p>
        </p:txBody>
      </p:sp>
      <p:pic>
        <p:nvPicPr>
          <p:cNvPr id="9" name="Image 0" descr="preencoded.png"/>
          <p:cNvPicPr>
            <a:picLocks noChangeAspect="1"/>
          </p:cNvPicPr>
          <p:nvPr/>
        </p:nvPicPr>
        <p:blipFill>
          <a:blip r:embed="rId3"/>
          <a:stretch>
            <a:fillRect/>
          </a:stretch>
        </p:blipFill>
        <p:spPr>
          <a:xfrm>
            <a:off x="7721407" y="0"/>
            <a:ext cx="4470288"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72740"/>
          </a:xfrm>
          <a:prstGeom prst="rect">
            <a:avLst/>
          </a:prstGeom>
          <a:noFill/>
          <a:ln/>
        </p:spPr>
        <p:txBody>
          <a:bodyPr wrap="none" lIns="0" tIns="0" rIns="0" bIns="0" rtlCol="0" anchor="t"/>
          <a:lstStyle/>
          <a:p>
            <a:pPr marL="0" indent="0" algn="l">
              <a:lnSpc>
                <a:spcPct val="100000"/>
              </a:lnSpc>
              <a:buNone/>
            </a:pPr>
            <a:r>
              <a:rPr lang="en-US" sz="1150" kern="100" spc="68" dirty="0">
                <a:solidFill>
                  <a:srgbClr val="27E0E3"/>
                </a:solidFill>
                <a:latin typeface="Martian Mono Medium" pitchFamily="34" charset="0"/>
                <a:ea typeface="Martian Mono Medium" pitchFamily="34" charset="-122"/>
                <a:cs typeface="Martian Mono Medium" pitchFamily="34" charset="-120"/>
              </a:rPr>
              <a:t>ARQUITECTURA DE LA JVM</a:t>
            </a:r>
            <a:endParaRPr lang="en-US" sz="1150" dirty="0"/>
          </a:p>
        </p:txBody>
      </p:sp>
      <p:sp>
        <p:nvSpPr>
          <p:cNvPr id="3" name="Text 1"/>
          <p:cNvSpPr/>
          <p:nvPr/>
        </p:nvSpPr>
        <p:spPr>
          <a:xfrm>
            <a:off x="609585" y="886896"/>
            <a:ext cx="10972526" cy="356592"/>
          </a:xfrm>
          <a:prstGeom prst="rect">
            <a:avLst/>
          </a:prstGeom>
          <a:noFill/>
          <a:ln/>
        </p:spPr>
        <p:txBody>
          <a:bodyPr wrap="none" lIns="0" tIns="0" rIns="0" bIns="0" rtlCol="0" anchor="t"/>
          <a:lstStyle/>
          <a:p>
            <a:pPr marL="0" indent="0" algn="l">
              <a:lnSpc>
                <a:spcPct val="96000"/>
              </a:lnSpc>
              <a:buNone/>
            </a:pPr>
            <a:r>
              <a:rPr lang="en-US" sz="2450" kern="100" spc="-12" dirty="0">
                <a:solidFill>
                  <a:srgbClr val="FFFFFF"/>
                </a:solidFill>
                <a:latin typeface="Krona One" pitchFamily="34" charset="0"/>
                <a:ea typeface="Krona One" pitchFamily="34" charset="-122"/>
                <a:cs typeface="Krona One" pitchFamily="34" charset="-120"/>
              </a:rPr>
              <a:t>Un hilo es una tarea dentro de un proceso</a:t>
            </a:r>
            <a:endParaRPr lang="en-US" sz="2450" dirty="0"/>
          </a:p>
        </p:txBody>
      </p:sp>
      <p:sp>
        <p:nvSpPr>
          <p:cNvPr id="4" name="Text 2"/>
          <p:cNvSpPr/>
          <p:nvPr/>
        </p:nvSpPr>
        <p:spPr>
          <a:xfrm>
            <a:off x="609585" y="1478506"/>
            <a:ext cx="10972526" cy="671711"/>
          </a:xfrm>
          <a:prstGeom prst="rect">
            <a:avLst/>
          </a:prstGeom>
          <a:noFill/>
          <a:ln/>
        </p:spPr>
        <p:txBody>
          <a:bodyPr wrap="square" lIns="0" tIns="0" rIns="0" bIns="0" rtlCol="0" anchor="t">
            <a:normAutofit lnSpcReduction="10000"/>
          </a:bodyPr>
          <a:lstStyle/>
          <a:p>
            <a:pPr>
              <a:lnSpc>
                <a:spcPct val="105000"/>
              </a:lnSpc>
            </a:pPr>
            <a:r>
              <a:rPr lang="es-ES" sz="2100" dirty="0">
                <a:solidFill>
                  <a:srgbClr val="E6E9FF"/>
                </a:solidFill>
                <a:latin typeface="Lexend" pitchFamily="34" charset="0"/>
                <a:ea typeface="Lexend" pitchFamily="34" charset="-122"/>
                <a:cs typeface="Lexend" pitchFamily="34" charset="-120"/>
              </a:rPr>
              <a:t>Un hilo es una línea de ejecución dentro de un proceso. Permite que una aplicación realice varias tareas al mismo tiempo sin necesidad de crear nuevos procesos.</a:t>
            </a:r>
            <a:endParaRPr lang="en-US" sz="2100" dirty="0"/>
          </a:p>
        </p:txBody>
      </p:sp>
      <p:sp>
        <p:nvSpPr>
          <p:cNvPr id="5" name="Shape 3"/>
          <p:cNvSpPr/>
          <p:nvPr/>
        </p:nvSpPr>
        <p:spPr>
          <a:xfrm>
            <a:off x="609585" y="2341860"/>
            <a:ext cx="6400640" cy="4109045"/>
          </a:xfrm>
          <a:prstGeom prst="roundRect">
            <a:avLst>
              <a:gd name="adj" fmla="val 3709"/>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6" name="Text 4"/>
          <p:cNvSpPr/>
          <p:nvPr/>
        </p:nvSpPr>
        <p:spPr>
          <a:xfrm>
            <a:off x="806430" y="2538710"/>
            <a:ext cx="6203795" cy="172740"/>
          </a:xfrm>
          <a:prstGeom prst="rect">
            <a:avLst/>
          </a:prstGeom>
          <a:noFill/>
          <a:ln/>
        </p:spPr>
        <p:txBody>
          <a:bodyPr wrap="none" lIns="0" tIns="0" rIns="0" bIns="0" rtlCol="0" anchor="t"/>
          <a:lstStyle/>
          <a:p>
            <a:pPr marL="0" indent="0" algn="l">
              <a:lnSpc>
                <a:spcPct val="100000"/>
              </a:lnSpc>
              <a:buNone/>
            </a:pPr>
            <a:r>
              <a:rPr lang="en-US" sz="1150" kern="100" spc="68" dirty="0">
                <a:solidFill>
                  <a:srgbClr val="E6E9FF"/>
                </a:solidFill>
                <a:latin typeface="Martian Mono Medium" pitchFamily="34" charset="0"/>
                <a:ea typeface="Martian Mono Medium" pitchFamily="34" charset="-122"/>
                <a:cs typeface="Martian Mono Medium" pitchFamily="34" charset="-120"/>
              </a:rPr>
              <a:t>PROCESO JAVA (JVM CONTAINER)</a:t>
            </a:r>
            <a:endParaRPr lang="en-US" sz="1150" dirty="0"/>
          </a:p>
        </p:txBody>
      </p:sp>
      <p:sp>
        <p:nvSpPr>
          <p:cNvPr id="7" name="Text 5"/>
          <p:cNvSpPr/>
          <p:nvPr/>
        </p:nvSpPr>
        <p:spPr>
          <a:xfrm>
            <a:off x="806430" y="2819220"/>
            <a:ext cx="6006950" cy="345480"/>
          </a:xfrm>
          <a:prstGeom prst="rect">
            <a:avLst/>
          </a:prstGeom>
          <a:noFill/>
          <a:ln/>
        </p:spPr>
        <p:txBody>
          <a:bodyPr wrap="none" lIns="0" tIns="0" rIns="0" bIns="0" rtlCol="0" anchor="t"/>
          <a:lstStyle/>
          <a:p>
            <a:pPr>
              <a:lnSpc>
                <a:spcPct val="108000"/>
              </a:lnSpc>
            </a:pPr>
            <a:r>
              <a:rPr lang="en-US" sz="2100" kern="100" spc="-10" dirty="0">
                <a:solidFill>
                  <a:srgbClr val="E6E9FF"/>
                </a:solidFill>
                <a:latin typeface="Lexend Medium" pitchFamily="34" charset="0"/>
                <a:ea typeface="Lexend Medium" pitchFamily="34" charset="-122"/>
                <a:cs typeface="Lexend Medium" pitchFamily="34" charset="-120"/>
              </a:rPr>
              <a:t>Memoria y </a:t>
            </a:r>
            <a:r>
              <a:rPr lang="en-US" sz="2100" kern="100" spc="-10" dirty="0" err="1">
                <a:solidFill>
                  <a:srgbClr val="E6E9FF"/>
                </a:solidFill>
                <a:latin typeface="Lexend Medium" pitchFamily="34" charset="0"/>
                <a:ea typeface="Lexend Medium" pitchFamily="34" charset="-122"/>
                <a:cs typeface="Lexend Medium" pitchFamily="34" charset="-120"/>
              </a:rPr>
              <a:t>recursos</a:t>
            </a:r>
            <a:r>
              <a:rPr lang="en-US" sz="2100" kern="100" spc="-10" dirty="0">
                <a:solidFill>
                  <a:srgbClr val="E6E9FF"/>
                </a:solidFill>
                <a:latin typeface="Lexend Medium" pitchFamily="34" charset="0"/>
                <a:ea typeface="Lexend Medium" pitchFamily="34" charset="-122"/>
                <a:cs typeface="Lexend Medium" pitchFamily="34" charset="-120"/>
              </a:rPr>
              <a:t> </a:t>
            </a:r>
            <a:r>
              <a:rPr lang="en-US" sz="2100" kern="100" spc="-10" dirty="0" err="1">
                <a:solidFill>
                  <a:srgbClr val="E6E9FF"/>
                </a:solidFill>
                <a:latin typeface="Lexend Medium" pitchFamily="34" charset="0"/>
                <a:ea typeface="Lexend Medium" pitchFamily="34" charset="-122"/>
                <a:cs typeface="Lexend Medium" pitchFamily="34" charset="-120"/>
              </a:rPr>
              <a:t>compartidos</a:t>
            </a:r>
            <a:endParaRPr lang="en-US" sz="2100" dirty="0"/>
          </a:p>
        </p:txBody>
      </p:sp>
      <p:sp>
        <p:nvSpPr>
          <p:cNvPr id="8" name="Text 6"/>
          <p:cNvSpPr/>
          <p:nvPr/>
        </p:nvSpPr>
        <p:spPr>
          <a:xfrm>
            <a:off x="806430" y="3330883"/>
            <a:ext cx="6006950" cy="504031"/>
          </a:xfrm>
          <a:prstGeom prst="rect">
            <a:avLst/>
          </a:prstGeom>
          <a:noFill/>
          <a:ln/>
        </p:spPr>
        <p:txBody>
          <a:bodyPr wrap="square" lIns="0" tIns="0" rIns="0" bIns="0" rtlCol="0" anchor="t">
            <a:normAutofit/>
          </a:bodyPr>
          <a:lstStyle/>
          <a:p>
            <a:pPr>
              <a:lnSpc>
                <a:spcPct val="105000"/>
              </a:lnSpc>
            </a:pPr>
            <a:r>
              <a:rPr lang="es-ES" sz="1550" dirty="0">
                <a:solidFill>
                  <a:srgbClr val="E6E9FF"/>
                </a:solidFill>
                <a:latin typeface="Lexend" pitchFamily="34" charset="0"/>
                <a:ea typeface="Lexend" pitchFamily="34" charset="-122"/>
                <a:cs typeface="Lexend" pitchFamily="34" charset="-120"/>
              </a:rPr>
              <a:t>Todos los hilos comparten la memoria y los recursos del proceso.</a:t>
            </a:r>
            <a:endParaRPr lang="en-US" sz="1550" dirty="0"/>
          </a:p>
        </p:txBody>
      </p:sp>
      <p:sp>
        <p:nvSpPr>
          <p:cNvPr id="9" name="Text 7"/>
          <p:cNvSpPr/>
          <p:nvPr/>
        </p:nvSpPr>
        <p:spPr>
          <a:xfrm>
            <a:off x="908027" y="4071750"/>
            <a:ext cx="2825679" cy="252016"/>
          </a:xfrm>
          <a:prstGeom prst="rect">
            <a:avLst/>
          </a:prstGeom>
          <a:noFill/>
          <a:ln/>
        </p:spPr>
        <p:txBody>
          <a:bodyPr wrap="none" lIns="0" tIns="0" rIns="0" bIns="0" rtlCol="0" anchor="t"/>
          <a:lstStyle/>
          <a:p>
            <a:pPr marL="0" indent="0" algn="l">
              <a:lnSpc>
                <a:spcPct val="105000"/>
              </a:lnSpc>
              <a:buNone/>
            </a:pPr>
            <a:r>
              <a:rPr lang="en-US" sz="1550" b="1" dirty="0">
                <a:solidFill>
                  <a:srgbClr val="FF9347"/>
                </a:solidFill>
                <a:latin typeface="Lexend Bold" pitchFamily="34" charset="0"/>
                <a:ea typeface="Lexend Bold" pitchFamily="34" charset="-122"/>
                <a:cs typeface="Lexend Bold" pitchFamily="34" charset="-120"/>
              </a:rPr>
              <a:t>Hilo 1: main</a:t>
            </a:r>
            <a:endParaRPr lang="en-US" sz="1550" dirty="0"/>
          </a:p>
        </p:txBody>
      </p:sp>
      <p:sp>
        <p:nvSpPr>
          <p:cNvPr id="10" name="Text 8"/>
          <p:cNvSpPr/>
          <p:nvPr/>
        </p:nvSpPr>
        <p:spPr>
          <a:xfrm>
            <a:off x="908027" y="4452543"/>
            <a:ext cx="2825679" cy="201513"/>
          </a:xfrm>
          <a:prstGeom prst="rect">
            <a:avLst/>
          </a:prstGeom>
          <a:noFill/>
          <a:ln/>
        </p:spPr>
        <p:txBody>
          <a:bodyPr wrap="none" lIns="0" tIns="0" rIns="0" bIns="0" rtlCol="0" anchor="t"/>
          <a:lstStyle/>
          <a:p>
            <a:pPr marL="0" indent="0" algn="l">
              <a:lnSpc>
                <a:spcPct val="108000"/>
              </a:lnSpc>
              <a:buNone/>
            </a:pPr>
            <a:r>
              <a:rPr lang="en-US" sz="1200" kern="100" spc="12" dirty="0">
                <a:solidFill>
                  <a:srgbClr val="E6E9FF"/>
                </a:solidFill>
                <a:latin typeface="Lexend" pitchFamily="34" charset="0"/>
                <a:ea typeface="Lexend" pitchFamily="34" charset="-122"/>
                <a:cs typeface="Lexend" pitchFamily="34" charset="-120"/>
              </a:rPr>
              <a:t>Pila + PC propio</a:t>
            </a:r>
            <a:endParaRPr lang="en-US" sz="1200" dirty="0"/>
          </a:p>
        </p:txBody>
      </p:sp>
      <p:sp>
        <p:nvSpPr>
          <p:cNvPr id="11" name="Text 9"/>
          <p:cNvSpPr/>
          <p:nvPr/>
        </p:nvSpPr>
        <p:spPr>
          <a:xfrm>
            <a:off x="3987700" y="4071750"/>
            <a:ext cx="2825679" cy="252016"/>
          </a:xfrm>
          <a:prstGeom prst="rect">
            <a:avLst/>
          </a:prstGeom>
          <a:noFill/>
          <a:ln/>
        </p:spPr>
        <p:txBody>
          <a:bodyPr wrap="none" lIns="0" tIns="0" rIns="0" bIns="0" rtlCol="0" anchor="t"/>
          <a:lstStyle/>
          <a:p>
            <a:pPr marL="0" indent="0" algn="l">
              <a:lnSpc>
                <a:spcPct val="105000"/>
              </a:lnSpc>
              <a:buNone/>
            </a:pPr>
            <a:r>
              <a:rPr lang="en-US" sz="1550" b="1" dirty="0">
                <a:solidFill>
                  <a:srgbClr val="E6E9FF"/>
                </a:solidFill>
                <a:latin typeface="Lexend Bold" pitchFamily="34" charset="0"/>
                <a:ea typeface="Lexend Bold" pitchFamily="34" charset="-122"/>
                <a:cs typeface="Lexend Bold" pitchFamily="34" charset="-120"/>
              </a:rPr>
              <a:t>Hilo 2: </a:t>
            </a:r>
            <a:r>
              <a:rPr lang="en-US" sz="1550" b="1" dirty="0" err="1">
                <a:solidFill>
                  <a:srgbClr val="E6E9FF"/>
                </a:solidFill>
                <a:latin typeface="Lexend Bold" pitchFamily="34" charset="0"/>
                <a:ea typeface="Lexend Bold" pitchFamily="34" charset="-122"/>
                <a:cs typeface="Lexend Bold" pitchFamily="34" charset="-120"/>
              </a:rPr>
              <a:t>Interfaz</a:t>
            </a:r>
            <a:r>
              <a:rPr lang="en-US" sz="1550" b="1" dirty="0">
                <a:solidFill>
                  <a:srgbClr val="E6E9FF"/>
                </a:solidFill>
                <a:latin typeface="Lexend Bold" pitchFamily="34" charset="0"/>
                <a:ea typeface="Lexend Bold" pitchFamily="34" charset="-122"/>
                <a:cs typeface="Lexend Bold" pitchFamily="34" charset="-120"/>
              </a:rPr>
              <a:t> </a:t>
            </a:r>
            <a:r>
              <a:rPr lang="en-US" sz="1550" b="1" dirty="0" err="1">
                <a:solidFill>
                  <a:srgbClr val="E6E9FF"/>
                </a:solidFill>
                <a:latin typeface="Lexend Bold" pitchFamily="34" charset="0"/>
                <a:ea typeface="Lexend Bold" pitchFamily="34" charset="-122"/>
                <a:cs typeface="Lexend Bold" pitchFamily="34" charset="-120"/>
              </a:rPr>
              <a:t>Grafica</a:t>
            </a:r>
            <a:endParaRPr lang="en-US" sz="1550" dirty="0"/>
          </a:p>
        </p:txBody>
      </p:sp>
      <p:sp>
        <p:nvSpPr>
          <p:cNvPr id="12" name="Text 10"/>
          <p:cNvSpPr/>
          <p:nvPr/>
        </p:nvSpPr>
        <p:spPr>
          <a:xfrm>
            <a:off x="3987700" y="4452543"/>
            <a:ext cx="2825679" cy="201513"/>
          </a:xfrm>
          <a:prstGeom prst="rect">
            <a:avLst/>
          </a:prstGeom>
          <a:noFill/>
          <a:ln/>
        </p:spPr>
        <p:txBody>
          <a:bodyPr wrap="none" lIns="0" tIns="0" rIns="0" bIns="0" rtlCol="0" anchor="t"/>
          <a:lstStyle/>
          <a:p>
            <a:pPr marL="0" indent="0" algn="l">
              <a:lnSpc>
                <a:spcPct val="108000"/>
              </a:lnSpc>
              <a:buNone/>
            </a:pPr>
            <a:r>
              <a:rPr lang="en-US" sz="1200" kern="100" spc="12" dirty="0">
                <a:solidFill>
                  <a:srgbClr val="E6E9FF"/>
                </a:solidFill>
                <a:latin typeface="Lexend" pitchFamily="34" charset="0"/>
                <a:ea typeface="Lexend" pitchFamily="34" charset="-122"/>
                <a:cs typeface="Lexend" pitchFamily="34" charset="-120"/>
              </a:rPr>
              <a:t>Pila + PC propio</a:t>
            </a:r>
            <a:endParaRPr lang="en-US" sz="1200" dirty="0"/>
          </a:p>
        </p:txBody>
      </p:sp>
      <p:sp>
        <p:nvSpPr>
          <p:cNvPr id="13" name="Text 11"/>
          <p:cNvSpPr/>
          <p:nvPr/>
        </p:nvSpPr>
        <p:spPr>
          <a:xfrm>
            <a:off x="908027" y="5016114"/>
            <a:ext cx="2825679" cy="252016"/>
          </a:xfrm>
          <a:prstGeom prst="rect">
            <a:avLst/>
          </a:prstGeom>
          <a:noFill/>
          <a:ln/>
        </p:spPr>
        <p:txBody>
          <a:bodyPr wrap="none" lIns="0" tIns="0" rIns="0" bIns="0" rtlCol="0" anchor="t"/>
          <a:lstStyle/>
          <a:p>
            <a:pPr marL="0" indent="0" algn="l">
              <a:lnSpc>
                <a:spcPct val="105000"/>
              </a:lnSpc>
              <a:buNone/>
            </a:pPr>
            <a:r>
              <a:rPr lang="en-US" sz="1550" b="1" dirty="0">
                <a:solidFill>
                  <a:srgbClr val="E6E9FF"/>
                </a:solidFill>
                <a:latin typeface="Lexend Bold" pitchFamily="34" charset="0"/>
                <a:ea typeface="Lexend Bold" pitchFamily="34" charset="-122"/>
                <a:cs typeface="Lexend Bold" pitchFamily="34" charset="-120"/>
              </a:rPr>
              <a:t>Hilo 3: </a:t>
            </a:r>
            <a:r>
              <a:rPr lang="en-US" sz="1550" b="1" dirty="0" err="1">
                <a:solidFill>
                  <a:srgbClr val="E6E9FF"/>
                </a:solidFill>
                <a:latin typeface="Lexend Bold" pitchFamily="34" charset="0"/>
                <a:ea typeface="Lexend Bold" pitchFamily="34" charset="-122"/>
                <a:cs typeface="Lexend Bold" pitchFamily="34" charset="-120"/>
              </a:rPr>
              <a:t>Descarga</a:t>
            </a:r>
            <a:endParaRPr lang="en-US" sz="1550" dirty="0"/>
          </a:p>
        </p:txBody>
      </p:sp>
      <p:sp>
        <p:nvSpPr>
          <p:cNvPr id="14" name="Text 12"/>
          <p:cNvSpPr/>
          <p:nvPr/>
        </p:nvSpPr>
        <p:spPr>
          <a:xfrm>
            <a:off x="908027" y="5396907"/>
            <a:ext cx="2825679" cy="201513"/>
          </a:xfrm>
          <a:prstGeom prst="rect">
            <a:avLst/>
          </a:prstGeom>
          <a:noFill/>
          <a:ln/>
        </p:spPr>
        <p:txBody>
          <a:bodyPr wrap="none" lIns="0" tIns="0" rIns="0" bIns="0" rtlCol="0" anchor="t"/>
          <a:lstStyle/>
          <a:p>
            <a:pPr marL="0" indent="0" algn="l">
              <a:lnSpc>
                <a:spcPct val="108000"/>
              </a:lnSpc>
              <a:buNone/>
            </a:pPr>
            <a:r>
              <a:rPr lang="en-US" sz="1200" kern="100" spc="12" dirty="0">
                <a:solidFill>
                  <a:srgbClr val="E6E9FF"/>
                </a:solidFill>
                <a:latin typeface="Lexend" pitchFamily="34" charset="0"/>
                <a:ea typeface="Lexend" pitchFamily="34" charset="-122"/>
                <a:cs typeface="Lexend" pitchFamily="34" charset="-120"/>
              </a:rPr>
              <a:t>Pila + PC propio</a:t>
            </a:r>
            <a:endParaRPr lang="en-US" sz="1200" dirty="0"/>
          </a:p>
        </p:txBody>
      </p:sp>
      <p:sp>
        <p:nvSpPr>
          <p:cNvPr id="15" name="Text 13"/>
          <p:cNvSpPr/>
          <p:nvPr/>
        </p:nvSpPr>
        <p:spPr>
          <a:xfrm>
            <a:off x="3987700" y="5016114"/>
            <a:ext cx="2825679" cy="252016"/>
          </a:xfrm>
          <a:prstGeom prst="rect">
            <a:avLst/>
          </a:prstGeom>
          <a:noFill/>
          <a:ln/>
        </p:spPr>
        <p:txBody>
          <a:bodyPr wrap="none" lIns="0" tIns="0" rIns="0" bIns="0" rtlCol="0" anchor="t"/>
          <a:lstStyle/>
          <a:p>
            <a:pPr marL="0" indent="0" algn="l">
              <a:lnSpc>
                <a:spcPct val="105000"/>
              </a:lnSpc>
              <a:buNone/>
            </a:pPr>
            <a:r>
              <a:rPr lang="en-US" sz="1550" b="1" dirty="0">
                <a:solidFill>
                  <a:srgbClr val="E6E9FF"/>
                </a:solidFill>
                <a:latin typeface="Lexend Bold" pitchFamily="34" charset="0"/>
                <a:ea typeface="Lexend Bold" pitchFamily="34" charset="-122"/>
                <a:cs typeface="Lexend Bold" pitchFamily="34" charset="-120"/>
              </a:rPr>
              <a:t>Hilo 4: </a:t>
            </a:r>
            <a:r>
              <a:rPr lang="en-US" sz="1550" b="1" dirty="0" err="1">
                <a:solidFill>
                  <a:srgbClr val="E6E9FF"/>
                </a:solidFill>
                <a:latin typeface="Lexend Bold" pitchFamily="34" charset="0"/>
                <a:ea typeface="Lexend Bold" pitchFamily="34" charset="-122"/>
                <a:cs typeface="Lexend Bold" pitchFamily="34" charset="-120"/>
              </a:rPr>
              <a:t>Impresion</a:t>
            </a:r>
            <a:endParaRPr lang="en-US" sz="1550" dirty="0"/>
          </a:p>
        </p:txBody>
      </p:sp>
      <p:sp>
        <p:nvSpPr>
          <p:cNvPr id="16" name="Text 14"/>
          <p:cNvSpPr/>
          <p:nvPr/>
        </p:nvSpPr>
        <p:spPr>
          <a:xfrm>
            <a:off x="3987700" y="5396907"/>
            <a:ext cx="2825679" cy="201513"/>
          </a:xfrm>
          <a:prstGeom prst="rect">
            <a:avLst/>
          </a:prstGeom>
          <a:noFill/>
          <a:ln/>
        </p:spPr>
        <p:txBody>
          <a:bodyPr wrap="none" lIns="0" tIns="0" rIns="0" bIns="0" rtlCol="0" anchor="t"/>
          <a:lstStyle/>
          <a:p>
            <a:pPr marL="0" indent="0" algn="l">
              <a:lnSpc>
                <a:spcPct val="108000"/>
              </a:lnSpc>
              <a:buNone/>
            </a:pPr>
            <a:r>
              <a:rPr lang="en-US" sz="1200" kern="100" spc="12" dirty="0">
                <a:solidFill>
                  <a:srgbClr val="E6E9FF"/>
                </a:solidFill>
                <a:latin typeface="Lexend" pitchFamily="34" charset="0"/>
                <a:ea typeface="Lexend" pitchFamily="34" charset="-122"/>
                <a:cs typeface="Lexend" pitchFamily="34" charset="-120"/>
              </a:rPr>
              <a:t>Pila + PC propio</a:t>
            </a:r>
            <a:endParaRPr lang="en-US" sz="1200" dirty="0"/>
          </a:p>
        </p:txBody>
      </p:sp>
      <p:sp>
        <p:nvSpPr>
          <p:cNvPr id="17" name="Shape 15"/>
          <p:cNvSpPr/>
          <p:nvPr/>
        </p:nvSpPr>
        <p:spPr>
          <a:xfrm>
            <a:off x="7314918" y="2341860"/>
            <a:ext cx="4267192" cy="4109045"/>
          </a:xfrm>
          <a:prstGeom prst="rect">
            <a:avLst/>
          </a:prstGeom>
          <a:solidFill>
            <a:srgbClr val="1E1F66"/>
          </a:solidFill>
          <a:ln/>
        </p:spPr>
      </p:sp>
      <p:sp>
        <p:nvSpPr>
          <p:cNvPr id="18" name="Text 16"/>
          <p:cNvSpPr/>
          <p:nvPr/>
        </p:nvSpPr>
        <p:spPr>
          <a:xfrm>
            <a:off x="7492713" y="2519660"/>
            <a:ext cx="4089397" cy="172740"/>
          </a:xfrm>
          <a:prstGeom prst="rect">
            <a:avLst/>
          </a:prstGeom>
          <a:noFill/>
          <a:ln/>
        </p:spPr>
        <p:txBody>
          <a:bodyPr wrap="none" lIns="0" tIns="0" rIns="0" bIns="0" rtlCol="0" anchor="t"/>
          <a:lstStyle/>
          <a:p>
            <a:pPr marL="0" indent="0" algn="l">
              <a:lnSpc>
                <a:spcPct val="100000"/>
              </a:lnSpc>
              <a:buNone/>
            </a:pPr>
            <a:r>
              <a:rPr lang="en-US" sz="1150" kern="100" spc="68" dirty="0">
                <a:solidFill>
                  <a:srgbClr val="FF9347"/>
                </a:solidFill>
                <a:latin typeface="Martian Mono Medium" pitchFamily="34" charset="0"/>
                <a:ea typeface="Martian Mono Medium" pitchFamily="34" charset="-122"/>
                <a:cs typeface="Martian Mono Medium" pitchFamily="34" charset="-120"/>
              </a:rPr>
              <a:t>EL HILO INICIAL</a:t>
            </a:r>
            <a:endParaRPr lang="en-US" sz="1150" dirty="0"/>
          </a:p>
        </p:txBody>
      </p:sp>
      <p:sp>
        <p:nvSpPr>
          <p:cNvPr id="19" name="Text 17"/>
          <p:cNvSpPr/>
          <p:nvPr/>
        </p:nvSpPr>
        <p:spPr>
          <a:xfrm>
            <a:off x="7492713" y="2795520"/>
            <a:ext cx="3911601" cy="575866"/>
          </a:xfrm>
          <a:prstGeom prst="rect">
            <a:avLst/>
          </a:prstGeom>
          <a:noFill/>
          <a:ln/>
        </p:spPr>
        <p:txBody>
          <a:bodyPr wrap="square" lIns="0" tIns="0" rIns="0" bIns="0" rtlCol="0" anchor="t">
            <a:normAutofit lnSpcReduction="10000"/>
          </a:bodyPr>
          <a:lstStyle/>
          <a:p>
            <a:pPr marL="0" indent="0" algn="l">
              <a:lnSpc>
                <a:spcPct val="108000"/>
              </a:lnSpc>
              <a:buNone/>
            </a:pPr>
            <a:r>
              <a:rPr lang="en-US" sz="1750" kern="100" spc="-9" dirty="0">
                <a:solidFill>
                  <a:srgbClr val="E6E9FF"/>
                </a:solidFill>
                <a:latin typeface="Lexend Medium" pitchFamily="34" charset="0"/>
                <a:ea typeface="Lexend Medium" pitchFamily="34" charset="-122"/>
                <a:cs typeface="Lexend Medium" pitchFamily="34" charset="-120"/>
              </a:rPr>
              <a:t>Todo programa Java tiene al menos uno: main</a:t>
            </a:r>
            <a:endParaRPr lang="en-US" sz="1750" dirty="0"/>
          </a:p>
        </p:txBody>
      </p:sp>
      <p:sp>
        <p:nvSpPr>
          <p:cNvPr id="20" name="Text 18"/>
          <p:cNvSpPr/>
          <p:nvPr/>
        </p:nvSpPr>
        <p:spPr>
          <a:xfrm>
            <a:off x="7492713" y="3542219"/>
            <a:ext cx="3911601" cy="510381"/>
          </a:xfrm>
          <a:prstGeom prst="rect">
            <a:avLst/>
          </a:prstGeom>
          <a:noFill/>
          <a:ln/>
        </p:spPr>
        <p:txBody>
          <a:bodyPr wrap="square" lIns="0" tIns="0" rIns="0" bIns="0" rtlCol="0" anchor="t">
            <a:normAutofit fontScale="85000" lnSpcReduction="20000"/>
          </a:bodyPr>
          <a:lstStyle/>
          <a:p>
            <a:pPr>
              <a:lnSpc>
                <a:spcPct val="105000"/>
              </a:lnSpc>
            </a:pPr>
            <a:r>
              <a:rPr lang="es-ES" sz="1550" dirty="0">
                <a:solidFill>
                  <a:srgbClr val="E6E9FF"/>
                </a:solidFill>
                <a:latin typeface="Lexend" pitchFamily="34" charset="0"/>
                <a:ea typeface="Lexend" pitchFamily="34" charset="-122"/>
                <a:cs typeface="Lexend" pitchFamily="34" charset="-120"/>
              </a:rPr>
              <a:t>La JVM crea automáticamente este hilo al comenzar la ejecución del método </a:t>
            </a:r>
            <a:r>
              <a:rPr lang="es-ES" sz="1550" dirty="0" err="1">
                <a:solidFill>
                  <a:srgbClr val="E6E9FF"/>
                </a:solidFill>
                <a:latin typeface="Lexend" pitchFamily="34" charset="0"/>
                <a:ea typeface="Lexend" pitchFamily="34" charset="-122"/>
                <a:cs typeface="Lexend" pitchFamily="34" charset="-120"/>
              </a:rPr>
              <a:t>main</a:t>
            </a:r>
            <a:r>
              <a:rPr lang="es-ES" sz="1550" dirty="0">
                <a:solidFill>
                  <a:srgbClr val="E6E9FF"/>
                </a:solidFill>
                <a:latin typeface="Lexend" pitchFamily="34" charset="0"/>
                <a:ea typeface="Lexend" pitchFamily="34" charset="-122"/>
                <a:cs typeface="Lexend" pitchFamily="34" charset="-120"/>
              </a:rPr>
              <a:t>().</a:t>
            </a:r>
          </a:p>
          <a:p>
            <a:pPr>
              <a:lnSpc>
                <a:spcPct val="105000"/>
              </a:lnSpc>
            </a:pPr>
            <a:r>
              <a:rPr lang="es-ES" sz="1550" dirty="0">
                <a:solidFill>
                  <a:srgbClr val="E6E9FF"/>
                </a:solidFill>
                <a:latin typeface="Lexend" pitchFamily="34" charset="0"/>
                <a:ea typeface="Lexend" pitchFamily="34" charset="-122"/>
                <a:cs typeface="Lexend" pitchFamily="34" charset="-120"/>
              </a:rPr>
              <a:t>A partir de él podemos crear hilos adicionales.</a:t>
            </a:r>
            <a:endParaRPr lang="en-US" sz="1550" dirty="0"/>
          </a:p>
        </p:txBody>
      </p:sp>
      <p:sp>
        <p:nvSpPr>
          <p:cNvPr id="22" name="Shape 20"/>
          <p:cNvSpPr/>
          <p:nvPr/>
        </p:nvSpPr>
        <p:spPr>
          <a:xfrm>
            <a:off x="7492713" y="4239419"/>
            <a:ext cx="3911502" cy="31651"/>
          </a:xfrm>
          <a:prstGeom prst="roundRect">
            <a:avLst>
              <a:gd name="adj" fmla="val 49998"/>
            </a:avLst>
          </a:prstGeom>
          <a:solidFill>
            <a:srgbClr val="3A3D8C"/>
          </a:solidFill>
          <a:ln/>
        </p:spPr>
      </p:sp>
      <p:sp>
        <p:nvSpPr>
          <p:cNvPr id="23" name="Text 21"/>
          <p:cNvSpPr/>
          <p:nvPr/>
        </p:nvSpPr>
        <p:spPr>
          <a:xfrm>
            <a:off x="7492713" y="4543623"/>
            <a:ext cx="4089397" cy="172740"/>
          </a:xfrm>
          <a:prstGeom prst="rect">
            <a:avLst/>
          </a:prstGeom>
          <a:noFill/>
          <a:ln/>
        </p:spPr>
        <p:txBody>
          <a:bodyPr wrap="none" lIns="0" tIns="0" rIns="0" bIns="0" rtlCol="0" anchor="t"/>
          <a:lstStyle/>
          <a:p>
            <a:pPr marL="0" indent="0" algn="l">
              <a:lnSpc>
                <a:spcPct val="100000"/>
              </a:lnSpc>
              <a:buNone/>
            </a:pPr>
            <a:r>
              <a:rPr lang="en-US" sz="1150" kern="100" spc="68" dirty="0">
                <a:solidFill>
                  <a:srgbClr val="E6E9FF"/>
                </a:solidFill>
                <a:latin typeface="Martian Mono Medium" pitchFamily="34" charset="0"/>
                <a:ea typeface="Martian Mono Medium" pitchFamily="34" charset="-122"/>
                <a:cs typeface="Martian Mono Medium" pitchFamily="34" charset="-120"/>
              </a:rPr>
              <a:t>VENTAJAS INMEDIATAS</a:t>
            </a:r>
            <a:endParaRPr lang="en-US" sz="1150" dirty="0"/>
          </a:p>
        </p:txBody>
      </p:sp>
      <p:sp>
        <p:nvSpPr>
          <p:cNvPr id="24" name="Text 22"/>
          <p:cNvSpPr/>
          <p:nvPr/>
        </p:nvSpPr>
        <p:spPr>
          <a:xfrm>
            <a:off x="7492713" y="4819484"/>
            <a:ext cx="3911601" cy="287933"/>
          </a:xfrm>
          <a:prstGeom prst="rect">
            <a:avLst/>
          </a:prstGeom>
          <a:noFill/>
          <a:ln/>
        </p:spPr>
        <p:txBody>
          <a:bodyPr wrap="none" lIns="0" tIns="0" rIns="0" bIns="0" rtlCol="0" anchor="t"/>
          <a:lstStyle/>
          <a:p>
            <a:pPr marL="0" indent="0" algn="l">
              <a:lnSpc>
                <a:spcPct val="108000"/>
              </a:lnSpc>
              <a:buNone/>
            </a:pPr>
            <a:r>
              <a:rPr lang="en-US" sz="1750" kern="100" spc="-9" dirty="0">
                <a:solidFill>
                  <a:srgbClr val="E6E9FF"/>
                </a:solidFill>
                <a:latin typeface="Lexend Medium" pitchFamily="34" charset="0"/>
                <a:ea typeface="Lexend Medium" pitchFamily="34" charset="-122"/>
                <a:cs typeface="Lexend Medium" pitchFamily="34" charset="-120"/>
              </a:rPr>
              <a:t>Menor consumo y sobrecarga</a:t>
            </a:r>
            <a:endParaRPr lang="en-US" sz="1750" dirty="0"/>
          </a:p>
        </p:txBody>
      </p:sp>
      <p:sp>
        <p:nvSpPr>
          <p:cNvPr id="25" name="Text 23"/>
          <p:cNvSpPr/>
          <p:nvPr/>
        </p:nvSpPr>
        <p:spPr>
          <a:xfrm>
            <a:off x="7492713" y="5278250"/>
            <a:ext cx="3911601" cy="1008063"/>
          </a:xfrm>
          <a:prstGeom prst="rect">
            <a:avLst/>
          </a:prstGeom>
          <a:noFill/>
          <a:ln/>
        </p:spPr>
        <p:txBody>
          <a:bodyPr wrap="square" lIns="0" tIns="0" rIns="0" bIns="0" rtlCol="0" anchor="t">
            <a:normAutofit fontScale="92500" lnSpcReduction="20000"/>
          </a:bodyPr>
          <a:lstStyle/>
          <a:p>
            <a:pPr marL="285750" indent="-285750">
              <a:lnSpc>
                <a:spcPct val="105000"/>
              </a:lnSpc>
              <a:buFont typeface="Arial" panose="020B0604020202020204" pitchFamily="34" charset="0"/>
              <a:buChar char="•"/>
            </a:pPr>
            <a:r>
              <a:rPr lang="es-ES" sz="1550" dirty="0">
                <a:solidFill>
                  <a:srgbClr val="E6E9FF"/>
                </a:solidFill>
                <a:latin typeface="Lexend" pitchFamily="34" charset="0"/>
                <a:ea typeface="Lexend" pitchFamily="34" charset="-122"/>
                <a:cs typeface="Lexend" pitchFamily="34" charset="-120"/>
              </a:rPr>
              <a:t>Menor consumo de memoria.</a:t>
            </a:r>
          </a:p>
          <a:p>
            <a:pPr marL="285750" indent="-285750">
              <a:lnSpc>
                <a:spcPct val="105000"/>
              </a:lnSpc>
              <a:buFont typeface="Arial" panose="020B0604020202020204" pitchFamily="34" charset="0"/>
              <a:buChar char="•"/>
            </a:pPr>
            <a:r>
              <a:rPr lang="es-ES" sz="1550" dirty="0">
                <a:solidFill>
                  <a:srgbClr val="E6E9FF"/>
                </a:solidFill>
                <a:latin typeface="Lexend" pitchFamily="34" charset="0"/>
                <a:ea typeface="Lexend" pitchFamily="34" charset="-122"/>
                <a:cs typeface="Lexend" pitchFamily="34" charset="-120"/>
              </a:rPr>
              <a:t>Creación más rápida que un proceso.</a:t>
            </a:r>
          </a:p>
          <a:p>
            <a:pPr marL="285750" indent="-285750">
              <a:lnSpc>
                <a:spcPct val="105000"/>
              </a:lnSpc>
              <a:buFont typeface="Arial" panose="020B0604020202020204" pitchFamily="34" charset="0"/>
              <a:buChar char="•"/>
            </a:pPr>
            <a:r>
              <a:rPr lang="es-ES" sz="1550" dirty="0">
                <a:solidFill>
                  <a:srgbClr val="E6E9FF"/>
                </a:solidFill>
                <a:latin typeface="Lexend" pitchFamily="34" charset="0"/>
                <a:ea typeface="Lexend" pitchFamily="34" charset="-122"/>
                <a:cs typeface="Lexend" pitchFamily="34" charset="-120"/>
              </a:rPr>
              <a:t>Compartición sencilla de información.</a:t>
            </a:r>
          </a:p>
          <a:p>
            <a:pPr marL="285750" indent="-285750">
              <a:lnSpc>
                <a:spcPct val="105000"/>
              </a:lnSpc>
              <a:buFont typeface="Arial" panose="020B0604020202020204" pitchFamily="34" charset="0"/>
              <a:buChar char="•"/>
            </a:pPr>
            <a:r>
              <a:rPr lang="es-ES" sz="1550" dirty="0">
                <a:solidFill>
                  <a:srgbClr val="E6E9FF"/>
                </a:solidFill>
                <a:latin typeface="Lexend" pitchFamily="34" charset="0"/>
                <a:ea typeface="Lexend" pitchFamily="34" charset="-122"/>
                <a:cs typeface="Lexend" pitchFamily="34" charset="-120"/>
              </a:rPr>
              <a:t>Mejor aprovechamiento de los recursos del sistema.</a:t>
            </a:r>
            <a:endParaRPr lang="en-US" sz="1550" dirty="0"/>
          </a:p>
        </p:txBody>
      </p:sp>
      <p:sp>
        <p:nvSpPr>
          <p:cNvPr id="26" name="Text 24"/>
          <p:cNvSpPr/>
          <p:nvPr/>
        </p:nvSpPr>
        <p:spPr>
          <a:xfrm>
            <a:off x="609585" y="6665320"/>
            <a:ext cx="11582110" cy="201513"/>
          </a:xfrm>
          <a:prstGeom prst="rect">
            <a:avLst/>
          </a:prstGeom>
          <a:noFill/>
          <a:ln/>
        </p:spPr>
        <p:txBody>
          <a:bodyPr wrap="none" lIns="0" tIns="0" rIns="0" bIns="0" rtlCol="0" anchor="t"/>
          <a:lstStyle/>
          <a:p>
            <a:pPr>
              <a:lnSpc>
                <a:spcPct val="108000"/>
              </a:lnSpc>
            </a:pPr>
            <a:r>
              <a:rPr lang="es-ES" sz="1200" kern="100" spc="12" dirty="0">
                <a:solidFill>
                  <a:srgbClr val="B9BEEA"/>
                </a:solidFill>
                <a:latin typeface="Lexend" pitchFamily="34" charset="0"/>
                <a:ea typeface="Lexend" pitchFamily="34" charset="-122"/>
                <a:cs typeface="Lexend" pitchFamily="34" charset="-120"/>
              </a:rPr>
              <a:t>Los hilos comparten la memoria del proceso, pero cada uno mantiene su propio flujo de ejecución.</a:t>
            </a:r>
            <a:endParaRPr lang="en-US" sz="1200" dirty="0"/>
          </a:p>
        </p:txBody>
      </p:sp>
      <p:sp>
        <p:nvSpPr>
          <p:cNvPr id="30" name="Text 6"/>
          <p:cNvSpPr/>
          <p:nvPr/>
        </p:nvSpPr>
        <p:spPr>
          <a:xfrm>
            <a:off x="806430" y="5782281"/>
            <a:ext cx="6006950" cy="504031"/>
          </a:xfrm>
          <a:prstGeom prst="rect">
            <a:avLst/>
          </a:prstGeom>
          <a:noFill/>
          <a:ln/>
        </p:spPr>
        <p:txBody>
          <a:bodyPr wrap="square" lIns="0" tIns="0" rIns="0" bIns="0" rtlCol="0" anchor="t">
            <a:normAutofit/>
          </a:bodyPr>
          <a:lstStyle/>
          <a:p>
            <a:pPr>
              <a:lnSpc>
                <a:spcPct val="105000"/>
              </a:lnSpc>
            </a:pPr>
            <a:r>
              <a:rPr lang="es-ES" sz="1550" dirty="0">
                <a:solidFill>
                  <a:srgbClr val="E6E9FF"/>
                </a:solidFill>
                <a:latin typeface="Lexend" pitchFamily="34" charset="0"/>
                <a:ea typeface="Lexend" pitchFamily="34" charset="-122"/>
                <a:cs typeface="Lexend" pitchFamily="34" charset="-120"/>
              </a:rPr>
              <a:t>¿Qué aplicación encaja?</a:t>
            </a:r>
          </a:p>
          <a:p>
            <a:pPr>
              <a:lnSpc>
                <a:spcPct val="105000"/>
              </a:lnSpc>
            </a:pPr>
            <a:r>
              <a:rPr lang="es-ES" sz="1550" dirty="0">
                <a:solidFill>
                  <a:srgbClr val="E6E9FF"/>
                </a:solidFill>
                <a:latin typeface="Lexend" pitchFamily="34" charset="0"/>
              </a:rPr>
              <a:t>¿Si cambiamos Impresión por Reproducir video/audio?</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23176"/>
            <a:ext cx="11582110" cy="155178"/>
          </a:xfrm>
          <a:prstGeom prst="rect">
            <a:avLst/>
          </a:prstGeom>
          <a:noFill/>
          <a:ln/>
        </p:spPr>
        <p:txBody>
          <a:bodyPr wrap="none" lIns="0" tIns="0" rIns="0" bIns="0" rtlCol="0" anchor="t"/>
          <a:lstStyle/>
          <a:p>
            <a:pPr marL="0" indent="0" algn="l">
              <a:lnSpc>
                <a:spcPct val="100000"/>
              </a:lnSpc>
              <a:buNone/>
            </a:pPr>
            <a:r>
              <a:rPr lang="en-US" sz="1000" kern="100" spc="61" dirty="0">
                <a:solidFill>
                  <a:srgbClr val="27E0E3"/>
                </a:solidFill>
                <a:latin typeface="Martian Mono Medium" pitchFamily="34" charset="0"/>
                <a:ea typeface="Martian Mono Medium" pitchFamily="34" charset="-122"/>
                <a:cs typeface="Martian Mono Medium" pitchFamily="34" charset="-120"/>
              </a:rPr>
              <a:t>BALANCE TÉCNICO</a:t>
            </a:r>
            <a:endParaRPr lang="en-US" sz="1000" dirty="0"/>
          </a:p>
        </p:txBody>
      </p:sp>
      <p:sp>
        <p:nvSpPr>
          <p:cNvPr id="3" name="Text 1"/>
          <p:cNvSpPr/>
          <p:nvPr/>
        </p:nvSpPr>
        <p:spPr>
          <a:xfrm>
            <a:off x="609585" y="852869"/>
            <a:ext cx="10972526" cy="320377"/>
          </a:xfrm>
          <a:prstGeom prst="rect">
            <a:avLst/>
          </a:prstGeom>
          <a:noFill/>
          <a:ln/>
        </p:spPr>
        <p:txBody>
          <a:bodyPr wrap="none" lIns="0" tIns="0" rIns="0" bIns="0" rtlCol="0" anchor="t"/>
          <a:lstStyle/>
          <a:p>
            <a:pPr marL="0" indent="0" algn="l">
              <a:lnSpc>
                <a:spcPct val="96000"/>
              </a:lnSpc>
              <a:buNone/>
            </a:pPr>
            <a:r>
              <a:rPr lang="en-US" sz="2200" kern="100" spc="-11" dirty="0">
                <a:solidFill>
                  <a:srgbClr val="FFFFFF"/>
                </a:solidFill>
                <a:latin typeface="Krona One" pitchFamily="34" charset="0"/>
                <a:ea typeface="Krona One" pitchFamily="34" charset="-122"/>
                <a:cs typeface="Krona One" pitchFamily="34" charset="-120"/>
              </a:rPr>
              <a:t>Los hilos consumen menos, pero exigen más control</a:t>
            </a:r>
            <a:endParaRPr lang="en-US" sz="2200" dirty="0"/>
          </a:p>
        </p:txBody>
      </p:sp>
      <p:sp>
        <p:nvSpPr>
          <p:cNvPr id="4" name="Text 2"/>
          <p:cNvSpPr/>
          <p:nvPr/>
        </p:nvSpPr>
        <p:spPr>
          <a:xfrm>
            <a:off x="609585" y="1364902"/>
            <a:ext cx="10972526" cy="574873"/>
          </a:xfrm>
          <a:prstGeom prst="rect">
            <a:avLst/>
          </a:prstGeom>
          <a:noFill/>
          <a:ln/>
        </p:spPr>
        <p:txBody>
          <a:bodyPr wrap="square" lIns="0" tIns="0" rIns="0" bIns="0" rtlCol="0" anchor="t">
            <a:normAutofit lnSpcReduction="10000"/>
          </a:bodyPr>
          <a:lstStyle/>
          <a:p>
            <a:r>
              <a:rPr lang="es-ES" sz="1900" dirty="0">
                <a:solidFill>
                  <a:srgbClr val="E6E9FF"/>
                </a:solidFill>
                <a:latin typeface="Lexend" pitchFamily="34" charset="0"/>
                <a:ea typeface="Lexend" pitchFamily="34" charset="-122"/>
                <a:cs typeface="Lexend" pitchFamily="34" charset="-120"/>
              </a:rPr>
              <a:t>El multihilo reduce el coste de crear procesos, pero obliga a controlar correctamente el acceso a los datos compartidos.</a:t>
            </a:r>
            <a:endParaRPr lang="en-US" sz="1900" dirty="0"/>
          </a:p>
        </p:txBody>
      </p:sp>
      <p:sp>
        <p:nvSpPr>
          <p:cNvPr id="5" name="Shape 3"/>
          <p:cNvSpPr/>
          <p:nvPr/>
        </p:nvSpPr>
        <p:spPr>
          <a:xfrm>
            <a:off x="609585" y="2088753"/>
            <a:ext cx="5257668" cy="4201517"/>
          </a:xfrm>
          <a:prstGeom prst="roundRect">
            <a:avLst>
              <a:gd name="adj" fmla="val 3627"/>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6" name="Text 4"/>
          <p:cNvSpPr/>
          <p:nvPr/>
        </p:nvSpPr>
        <p:spPr>
          <a:xfrm>
            <a:off x="908027" y="2375380"/>
            <a:ext cx="4959226" cy="155178"/>
          </a:xfrm>
          <a:prstGeom prst="rect">
            <a:avLst/>
          </a:prstGeom>
          <a:noFill/>
          <a:ln/>
        </p:spPr>
        <p:txBody>
          <a:bodyPr wrap="none" lIns="0" tIns="0" rIns="0" bIns="0" rtlCol="0" anchor="t"/>
          <a:lstStyle/>
          <a:p>
            <a:pPr marL="0" indent="0" algn="l">
              <a:lnSpc>
                <a:spcPct val="100000"/>
              </a:lnSpc>
              <a:buNone/>
            </a:pPr>
            <a:r>
              <a:rPr lang="en-US" sz="1000" kern="100" spc="61" dirty="0">
                <a:solidFill>
                  <a:srgbClr val="E6E9FF"/>
                </a:solidFill>
                <a:latin typeface="Martian Mono Medium" pitchFamily="34" charset="0"/>
                <a:ea typeface="Martian Mono Medium" pitchFamily="34" charset="-122"/>
                <a:cs typeface="Martian Mono Medium" pitchFamily="34" charset="-120"/>
              </a:rPr>
              <a:t>ENFOQUE MULTIPROCESO</a:t>
            </a:r>
            <a:endParaRPr lang="en-US" sz="1000" dirty="0"/>
          </a:p>
        </p:txBody>
      </p:sp>
      <p:sp>
        <p:nvSpPr>
          <p:cNvPr id="7" name="Text 5"/>
          <p:cNvSpPr/>
          <p:nvPr/>
        </p:nvSpPr>
        <p:spPr>
          <a:xfrm>
            <a:off x="908027" y="2605848"/>
            <a:ext cx="4660783" cy="310455"/>
          </a:xfrm>
          <a:prstGeom prst="rect">
            <a:avLst/>
          </a:prstGeom>
          <a:noFill/>
          <a:ln/>
        </p:spPr>
        <p:txBody>
          <a:bodyPr wrap="none" lIns="0" tIns="0" rIns="0" bIns="0" rtlCol="0" anchor="t"/>
          <a:lstStyle/>
          <a:p>
            <a:pPr marL="0" indent="0" algn="l">
              <a:lnSpc>
                <a:spcPct val="108000"/>
              </a:lnSpc>
              <a:buNone/>
            </a:pPr>
            <a:r>
              <a:rPr lang="en-US" sz="1900" kern="100" spc="-9" dirty="0">
                <a:solidFill>
                  <a:srgbClr val="E6E9FF"/>
                </a:solidFill>
                <a:latin typeface="Lexend Medium" pitchFamily="34" charset="0"/>
                <a:ea typeface="Lexend Medium" pitchFamily="34" charset="-122"/>
                <a:cs typeface="Lexend Medium" pitchFamily="34" charset="-120"/>
              </a:rPr>
              <a:t>Aislamiento por defecto</a:t>
            </a:r>
            <a:endParaRPr lang="en-US" sz="1900" dirty="0"/>
          </a:p>
        </p:txBody>
      </p:sp>
      <p:sp>
        <p:nvSpPr>
          <p:cNvPr id="8" name="Text 6"/>
          <p:cNvSpPr/>
          <p:nvPr/>
        </p:nvSpPr>
        <p:spPr>
          <a:xfrm>
            <a:off x="908027" y="3294856"/>
            <a:ext cx="4660783" cy="2439690"/>
          </a:xfrm>
          <a:prstGeom prst="rect">
            <a:avLst/>
          </a:prstGeom>
          <a:noFill/>
          <a:ln/>
        </p:spPr>
        <p:txBody>
          <a:bodyPr wrap="square" lIns="0" tIns="0" rIns="0" bIns="0" rtlCol="0" anchor="t">
            <a:normAutofit fontScale="92500" lnSpcReduction="10000"/>
          </a:bodyPr>
          <a:lstStyle/>
          <a:p>
            <a:pPr marL="386080" indent="-386080" algn="l">
              <a:lnSpc>
                <a:spcPct val="100000"/>
              </a:lnSpc>
              <a:buSzPct val="100000"/>
              <a:buChar char="•"/>
            </a:pPr>
            <a:r>
              <a:rPr lang="en-US" sz="1900" dirty="0">
                <a:solidFill>
                  <a:srgbClr val="E6E9FF"/>
                </a:solidFill>
                <a:latin typeface="Lexend" pitchFamily="34" charset="0"/>
                <a:ea typeface="Lexend" pitchFamily="34" charset="-122"/>
                <a:cs typeface="Lexend" pitchFamily="34" charset="-120"/>
              </a:rPr>
              <a:t>Procesos A, B y C con memoria totalmente aislada.</a:t>
            </a:r>
            <a:endParaRPr lang="en-US" sz="1900" dirty="0"/>
          </a:p>
          <a:p>
            <a:pPr marL="386080" indent="-386080">
              <a:buSzPct val="100000"/>
              <a:buChar char="•"/>
            </a:pPr>
            <a:r>
              <a:rPr lang="es-ES" sz="1900" dirty="0">
                <a:solidFill>
                  <a:srgbClr val="E6E9FF"/>
                </a:solidFill>
                <a:latin typeface="Lexend" pitchFamily="34" charset="0"/>
                <a:ea typeface="Lexend" pitchFamily="34" charset="-122"/>
                <a:cs typeface="Lexend" pitchFamily="34" charset="-120"/>
              </a:rPr>
              <a:t>Si un proceso falla, los demás continúan funcionando de forma independiente.</a:t>
            </a:r>
          </a:p>
          <a:p>
            <a:pPr marL="386080" indent="-386080">
              <a:buSzPct val="100000"/>
              <a:buChar char="•"/>
            </a:pPr>
            <a:r>
              <a:rPr lang="es-ES" sz="1900" dirty="0">
                <a:solidFill>
                  <a:srgbClr val="E6E9FF"/>
                </a:solidFill>
                <a:latin typeface="Lexend" pitchFamily="34" charset="0"/>
                <a:ea typeface="Lexend" pitchFamily="34" charset="-122"/>
                <a:cs typeface="Lexend" pitchFamily="34" charset="-120"/>
              </a:rPr>
              <a:t>Compartir información entre procesos suele ser más complejo.</a:t>
            </a:r>
          </a:p>
          <a:p>
            <a:pPr marL="386080" indent="-386080">
              <a:buSzPct val="100000"/>
              <a:buChar char="•"/>
            </a:pPr>
            <a:r>
              <a:rPr lang="en-US" sz="1900" dirty="0">
                <a:solidFill>
                  <a:srgbClr val="E6E9FF"/>
                </a:solidFill>
                <a:latin typeface="Lexend" pitchFamily="34" charset="0"/>
                <a:ea typeface="Lexend" pitchFamily="34" charset="-122"/>
                <a:cs typeface="Lexend" pitchFamily="34" charset="-120"/>
              </a:rPr>
              <a:t>Mayor consumo de memoria RAM y tiempo de arranque.</a:t>
            </a:r>
            <a:endParaRPr lang="en-US" sz="1900" dirty="0"/>
          </a:p>
        </p:txBody>
      </p:sp>
      <p:sp>
        <p:nvSpPr>
          <p:cNvPr id="9" name="Text 7"/>
          <p:cNvSpPr/>
          <p:nvPr/>
        </p:nvSpPr>
        <p:spPr>
          <a:xfrm>
            <a:off x="908027" y="5843254"/>
            <a:ext cx="4959226" cy="181074"/>
          </a:xfrm>
          <a:prstGeom prst="rect">
            <a:avLst/>
          </a:prstGeom>
          <a:noFill/>
          <a:ln/>
        </p:spPr>
        <p:txBody>
          <a:bodyPr wrap="none" lIns="0" tIns="0" rIns="0" bIns="0" rtlCol="0" anchor="t"/>
          <a:lstStyle/>
          <a:p>
            <a:pPr marL="0" indent="0" algn="l">
              <a:lnSpc>
                <a:spcPct val="108000"/>
              </a:lnSpc>
              <a:buNone/>
            </a:pPr>
            <a:r>
              <a:rPr lang="en-US" sz="1100" kern="100" spc="11" dirty="0">
                <a:solidFill>
                  <a:srgbClr val="E6E9FF"/>
                </a:solidFill>
                <a:latin typeface="Lexend" pitchFamily="34" charset="0"/>
                <a:ea typeface="Lexend" pitchFamily="34" charset="-122"/>
                <a:cs typeface="Lexend" pitchFamily="34" charset="-120"/>
              </a:rPr>
              <a:t>Más sencillo de razonar · Mayor sobrecarga global</a:t>
            </a:r>
            <a:endParaRPr lang="en-US" sz="1100" dirty="0"/>
          </a:p>
        </p:txBody>
      </p:sp>
      <p:sp>
        <p:nvSpPr>
          <p:cNvPr id="10" name="Shape 8"/>
          <p:cNvSpPr/>
          <p:nvPr/>
        </p:nvSpPr>
        <p:spPr>
          <a:xfrm>
            <a:off x="6324442" y="2088753"/>
            <a:ext cx="5257668" cy="4201517"/>
          </a:xfrm>
          <a:prstGeom prst="roundRect">
            <a:avLst>
              <a:gd name="adj" fmla="val 3627"/>
            </a:avLst>
          </a:prstGeom>
          <a:solidFill>
            <a:srgbClr val="1E1F66"/>
          </a:solidFill>
          <a:ln w="19050">
            <a:solidFill>
              <a:srgbClr val="FF9347"/>
            </a:solidFill>
            <a:prstDash val="solid"/>
          </a:ln>
          <a:effectLst>
            <a:outerShdw blurRad="201930" dist="127" dir="16200000" algn="bl" rotWithShape="0">
              <a:srgbClr val="FF9347">
                <a:alpha val="30000"/>
              </a:srgbClr>
            </a:outerShdw>
          </a:effectLst>
        </p:spPr>
      </p:sp>
      <p:sp>
        <p:nvSpPr>
          <p:cNvPr id="11" name="Text 9"/>
          <p:cNvSpPr/>
          <p:nvPr/>
        </p:nvSpPr>
        <p:spPr>
          <a:xfrm>
            <a:off x="6622884" y="2375380"/>
            <a:ext cx="4959226" cy="155178"/>
          </a:xfrm>
          <a:prstGeom prst="rect">
            <a:avLst/>
          </a:prstGeom>
          <a:noFill/>
          <a:ln/>
        </p:spPr>
        <p:txBody>
          <a:bodyPr wrap="none" lIns="0" tIns="0" rIns="0" bIns="0" rtlCol="0" anchor="t"/>
          <a:lstStyle/>
          <a:p>
            <a:pPr marL="0" indent="0" algn="l">
              <a:lnSpc>
                <a:spcPct val="100000"/>
              </a:lnSpc>
              <a:buNone/>
            </a:pPr>
            <a:r>
              <a:rPr lang="en-US" sz="1000" kern="100" spc="61" dirty="0">
                <a:solidFill>
                  <a:srgbClr val="FF9347"/>
                </a:solidFill>
                <a:latin typeface="Martian Mono Medium" pitchFamily="34" charset="0"/>
                <a:ea typeface="Martian Mono Medium" pitchFamily="34" charset="-122"/>
                <a:cs typeface="Martian Mono Medium" pitchFamily="34" charset="-120"/>
              </a:rPr>
              <a:t>ENFOQUE MULTIHILO</a:t>
            </a:r>
            <a:endParaRPr lang="en-US" sz="1000" dirty="0"/>
          </a:p>
        </p:txBody>
      </p:sp>
      <p:sp>
        <p:nvSpPr>
          <p:cNvPr id="12" name="Text 10"/>
          <p:cNvSpPr/>
          <p:nvPr/>
        </p:nvSpPr>
        <p:spPr>
          <a:xfrm>
            <a:off x="6622884" y="2605848"/>
            <a:ext cx="4660783" cy="310455"/>
          </a:xfrm>
          <a:prstGeom prst="rect">
            <a:avLst/>
          </a:prstGeom>
          <a:noFill/>
          <a:ln/>
        </p:spPr>
        <p:txBody>
          <a:bodyPr wrap="none" lIns="0" tIns="0" rIns="0" bIns="0" rtlCol="0" anchor="t"/>
          <a:lstStyle/>
          <a:p>
            <a:pPr marL="0" indent="0" algn="l">
              <a:lnSpc>
                <a:spcPct val="108000"/>
              </a:lnSpc>
              <a:buNone/>
            </a:pPr>
            <a:r>
              <a:rPr lang="en-US" sz="1900" kern="100" spc="-9" dirty="0">
                <a:solidFill>
                  <a:srgbClr val="E6E9FF"/>
                </a:solidFill>
                <a:latin typeface="Lexend Medium" pitchFamily="34" charset="0"/>
                <a:ea typeface="Lexend Medium" pitchFamily="34" charset="-122"/>
                <a:cs typeface="Lexend Medium" pitchFamily="34" charset="-120"/>
              </a:rPr>
              <a:t>Eficiencia con responsabilidad</a:t>
            </a:r>
            <a:endParaRPr lang="en-US" sz="1900" dirty="0"/>
          </a:p>
        </p:txBody>
      </p:sp>
      <p:sp>
        <p:nvSpPr>
          <p:cNvPr id="13" name="Text 11"/>
          <p:cNvSpPr/>
          <p:nvPr/>
        </p:nvSpPr>
        <p:spPr>
          <a:xfrm>
            <a:off x="6622884" y="3294856"/>
            <a:ext cx="4660783" cy="2439690"/>
          </a:xfrm>
          <a:prstGeom prst="rect">
            <a:avLst/>
          </a:prstGeom>
          <a:noFill/>
          <a:ln/>
        </p:spPr>
        <p:txBody>
          <a:bodyPr wrap="square" lIns="0" tIns="0" rIns="0" bIns="0" rtlCol="0" anchor="t">
            <a:normAutofit fontScale="92500" lnSpcReduction="20000"/>
          </a:bodyPr>
          <a:lstStyle/>
          <a:p>
            <a:pPr marL="386080" indent="-386080" algn="l">
              <a:lnSpc>
                <a:spcPct val="100000"/>
              </a:lnSpc>
              <a:buSzPct val="100000"/>
              <a:buChar char="•"/>
            </a:pPr>
            <a:r>
              <a:rPr lang="en-US" sz="1900" dirty="0">
                <a:solidFill>
                  <a:srgbClr val="E6E9FF"/>
                </a:solidFill>
                <a:latin typeface="Lexend" pitchFamily="34" charset="0"/>
                <a:ea typeface="Lexend" pitchFamily="34" charset="-122"/>
                <a:cs typeface="Lexend" pitchFamily="34" charset="-120"/>
              </a:rPr>
              <a:t>Un solo proceso con múltiples hilos A, B y C internos.</a:t>
            </a:r>
            <a:endParaRPr lang="en-US" sz="1900" dirty="0"/>
          </a:p>
          <a:p>
            <a:pPr marL="386080" indent="-386080">
              <a:buSzPct val="100000"/>
              <a:buChar char="•"/>
            </a:pPr>
            <a:r>
              <a:rPr lang="es-ES" sz="1900" dirty="0">
                <a:solidFill>
                  <a:srgbClr val="E6E9FF"/>
                </a:solidFill>
                <a:latin typeface="Lexend" pitchFamily="34" charset="0"/>
                <a:ea typeface="Lexend" pitchFamily="34" charset="-122"/>
                <a:cs typeface="Lexend" pitchFamily="34" charset="-120"/>
              </a:rPr>
              <a:t>Memoria compartida para intercambiar información rápidamente.</a:t>
            </a:r>
          </a:p>
          <a:p>
            <a:pPr marL="386080" indent="-386080">
              <a:buSzPct val="100000"/>
              <a:buChar char="•"/>
            </a:pPr>
            <a:r>
              <a:rPr lang="en-US" sz="1900" dirty="0" err="1">
                <a:solidFill>
                  <a:srgbClr val="E6E9FF"/>
                </a:solidFill>
                <a:latin typeface="Lexend" pitchFamily="34" charset="0"/>
                <a:ea typeface="Lexend" pitchFamily="34" charset="-122"/>
                <a:cs typeface="Lexend" pitchFamily="34" charset="-120"/>
              </a:rPr>
              <a:t>Consumo</a:t>
            </a:r>
            <a:r>
              <a:rPr lang="en-US" sz="1900" dirty="0">
                <a:solidFill>
                  <a:srgbClr val="E6E9FF"/>
                </a:solidFill>
                <a:latin typeface="Lexend" pitchFamily="34" charset="0"/>
                <a:ea typeface="Lexend" pitchFamily="34" charset="-122"/>
                <a:cs typeface="Lexend" pitchFamily="34" charset="-120"/>
              </a:rPr>
              <a:t> de recursos drásticamente reducido en el SO.</a:t>
            </a:r>
            <a:endParaRPr lang="en-US" sz="1900" dirty="0"/>
          </a:p>
          <a:p>
            <a:pPr marL="386080" indent="-386080">
              <a:buSzPct val="100000"/>
              <a:buChar char="•"/>
            </a:pPr>
            <a:r>
              <a:rPr lang="es-ES" sz="1900" dirty="0">
                <a:solidFill>
                  <a:srgbClr val="E6E9FF"/>
                </a:solidFill>
                <a:latin typeface="Lexend" pitchFamily="34" charset="0"/>
                <a:ea typeface="Lexend" pitchFamily="34" charset="-122"/>
                <a:cs typeface="Lexend" pitchFamily="34" charset="-120"/>
              </a:rPr>
              <a:t>Varios hilos pueden acceder a los mismos datos simultáneamente. Si no se controla correctamente, pueden aparecer errores difíciles de detectar.</a:t>
            </a:r>
            <a:endParaRPr lang="en-US" sz="1900" dirty="0"/>
          </a:p>
        </p:txBody>
      </p:sp>
      <p:sp>
        <p:nvSpPr>
          <p:cNvPr id="14" name="Text 12"/>
          <p:cNvSpPr/>
          <p:nvPr/>
        </p:nvSpPr>
        <p:spPr>
          <a:xfrm>
            <a:off x="6622884" y="5843254"/>
            <a:ext cx="4959226" cy="181074"/>
          </a:xfrm>
          <a:prstGeom prst="rect">
            <a:avLst/>
          </a:prstGeom>
          <a:noFill/>
          <a:ln/>
        </p:spPr>
        <p:txBody>
          <a:bodyPr wrap="none" lIns="0" tIns="0" rIns="0" bIns="0" rtlCol="0" anchor="t"/>
          <a:lstStyle/>
          <a:p>
            <a:pPr>
              <a:lnSpc>
                <a:spcPct val="108000"/>
              </a:lnSpc>
            </a:pPr>
            <a:r>
              <a:rPr lang="en-US" sz="1100" kern="100" spc="11" dirty="0" err="1">
                <a:solidFill>
                  <a:srgbClr val="FF9347"/>
                </a:solidFill>
                <a:latin typeface="Lexend" pitchFamily="34" charset="0"/>
                <a:ea typeface="Lexend" pitchFamily="34" charset="-122"/>
                <a:cs typeface="Lexend" pitchFamily="34" charset="-120"/>
              </a:rPr>
              <a:t>Menor</a:t>
            </a:r>
            <a:r>
              <a:rPr lang="en-US" sz="1100" kern="100" spc="11" dirty="0">
                <a:solidFill>
                  <a:srgbClr val="FF9347"/>
                </a:solidFill>
                <a:latin typeface="Lexend" pitchFamily="34" charset="0"/>
                <a:ea typeface="Lexend" pitchFamily="34" charset="-122"/>
                <a:cs typeface="Lexend" pitchFamily="34" charset="-120"/>
              </a:rPr>
              <a:t> </a:t>
            </a:r>
            <a:r>
              <a:rPr lang="en-US" sz="1100" kern="100" spc="11" dirty="0" err="1">
                <a:solidFill>
                  <a:srgbClr val="FF9347"/>
                </a:solidFill>
                <a:latin typeface="Lexend" pitchFamily="34" charset="0"/>
                <a:ea typeface="Lexend" pitchFamily="34" charset="-122"/>
                <a:cs typeface="Lexend" pitchFamily="34" charset="-120"/>
              </a:rPr>
              <a:t>consumo</a:t>
            </a:r>
            <a:r>
              <a:rPr lang="en-US" sz="1100" kern="100" spc="11" dirty="0">
                <a:solidFill>
                  <a:srgbClr val="FF9347"/>
                </a:solidFill>
                <a:latin typeface="Lexend" pitchFamily="34" charset="0"/>
                <a:ea typeface="Lexend" pitchFamily="34" charset="-122"/>
                <a:cs typeface="Lexend" pitchFamily="34" charset="-120"/>
              </a:rPr>
              <a:t> de </a:t>
            </a:r>
            <a:r>
              <a:rPr lang="en-US" sz="1100" kern="100" spc="11" dirty="0" err="1">
                <a:solidFill>
                  <a:srgbClr val="FF9347"/>
                </a:solidFill>
                <a:latin typeface="Lexend" pitchFamily="34" charset="0"/>
                <a:ea typeface="Lexend" pitchFamily="34" charset="-122"/>
                <a:cs typeface="Lexend" pitchFamily="34" charset="-120"/>
              </a:rPr>
              <a:t>recursos</a:t>
            </a:r>
            <a:r>
              <a:rPr lang="en-US" sz="1100" kern="100" spc="11" dirty="0">
                <a:solidFill>
                  <a:srgbClr val="FF9347"/>
                </a:solidFill>
                <a:latin typeface="Lexend" pitchFamily="34" charset="0"/>
                <a:ea typeface="Lexend" pitchFamily="34" charset="-122"/>
                <a:cs typeface="Lexend" pitchFamily="34" charset="-120"/>
              </a:rPr>
              <a:t> • </a:t>
            </a:r>
            <a:r>
              <a:rPr lang="en-US" sz="1100" kern="100" spc="11" dirty="0" err="1">
                <a:solidFill>
                  <a:srgbClr val="FF9347"/>
                </a:solidFill>
                <a:latin typeface="Lexend" pitchFamily="34" charset="0"/>
                <a:ea typeface="Lexend" pitchFamily="34" charset="-122"/>
                <a:cs typeface="Lexend" pitchFamily="34" charset="-120"/>
              </a:rPr>
              <a:t>Requiere</a:t>
            </a:r>
            <a:r>
              <a:rPr lang="en-US" sz="1100" kern="100" spc="11" dirty="0">
                <a:solidFill>
                  <a:srgbClr val="FF9347"/>
                </a:solidFill>
                <a:latin typeface="Lexend" pitchFamily="34" charset="0"/>
                <a:ea typeface="Lexend" pitchFamily="34" charset="-122"/>
                <a:cs typeface="Lexend" pitchFamily="34" charset="-120"/>
              </a:rPr>
              <a:t> control de </a:t>
            </a:r>
            <a:r>
              <a:rPr lang="en-US" sz="1100" kern="100" spc="11" dirty="0" err="1">
                <a:solidFill>
                  <a:srgbClr val="FF9347"/>
                </a:solidFill>
                <a:latin typeface="Lexend" pitchFamily="34" charset="0"/>
                <a:ea typeface="Lexend" pitchFamily="34" charset="-122"/>
                <a:cs typeface="Lexend" pitchFamily="34" charset="-120"/>
              </a:rPr>
              <a:t>concurrencia</a:t>
            </a:r>
            <a:endParaRPr lang="en-US" sz="1100" dirty="0"/>
          </a:p>
        </p:txBody>
      </p:sp>
      <p:sp>
        <p:nvSpPr>
          <p:cNvPr id="15" name="Text 13"/>
          <p:cNvSpPr/>
          <p:nvPr/>
        </p:nvSpPr>
        <p:spPr>
          <a:xfrm>
            <a:off x="609585" y="6464959"/>
            <a:ext cx="11582110" cy="181074"/>
          </a:xfrm>
          <a:prstGeom prst="rect">
            <a:avLst/>
          </a:prstGeom>
          <a:noFill/>
          <a:ln/>
        </p:spPr>
        <p:txBody>
          <a:bodyPr wrap="none" lIns="0" tIns="0" rIns="0" bIns="0" rtlCol="0" anchor="t"/>
          <a:lstStyle/>
          <a:p>
            <a:pPr>
              <a:lnSpc>
                <a:spcPct val="108000"/>
              </a:lnSpc>
            </a:pPr>
            <a:r>
              <a:rPr lang="es-ES" sz="1100" kern="100" spc="11" dirty="0">
                <a:solidFill>
                  <a:srgbClr val="B9BEEA"/>
                </a:solidFill>
                <a:latin typeface="Lexend" pitchFamily="34" charset="0"/>
                <a:ea typeface="Lexend" pitchFamily="34" charset="-122"/>
                <a:cs typeface="Lexend" pitchFamily="34" charset="-120"/>
              </a:rPr>
              <a:t>Los hilos permiten aplicaciones más eficientes, pero exigen controlar cómo se comparte la información entre tareas.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4" y="327226"/>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IMPLEMENTACIÓN EN JAVA</a:t>
            </a:r>
            <a:endParaRPr lang="en-US" sz="1300" dirty="0"/>
          </a:p>
        </p:txBody>
      </p:sp>
      <p:sp>
        <p:nvSpPr>
          <p:cNvPr id="3" name="Text 1"/>
          <p:cNvSpPr/>
          <p:nvPr/>
        </p:nvSpPr>
        <p:spPr>
          <a:xfrm>
            <a:off x="609584" y="646856"/>
            <a:ext cx="10972526"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120"/>
              </a:rPr>
              <a:t>Dos formas de crear hilos en Java</a:t>
            </a:r>
            <a:endParaRPr lang="en-US" sz="2800" dirty="0"/>
          </a:p>
        </p:txBody>
      </p:sp>
      <p:sp>
        <p:nvSpPr>
          <p:cNvPr id="4" name="Shape 2"/>
          <p:cNvSpPr/>
          <p:nvPr/>
        </p:nvSpPr>
        <p:spPr>
          <a:xfrm>
            <a:off x="609583" y="1155222"/>
            <a:ext cx="5333867" cy="4336397"/>
          </a:xfrm>
          <a:prstGeom prst="roundRect">
            <a:avLst>
              <a:gd name="adj" fmla="val 6504"/>
            </a:avLst>
          </a:prstGeom>
          <a:solidFill>
            <a:srgbClr val="1E1F66"/>
          </a:solidFill>
          <a:ln w="6350">
            <a:solidFill>
              <a:srgbClr val="2878FF"/>
            </a:solidFill>
            <a:prstDash val="solid"/>
          </a:ln>
          <a:effectLst>
            <a:outerShdw blurRad="201930" dist="127" dir="16200000" algn="bl" rotWithShape="0">
              <a:srgbClr val="2878FF">
                <a:alpha val="40000"/>
              </a:srgbClr>
            </a:outerShdw>
          </a:effectLst>
        </p:spPr>
      </p:sp>
      <p:sp>
        <p:nvSpPr>
          <p:cNvPr id="5" name="Text 3"/>
          <p:cNvSpPr/>
          <p:nvPr/>
        </p:nvSpPr>
        <p:spPr>
          <a:xfrm>
            <a:off x="819129" y="1340284"/>
            <a:ext cx="5124322"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HERENCIA DIRECTA</a:t>
            </a:r>
            <a:endParaRPr lang="en-US" sz="1300" dirty="0"/>
          </a:p>
        </p:txBody>
      </p:sp>
      <p:sp>
        <p:nvSpPr>
          <p:cNvPr id="6" name="Text 4"/>
          <p:cNvSpPr/>
          <p:nvPr/>
        </p:nvSpPr>
        <p:spPr>
          <a:xfrm>
            <a:off x="819129" y="1657705"/>
            <a:ext cx="4914777"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Heredar de Thread</a:t>
            </a:r>
            <a:endParaRPr lang="en-US" sz="2000" dirty="0"/>
          </a:p>
        </p:txBody>
      </p:sp>
      <p:sp>
        <p:nvSpPr>
          <p:cNvPr id="7" name="Text 5"/>
          <p:cNvSpPr/>
          <p:nvPr/>
        </p:nvSpPr>
        <p:spPr>
          <a:xfrm>
            <a:off x="819129" y="2194280"/>
            <a:ext cx="4914777" cy="1845191"/>
          </a:xfrm>
          <a:prstGeom prst="rect">
            <a:avLst/>
          </a:prstGeom>
          <a:noFill/>
          <a:ln/>
        </p:spPr>
        <p:txBody>
          <a:bodyPr wrap="square" lIns="0" tIns="0" rIns="0" bIns="0" rtlCol="0" anchor="t"/>
          <a:lstStyle/>
          <a:p>
            <a:pPr>
              <a:lnSpc>
                <a:spcPct val="113000"/>
              </a:lnSpc>
              <a:spcAft>
                <a:spcPts val="1350"/>
              </a:spcAft>
            </a:pPr>
            <a:r>
              <a:rPr lang="en-US" dirty="0">
                <a:solidFill>
                  <a:srgbClr val="E6E9FF"/>
                </a:solidFill>
                <a:highlight>
                  <a:srgbClr val="1E1F66"/>
                </a:highlight>
                <a:latin typeface="Consolas" pitchFamily="34" charset="0"/>
                <a:ea typeface="Consolas" pitchFamily="34" charset="-122"/>
                <a:cs typeface="Consolas" pitchFamily="34" charset="-120"/>
              </a:rPr>
              <a:t>public class </a:t>
            </a:r>
            <a:r>
              <a:rPr lang="en-US" dirty="0" err="1">
                <a:solidFill>
                  <a:srgbClr val="E6E9FF"/>
                </a:solidFill>
                <a:highlight>
                  <a:srgbClr val="1E1F66"/>
                </a:highlight>
                <a:latin typeface="Consolas" pitchFamily="34" charset="0"/>
                <a:ea typeface="Consolas" pitchFamily="34" charset="-122"/>
                <a:cs typeface="Consolas" pitchFamily="34" charset="-120"/>
              </a:rPr>
              <a:t>MiHilo</a:t>
            </a:r>
            <a:r>
              <a:rPr lang="en-US" dirty="0">
                <a:solidFill>
                  <a:srgbClr val="E6E9FF"/>
                </a:solidFill>
                <a:highlight>
                  <a:srgbClr val="1E1F66"/>
                </a:highlight>
                <a:latin typeface="Consolas" pitchFamily="34" charset="0"/>
                <a:ea typeface="Consolas" pitchFamily="34" charset="-122"/>
                <a:cs typeface="Consolas" pitchFamily="34" charset="-120"/>
              </a:rPr>
              <a:t> extends Thread {    	public void run() {        	</a:t>
            </a:r>
            <a:r>
              <a:rPr lang="en-US" dirty="0" err="1">
                <a:solidFill>
                  <a:srgbClr val="E6E9FF"/>
                </a:solidFill>
                <a:highlight>
                  <a:srgbClr val="1E1F66"/>
                </a:highlight>
                <a:latin typeface="Consolas" pitchFamily="34" charset="0"/>
                <a:ea typeface="Consolas" pitchFamily="34" charset="-122"/>
                <a:cs typeface="Consolas" pitchFamily="34" charset="-120"/>
              </a:rPr>
              <a:t>System.out.println</a:t>
            </a:r>
            <a:r>
              <a:rPr lang="en-US" dirty="0">
                <a:solidFill>
                  <a:srgbClr val="E6E9FF"/>
                </a:solidFill>
                <a:highlight>
                  <a:srgbClr val="1E1F66"/>
                </a:highlight>
                <a:latin typeface="Consolas" pitchFamily="34" charset="0"/>
                <a:ea typeface="Consolas" pitchFamily="34" charset="-122"/>
                <a:cs typeface="Consolas" pitchFamily="34" charset="-120"/>
              </a:rPr>
              <a:t>("Hola");    }}</a:t>
            </a:r>
          </a:p>
          <a:p>
            <a:pPr marL="285750" indent="-285750">
              <a:lnSpc>
                <a:spcPct val="113000"/>
              </a:lnSpc>
              <a:buFont typeface="Arial" panose="020B0604020202020204" pitchFamily="34" charset="0"/>
              <a:buChar char="•"/>
            </a:pPr>
            <a:r>
              <a:rPr lang="es-ES" dirty="0">
                <a:solidFill>
                  <a:srgbClr val="E6E9FF"/>
                </a:solidFill>
                <a:latin typeface="Lexend" pitchFamily="34" charset="0"/>
                <a:ea typeface="Lexend" pitchFamily="34" charset="-122"/>
                <a:cs typeface="Lexend" pitchFamily="34" charset="-120"/>
              </a:rPr>
              <a:t>Sencillo de implementar.</a:t>
            </a:r>
          </a:p>
          <a:p>
            <a:pPr marL="285750" indent="-285750">
              <a:lnSpc>
                <a:spcPct val="113000"/>
              </a:lnSpc>
              <a:buFont typeface="Arial" panose="020B0604020202020204" pitchFamily="34" charset="0"/>
              <a:buChar char="•"/>
            </a:pPr>
            <a:r>
              <a:rPr lang="es-ES" dirty="0">
                <a:solidFill>
                  <a:srgbClr val="E6E9FF"/>
                </a:solidFill>
                <a:latin typeface="Lexend" pitchFamily="34" charset="0"/>
                <a:ea typeface="Lexend" pitchFamily="34" charset="-122"/>
                <a:cs typeface="Lexend" pitchFamily="34" charset="-120"/>
              </a:rPr>
              <a:t>Ideal para los primeros ejemplos.</a:t>
            </a:r>
          </a:p>
          <a:p>
            <a:pPr marL="285750" indent="-285750">
              <a:lnSpc>
                <a:spcPct val="113000"/>
              </a:lnSpc>
              <a:buFont typeface="Arial" panose="020B0604020202020204" pitchFamily="34" charset="0"/>
              <a:buChar char="•"/>
            </a:pPr>
            <a:r>
              <a:rPr lang="es-ES" dirty="0">
                <a:solidFill>
                  <a:srgbClr val="E6E9FF"/>
                </a:solidFill>
                <a:latin typeface="Lexend" pitchFamily="34" charset="0"/>
                <a:ea typeface="Lexend" pitchFamily="34" charset="-122"/>
                <a:cs typeface="Lexend" pitchFamily="34" charset="-120"/>
              </a:rPr>
              <a:t>La clase queda ligada a </a:t>
            </a:r>
            <a:r>
              <a:rPr lang="es-ES" dirty="0" err="1">
                <a:solidFill>
                  <a:srgbClr val="E6E9FF"/>
                </a:solidFill>
                <a:latin typeface="Lexend" pitchFamily="34" charset="0"/>
                <a:ea typeface="Lexend" pitchFamily="34" charset="-122"/>
                <a:cs typeface="Lexend" pitchFamily="34" charset="-120"/>
              </a:rPr>
              <a:t>Thread</a:t>
            </a:r>
            <a:r>
              <a:rPr lang="es-ES" dirty="0">
                <a:solidFill>
                  <a:srgbClr val="E6E9FF"/>
                </a:solidFill>
                <a:latin typeface="Lexend" pitchFamily="34" charset="0"/>
                <a:ea typeface="Lexend" pitchFamily="34" charset="-122"/>
                <a:cs typeface="Lexend" pitchFamily="34" charset="-120"/>
              </a:rPr>
              <a:t> y no puede heredar de otra clase.</a:t>
            </a:r>
            <a:endParaRPr lang="en-US" dirty="0">
              <a:solidFill>
                <a:srgbClr val="E6E9FF"/>
              </a:solidFill>
              <a:latin typeface="Lexend" pitchFamily="34" charset="0"/>
              <a:ea typeface="Lexend" pitchFamily="34" charset="-122"/>
              <a:cs typeface="Lexend" pitchFamily="34" charset="-120"/>
            </a:endParaRPr>
          </a:p>
        </p:txBody>
      </p:sp>
      <p:sp>
        <p:nvSpPr>
          <p:cNvPr id="8" name="Shape 6"/>
          <p:cNvSpPr/>
          <p:nvPr/>
        </p:nvSpPr>
        <p:spPr>
          <a:xfrm>
            <a:off x="6248244" y="1206975"/>
            <a:ext cx="5334172" cy="4284644"/>
          </a:xfrm>
          <a:prstGeom prst="roundRect">
            <a:avLst>
              <a:gd name="adj" fmla="val 6504"/>
            </a:avLst>
          </a:prstGeom>
          <a:solidFill>
            <a:srgbClr val="1E1F66"/>
          </a:solidFill>
          <a:ln w="6350">
            <a:solidFill>
              <a:srgbClr val="FF9347"/>
            </a:solidFill>
            <a:prstDash val="solid"/>
          </a:ln>
          <a:effectLst>
            <a:outerShdw blurRad="201930" dist="127" dir="16200000" algn="bl" rotWithShape="0">
              <a:srgbClr val="FF9347">
                <a:alpha val="30000"/>
              </a:srgbClr>
            </a:outerShdw>
          </a:effectLst>
        </p:spPr>
      </p:sp>
      <p:sp>
        <p:nvSpPr>
          <p:cNvPr id="9" name="Text 7"/>
          <p:cNvSpPr/>
          <p:nvPr/>
        </p:nvSpPr>
        <p:spPr>
          <a:xfrm>
            <a:off x="6457787" y="1337372"/>
            <a:ext cx="5124322"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INTERFAZ · RECOMENDADA</a:t>
            </a:r>
            <a:endParaRPr lang="en-US" sz="1300" dirty="0"/>
          </a:p>
        </p:txBody>
      </p:sp>
      <p:sp>
        <p:nvSpPr>
          <p:cNvPr id="10" name="Text 8"/>
          <p:cNvSpPr/>
          <p:nvPr/>
        </p:nvSpPr>
        <p:spPr>
          <a:xfrm>
            <a:off x="6457787" y="1654793"/>
            <a:ext cx="4914777"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Implementar Runnable</a:t>
            </a:r>
            <a:endParaRPr lang="en-US" sz="2000" dirty="0"/>
          </a:p>
        </p:txBody>
      </p:sp>
      <p:sp>
        <p:nvSpPr>
          <p:cNvPr id="11" name="Text 9"/>
          <p:cNvSpPr/>
          <p:nvPr/>
        </p:nvSpPr>
        <p:spPr>
          <a:xfrm>
            <a:off x="6457787" y="2191368"/>
            <a:ext cx="4914777" cy="1103511"/>
          </a:xfrm>
          <a:prstGeom prst="rect">
            <a:avLst/>
          </a:prstGeom>
          <a:noFill/>
          <a:ln/>
        </p:spPr>
        <p:txBody>
          <a:bodyPr wrap="square" lIns="0" tIns="0" rIns="0" bIns="0" rtlCol="0" anchor="t"/>
          <a:lstStyle/>
          <a:p>
            <a:pPr marL="0" indent="0" algn="l">
              <a:lnSpc>
                <a:spcPct val="113000"/>
              </a:lnSpc>
              <a:spcAft>
                <a:spcPts val="1350"/>
              </a:spcAft>
              <a:buNone/>
            </a:pPr>
            <a:r>
              <a:rPr lang="en-US" sz="1800" dirty="0">
                <a:solidFill>
                  <a:srgbClr val="E6E9FF"/>
                </a:solidFill>
                <a:highlight>
                  <a:srgbClr val="1E1F66"/>
                </a:highlight>
                <a:latin typeface="Consolas" pitchFamily="34" charset="0"/>
                <a:ea typeface="Consolas" pitchFamily="34" charset="-122"/>
                <a:cs typeface="Consolas" pitchFamily="34" charset="-120"/>
              </a:rPr>
              <a:t>class MiTarea implements Runnable</a:t>
            </a:r>
          </a:p>
          <a:p>
            <a:pPr>
              <a:lnSpc>
                <a:spcPct val="113000"/>
              </a:lnSpc>
              <a:spcAft>
                <a:spcPts val="1350"/>
              </a:spcAft>
            </a:pPr>
            <a:r>
              <a:rPr lang="en-US" dirty="0" err="1">
                <a:solidFill>
                  <a:srgbClr val="E6E9FF"/>
                </a:solidFill>
                <a:highlight>
                  <a:srgbClr val="1E1F66"/>
                </a:highlight>
                <a:latin typeface="Consolas" pitchFamily="34" charset="0"/>
                <a:ea typeface="Consolas" pitchFamily="34" charset="-122"/>
                <a:cs typeface="Consolas" pitchFamily="34" charset="-120"/>
              </a:rPr>
              <a:t>MiTarea</a:t>
            </a:r>
            <a:r>
              <a:rPr lang="en-US" dirty="0">
                <a:solidFill>
                  <a:srgbClr val="E6E9FF"/>
                </a:solidFill>
                <a:highlight>
                  <a:srgbClr val="1E1F66"/>
                </a:highlight>
                <a:latin typeface="Consolas" pitchFamily="34" charset="0"/>
                <a:ea typeface="Consolas" pitchFamily="34" charset="-122"/>
                <a:cs typeface="Consolas" pitchFamily="34" charset="-120"/>
              </a:rPr>
              <a:t> </a:t>
            </a:r>
            <a:r>
              <a:rPr lang="en-US" dirty="0" err="1">
                <a:solidFill>
                  <a:srgbClr val="E6E9FF"/>
                </a:solidFill>
                <a:highlight>
                  <a:srgbClr val="1E1F66"/>
                </a:highlight>
                <a:latin typeface="Consolas" pitchFamily="34" charset="0"/>
                <a:ea typeface="Consolas" pitchFamily="34" charset="-122"/>
                <a:cs typeface="Consolas" pitchFamily="34" charset="-120"/>
              </a:rPr>
              <a:t>tarea</a:t>
            </a:r>
            <a:r>
              <a:rPr lang="en-US" dirty="0">
                <a:solidFill>
                  <a:srgbClr val="E6E9FF"/>
                </a:solidFill>
                <a:highlight>
                  <a:srgbClr val="1E1F66"/>
                </a:highlight>
                <a:latin typeface="Consolas" pitchFamily="34" charset="0"/>
                <a:ea typeface="Consolas" pitchFamily="34" charset="-122"/>
                <a:cs typeface="Consolas" pitchFamily="34" charset="-120"/>
              </a:rPr>
              <a:t> = new </a:t>
            </a:r>
            <a:r>
              <a:rPr lang="en-US" dirty="0" err="1">
                <a:solidFill>
                  <a:srgbClr val="E6E9FF"/>
                </a:solidFill>
                <a:highlight>
                  <a:srgbClr val="1E1F66"/>
                </a:highlight>
                <a:latin typeface="Consolas" pitchFamily="34" charset="0"/>
                <a:ea typeface="Consolas" pitchFamily="34" charset="-122"/>
                <a:cs typeface="Consolas" pitchFamily="34" charset="-120"/>
              </a:rPr>
              <a:t>MiTarea</a:t>
            </a:r>
            <a:r>
              <a:rPr lang="en-US" dirty="0">
                <a:solidFill>
                  <a:srgbClr val="E6E9FF"/>
                </a:solidFill>
                <a:highlight>
                  <a:srgbClr val="1E1F66"/>
                </a:highlight>
                <a:latin typeface="Consolas" pitchFamily="34" charset="0"/>
                <a:ea typeface="Consolas" pitchFamily="34" charset="-122"/>
                <a:cs typeface="Consolas" pitchFamily="34" charset="-120"/>
              </a:rPr>
              <a:t>();</a:t>
            </a:r>
          </a:p>
          <a:p>
            <a:pPr>
              <a:lnSpc>
                <a:spcPct val="113000"/>
              </a:lnSpc>
              <a:spcAft>
                <a:spcPts val="1350"/>
              </a:spcAft>
            </a:pPr>
            <a:r>
              <a:rPr lang="en-US" dirty="0">
                <a:solidFill>
                  <a:srgbClr val="E6E9FF"/>
                </a:solidFill>
                <a:highlight>
                  <a:srgbClr val="1E1F66"/>
                </a:highlight>
                <a:latin typeface="Consolas" pitchFamily="34" charset="0"/>
                <a:ea typeface="Consolas" pitchFamily="34" charset="-122"/>
                <a:cs typeface="Consolas" pitchFamily="34" charset="-120"/>
              </a:rPr>
              <a:t>Thread </a:t>
            </a:r>
            <a:r>
              <a:rPr lang="en-US" dirty="0" err="1">
                <a:solidFill>
                  <a:srgbClr val="E6E9FF"/>
                </a:solidFill>
                <a:highlight>
                  <a:srgbClr val="1E1F66"/>
                </a:highlight>
                <a:latin typeface="Consolas" pitchFamily="34" charset="0"/>
                <a:ea typeface="Consolas" pitchFamily="34" charset="-122"/>
                <a:cs typeface="Consolas" pitchFamily="34" charset="-120"/>
              </a:rPr>
              <a:t>hilo</a:t>
            </a:r>
            <a:r>
              <a:rPr lang="en-US" dirty="0">
                <a:solidFill>
                  <a:srgbClr val="E6E9FF"/>
                </a:solidFill>
                <a:highlight>
                  <a:srgbClr val="1E1F66"/>
                </a:highlight>
                <a:latin typeface="Consolas" pitchFamily="34" charset="0"/>
                <a:ea typeface="Consolas" pitchFamily="34" charset="-122"/>
                <a:cs typeface="Consolas" pitchFamily="34" charset="-120"/>
              </a:rPr>
              <a:t> = new Thread(</a:t>
            </a:r>
            <a:r>
              <a:rPr lang="en-US" dirty="0" err="1">
                <a:solidFill>
                  <a:srgbClr val="E6E9FF"/>
                </a:solidFill>
                <a:highlight>
                  <a:srgbClr val="1E1F66"/>
                </a:highlight>
                <a:latin typeface="Consolas" pitchFamily="34" charset="0"/>
                <a:ea typeface="Consolas" pitchFamily="34" charset="-122"/>
                <a:cs typeface="Consolas" pitchFamily="34" charset="-120"/>
              </a:rPr>
              <a:t>tarea</a:t>
            </a:r>
            <a:r>
              <a:rPr lang="en-US" dirty="0">
                <a:solidFill>
                  <a:srgbClr val="E6E9FF"/>
                </a:solidFill>
                <a:highlight>
                  <a:srgbClr val="1E1F66"/>
                </a:highlight>
                <a:latin typeface="Consolas" pitchFamily="34" charset="0"/>
                <a:ea typeface="Consolas" pitchFamily="34" charset="-122"/>
                <a:cs typeface="Consolas" pitchFamily="34" charset="-120"/>
              </a:rPr>
              <a:t>);</a:t>
            </a:r>
          </a:p>
          <a:p>
            <a:pPr marL="285750" indent="-285750">
              <a:lnSpc>
                <a:spcPct val="113000"/>
              </a:lnSpc>
              <a:buFont typeface="Arial" panose="020B0604020202020204" pitchFamily="34" charset="0"/>
              <a:buChar char="•"/>
            </a:pPr>
            <a:r>
              <a:rPr lang="es-ES" dirty="0">
                <a:solidFill>
                  <a:srgbClr val="E6E9FF"/>
                </a:solidFill>
                <a:latin typeface="Lexend" pitchFamily="34" charset="0"/>
                <a:ea typeface="Lexend" pitchFamily="34" charset="-122"/>
                <a:cs typeface="Lexend" pitchFamily="34" charset="-120"/>
              </a:rPr>
              <a:t>Separa la tarea del hilo que la ejecuta.</a:t>
            </a:r>
          </a:p>
          <a:p>
            <a:pPr marL="285750" indent="-285750">
              <a:lnSpc>
                <a:spcPct val="113000"/>
              </a:lnSpc>
              <a:buFont typeface="Arial" panose="020B0604020202020204" pitchFamily="34" charset="0"/>
              <a:buChar char="•"/>
            </a:pPr>
            <a:r>
              <a:rPr lang="es-ES" dirty="0">
                <a:solidFill>
                  <a:srgbClr val="E6E9FF"/>
                </a:solidFill>
                <a:latin typeface="Lexend" pitchFamily="34" charset="0"/>
                <a:ea typeface="Lexend" pitchFamily="34" charset="-122"/>
                <a:cs typeface="Lexend" pitchFamily="34" charset="-120"/>
              </a:rPr>
              <a:t>Permite heredar de otra clase si es necesario.</a:t>
            </a:r>
          </a:p>
          <a:p>
            <a:pPr marL="285750" indent="-285750">
              <a:lnSpc>
                <a:spcPct val="113000"/>
              </a:lnSpc>
              <a:buFont typeface="Arial" panose="020B0604020202020204" pitchFamily="34" charset="0"/>
              <a:buChar char="•"/>
            </a:pPr>
            <a:r>
              <a:rPr lang="es-ES" dirty="0">
                <a:solidFill>
                  <a:srgbClr val="E6E9FF"/>
                </a:solidFill>
                <a:latin typeface="Lexend" pitchFamily="34" charset="0"/>
                <a:ea typeface="Lexend" pitchFamily="34" charset="-122"/>
                <a:cs typeface="Lexend" pitchFamily="34" charset="-120"/>
              </a:rPr>
              <a:t>Suele ser la opción más utilizada en aplicaciones reales.</a:t>
            </a:r>
            <a:endParaRPr lang="en-US" sz="1800" dirty="0"/>
          </a:p>
        </p:txBody>
      </p:sp>
      <p:sp>
        <p:nvSpPr>
          <p:cNvPr id="12" name="Text 10"/>
          <p:cNvSpPr/>
          <p:nvPr/>
        </p:nvSpPr>
        <p:spPr>
          <a:xfrm>
            <a:off x="609890" y="5706567"/>
            <a:ext cx="3454314"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Instanciar</a:t>
            </a:r>
            <a:endParaRPr lang="en-US" sz="2000" dirty="0"/>
          </a:p>
        </p:txBody>
      </p:sp>
      <p:sp>
        <p:nvSpPr>
          <p:cNvPr id="13" name="Text 11"/>
          <p:cNvSpPr/>
          <p:nvPr/>
        </p:nvSpPr>
        <p:spPr>
          <a:xfrm>
            <a:off x="609890" y="6116993"/>
            <a:ext cx="3454314" cy="617141"/>
          </a:xfrm>
          <a:prstGeom prst="rect">
            <a:avLst/>
          </a:prstGeom>
          <a:noFill/>
          <a:ln/>
        </p:spPr>
        <p:txBody>
          <a:bodyPr wrap="square" lIns="0" tIns="0" rIns="0" bIns="0" rtlCol="0" anchor="t">
            <a:normAutofit lnSpcReduction="10000"/>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Crear Thread o Runnable en memoria.</a:t>
            </a:r>
            <a:endParaRPr lang="en-US" sz="1800" dirty="0"/>
          </a:p>
        </p:txBody>
      </p:sp>
      <p:sp>
        <p:nvSpPr>
          <p:cNvPr id="14" name="Text 12"/>
          <p:cNvSpPr/>
          <p:nvPr/>
        </p:nvSpPr>
        <p:spPr>
          <a:xfrm>
            <a:off x="4368996" y="5706567"/>
            <a:ext cx="3454314" cy="361950"/>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Invocar </a:t>
            </a:r>
            <a:r>
              <a:rPr lang="en-US" sz="2000" kern="100" spc="-10" dirty="0">
                <a:solidFill>
                  <a:srgbClr val="E6E9FF"/>
                </a:solidFill>
                <a:highlight>
                  <a:srgbClr val="1E1F66"/>
                </a:highlight>
                <a:latin typeface="Consolas" pitchFamily="34" charset="0"/>
                <a:ea typeface="Consolas" pitchFamily="34" charset="-122"/>
                <a:cs typeface="Consolas" pitchFamily="34" charset="-120"/>
              </a:rPr>
              <a:t>start()</a:t>
            </a:r>
            <a:endParaRPr lang="en-US" sz="2000" dirty="0"/>
          </a:p>
        </p:txBody>
      </p:sp>
      <p:sp>
        <p:nvSpPr>
          <p:cNvPr id="15" name="Text 13"/>
          <p:cNvSpPr/>
          <p:nvPr/>
        </p:nvSpPr>
        <p:spPr>
          <a:xfrm>
            <a:off x="4368996" y="6148194"/>
            <a:ext cx="3454314" cy="617141"/>
          </a:xfrm>
          <a:prstGeom prst="rect">
            <a:avLst/>
          </a:prstGeom>
          <a:noFill/>
          <a:ln/>
        </p:spPr>
        <p:txBody>
          <a:bodyPr wrap="square" lIns="0" tIns="0" rIns="0" bIns="0" rtlCol="0" anchor="t">
            <a:normAutofit fontScale="85000" lnSpcReduction="10000"/>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Solicita un hilo al SO y llama a </a:t>
            </a:r>
            <a:r>
              <a:rPr lang="en-US" sz="1800" dirty="0">
                <a:solidFill>
                  <a:srgbClr val="E6E9FF"/>
                </a:solidFill>
                <a:highlight>
                  <a:srgbClr val="1E1F66"/>
                </a:highlight>
                <a:latin typeface="Consolas" pitchFamily="34" charset="0"/>
                <a:ea typeface="Consolas" pitchFamily="34" charset="-122"/>
                <a:cs typeface="Consolas" pitchFamily="34" charset="-120"/>
              </a:rPr>
              <a:t>run()</a:t>
            </a:r>
            <a:r>
              <a:rPr lang="en-US" sz="1800" dirty="0">
                <a:solidFill>
                  <a:srgbClr val="E6E9FF"/>
                </a:solidFill>
                <a:latin typeface="Lexend" pitchFamily="34" charset="0"/>
                <a:ea typeface="Lexend" pitchFamily="34" charset="-122"/>
                <a:cs typeface="Lexend" pitchFamily="34" charset="-120"/>
              </a:rPr>
              <a:t>. </a:t>
            </a:r>
            <a:r>
              <a:rPr lang="en-US" dirty="0" err="1">
                <a:solidFill>
                  <a:srgbClr val="E6E9FF"/>
                </a:solidFill>
                <a:latin typeface="Lexend" pitchFamily="34" charset="0"/>
                <a:ea typeface="Lexend" pitchFamily="34" charset="-122"/>
                <a:cs typeface="Lexend" pitchFamily="34" charset="-120"/>
              </a:rPr>
              <a:t>Llamar</a:t>
            </a:r>
            <a:r>
              <a:rPr lang="en-US" dirty="0">
                <a:solidFill>
                  <a:srgbClr val="E6E9FF"/>
                </a:solidFill>
                <a:latin typeface="Lexend" pitchFamily="34" charset="0"/>
                <a:ea typeface="Lexend" pitchFamily="34" charset="-122"/>
                <a:cs typeface="Lexend" pitchFamily="34" charset="-120"/>
              </a:rPr>
              <a:t> a run no </a:t>
            </a:r>
            <a:r>
              <a:rPr lang="en-US" dirty="0" err="1">
                <a:solidFill>
                  <a:srgbClr val="E6E9FF"/>
                </a:solidFill>
                <a:latin typeface="Lexend" pitchFamily="34" charset="0"/>
                <a:ea typeface="Lexend" pitchFamily="34" charset="-122"/>
                <a:cs typeface="Lexend" pitchFamily="34" charset="-120"/>
              </a:rPr>
              <a:t>crea</a:t>
            </a:r>
            <a:r>
              <a:rPr lang="en-US" dirty="0">
                <a:solidFill>
                  <a:srgbClr val="E6E9FF"/>
                </a:solidFill>
                <a:latin typeface="Lexend" pitchFamily="34" charset="0"/>
                <a:ea typeface="Lexend" pitchFamily="34" charset="-122"/>
                <a:cs typeface="Lexend" pitchFamily="34" charset="-120"/>
              </a:rPr>
              <a:t> un </a:t>
            </a:r>
            <a:r>
              <a:rPr lang="en-US" dirty="0" err="1">
                <a:solidFill>
                  <a:srgbClr val="E6E9FF"/>
                </a:solidFill>
                <a:latin typeface="Lexend" pitchFamily="34" charset="0"/>
                <a:ea typeface="Lexend" pitchFamily="34" charset="-122"/>
                <a:cs typeface="Lexend" pitchFamily="34" charset="-120"/>
              </a:rPr>
              <a:t>hilo</a:t>
            </a:r>
            <a:endParaRPr lang="en-US" sz="1800" dirty="0"/>
          </a:p>
        </p:txBody>
      </p:sp>
      <p:sp>
        <p:nvSpPr>
          <p:cNvPr id="16" name="Text 14"/>
          <p:cNvSpPr/>
          <p:nvPr/>
        </p:nvSpPr>
        <p:spPr>
          <a:xfrm>
            <a:off x="8128102" y="5706567"/>
            <a:ext cx="3454314"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Ejecución concurrente</a:t>
            </a:r>
            <a:endParaRPr lang="en-US" sz="2000" dirty="0"/>
          </a:p>
        </p:txBody>
      </p:sp>
      <p:sp>
        <p:nvSpPr>
          <p:cNvPr id="17" name="Text 15"/>
          <p:cNvSpPr/>
          <p:nvPr/>
        </p:nvSpPr>
        <p:spPr>
          <a:xfrm>
            <a:off x="8128102" y="6116993"/>
            <a:ext cx="3454314" cy="617141"/>
          </a:xfrm>
          <a:prstGeom prst="rect">
            <a:avLst/>
          </a:prstGeom>
          <a:noFill/>
          <a:ln/>
        </p:spPr>
        <p:txBody>
          <a:bodyPr wrap="square" lIns="0" tIns="0" rIns="0" bIns="0" rtlCol="0" anchor="t">
            <a:normAutofit lnSpcReduction="10000"/>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La JVM planifica la tarea con los demás hilos.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886896"/>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1. Identificando el hilo principal</a:t>
            </a:r>
          </a:p>
        </p:txBody>
      </p:sp>
      <p:sp>
        <p:nvSpPr>
          <p:cNvPr id="4" name="Text 2"/>
          <p:cNvSpPr/>
          <p:nvPr/>
        </p:nvSpPr>
        <p:spPr>
          <a:xfrm>
            <a:off x="541219" y="1528587"/>
            <a:ext cx="10972526" cy="4567413"/>
          </a:xfrm>
          <a:prstGeom prst="rect">
            <a:avLst/>
          </a:prstGeom>
          <a:noFill/>
          <a:ln/>
        </p:spPr>
        <p:txBody>
          <a:bodyPr wrap="square" lIns="0" tIns="0" rIns="0" bIns="0" rtlCol="0" anchor="t">
            <a:normAutofit fontScale="92500" lnSpcReduction="20000"/>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a:p>
            <a:pPr>
              <a:lnSpc>
                <a:spcPct val="105000"/>
              </a:lnSpc>
            </a:pPr>
            <a:r>
              <a:rPr lang="es-ES" sz="2100" dirty="0">
                <a:solidFill>
                  <a:srgbClr val="E6E9FF"/>
                </a:solidFill>
                <a:latin typeface="Lexend" pitchFamily="34" charset="0"/>
                <a:ea typeface="Lexend" pitchFamily="34" charset="-122"/>
                <a:cs typeface="Lexend" pitchFamily="34" charset="-120"/>
              </a:rPr>
              <a:t>Todos los programas Java se ejecutan inicialmente mediante un hilo principal creado automáticamente por la JVM.</a:t>
            </a:r>
          </a:p>
          <a:p>
            <a:pPr>
              <a:lnSpc>
                <a:spcPct val="105000"/>
              </a:lnSpc>
            </a:pPr>
            <a:r>
              <a:rPr lang="es-ES" sz="2100" dirty="0">
                <a:solidFill>
                  <a:srgbClr val="E6E9FF"/>
                </a:solidFill>
                <a:latin typeface="Lexend" pitchFamily="34" charset="0"/>
                <a:ea typeface="Lexend" pitchFamily="34" charset="-122"/>
                <a:cs typeface="Lexend" pitchFamily="34" charset="-120"/>
              </a:rPr>
              <a:t>Desarrolla una aplicación que muestre por pantalla el nombre del hilo que está ejecutando el método </a:t>
            </a:r>
            <a:r>
              <a:rPr lang="es-ES" sz="2100" dirty="0" err="1">
                <a:solidFill>
                  <a:srgbClr val="E6E9FF"/>
                </a:solidFill>
                <a:latin typeface="Lexend" pitchFamily="34" charset="0"/>
                <a:ea typeface="Lexend" pitchFamily="34" charset="-122"/>
                <a:cs typeface="Lexend" pitchFamily="34" charset="-120"/>
              </a:rPr>
              <a:t>main</a:t>
            </a:r>
            <a:r>
              <a:rPr lang="es-ES" sz="2100" dirty="0">
                <a:solidFill>
                  <a:srgbClr val="E6E9FF"/>
                </a:solidFill>
                <a:latin typeface="Lexend" pitchFamily="34" charset="0"/>
                <a:ea typeface="Lexend" pitchFamily="34" charset="-122"/>
                <a:cs typeface="Lexend" pitchFamily="34" charset="-120"/>
              </a:rPr>
              <a:t>().</a:t>
            </a:r>
          </a:p>
          <a:p>
            <a:pPr>
              <a:lnSpc>
                <a:spcPct val="105000"/>
              </a:lnSpc>
            </a:pPr>
            <a:endParaRPr lang="es-ES" sz="2100" dirty="0">
              <a:solidFill>
                <a:srgbClr val="E6E9FF"/>
              </a:solidFill>
              <a:latin typeface="Lexend" pitchFamily="34" charset="0"/>
              <a:ea typeface="Lexend" pitchFamily="34" charset="-122"/>
              <a:cs typeface="Lexend" pitchFamily="34" charset="-120"/>
            </a:endParaRPr>
          </a:p>
          <a:p>
            <a:pPr>
              <a:lnSpc>
                <a:spcPct val="105000"/>
              </a:lnSpc>
            </a:pPr>
            <a:r>
              <a:rPr lang="es-ES" sz="2100" i="1" dirty="0">
                <a:solidFill>
                  <a:srgbClr val="E6E9FF"/>
                </a:solidFill>
                <a:latin typeface="Lexend" pitchFamily="34" charset="0"/>
                <a:ea typeface="Lexend" pitchFamily="34" charset="-122"/>
                <a:cs typeface="Lexend" pitchFamily="34" charset="-120"/>
              </a:rPr>
              <a:t>Requisitos</a:t>
            </a:r>
          </a:p>
          <a:p>
            <a:pPr>
              <a:lnSpc>
                <a:spcPct val="105000"/>
              </a:lnSpc>
            </a:pPr>
            <a:r>
              <a:rPr lang="es-ES" sz="2100" dirty="0">
                <a:solidFill>
                  <a:srgbClr val="E6E9FF"/>
                </a:solidFill>
                <a:latin typeface="Lexend" pitchFamily="34" charset="0"/>
                <a:ea typeface="Lexend" pitchFamily="34" charset="-122"/>
                <a:cs typeface="Lexend" pitchFamily="34" charset="-120"/>
              </a:rPr>
              <a:t>Mostrar únicamente el nombre del hilo actual.</a:t>
            </a:r>
          </a:p>
          <a:p>
            <a:pPr>
              <a:lnSpc>
                <a:spcPct val="105000"/>
              </a:lnSpc>
            </a:pPr>
            <a:r>
              <a:rPr lang="es-ES" sz="2100" dirty="0">
                <a:solidFill>
                  <a:srgbClr val="E6E9FF"/>
                </a:solidFill>
                <a:latin typeface="Lexend" pitchFamily="34" charset="0"/>
                <a:ea typeface="Lexend" pitchFamily="34" charset="-122"/>
                <a:cs typeface="Lexend" pitchFamily="34" charset="-120"/>
              </a:rPr>
              <a:t>Ejecutar el programa y comprobar el resultado.</a:t>
            </a:r>
          </a:p>
          <a:p>
            <a:pPr>
              <a:lnSpc>
                <a:spcPct val="105000"/>
              </a:lnSpc>
            </a:pPr>
            <a:endParaRPr lang="es-ES" sz="2100" dirty="0">
              <a:solidFill>
                <a:srgbClr val="E6E9FF"/>
              </a:solidFill>
              <a:latin typeface="Lexend" pitchFamily="34" charset="0"/>
              <a:ea typeface="Lexend" pitchFamily="34" charset="-122"/>
              <a:cs typeface="Lexend" pitchFamily="34" charset="-120"/>
            </a:endParaRPr>
          </a:p>
          <a:p>
            <a:pPr>
              <a:lnSpc>
                <a:spcPct val="105000"/>
              </a:lnSpc>
            </a:pPr>
            <a:r>
              <a:rPr lang="es-ES" sz="2100" i="1" dirty="0">
                <a:solidFill>
                  <a:srgbClr val="E6E9FF"/>
                </a:solidFill>
                <a:latin typeface="Lexend" pitchFamily="34" charset="0"/>
                <a:ea typeface="Lexend" pitchFamily="34" charset="-122"/>
                <a:cs typeface="Lexend" pitchFamily="34" charset="-120"/>
              </a:rPr>
              <a:t>Cuestiones</a:t>
            </a:r>
          </a:p>
          <a:p>
            <a:pPr>
              <a:lnSpc>
                <a:spcPct val="105000"/>
              </a:lnSpc>
            </a:pPr>
            <a:r>
              <a:rPr lang="es-ES" sz="2100" dirty="0">
                <a:solidFill>
                  <a:srgbClr val="E6E9FF"/>
                </a:solidFill>
                <a:latin typeface="Lexend" pitchFamily="34" charset="0"/>
                <a:ea typeface="Lexend" pitchFamily="34" charset="-122"/>
                <a:cs typeface="Lexend" pitchFamily="34" charset="-120"/>
              </a:rPr>
              <a:t>¿Cómo se llama el hilo que ejecuta el programa al iniciarse?</a:t>
            </a:r>
          </a:p>
          <a:p>
            <a:pPr>
              <a:lnSpc>
                <a:spcPct val="105000"/>
              </a:lnSpc>
            </a:pPr>
            <a:r>
              <a:rPr lang="es-ES" sz="2100" dirty="0">
                <a:solidFill>
                  <a:srgbClr val="E6E9FF"/>
                </a:solidFill>
                <a:latin typeface="Lexend" pitchFamily="34" charset="0"/>
                <a:ea typeface="Lexend" pitchFamily="34" charset="-122"/>
                <a:cs typeface="Lexend" pitchFamily="34" charset="-120"/>
              </a:rPr>
              <a:t>¿Has tenido que crearlo manualmente?</a:t>
            </a:r>
          </a:p>
          <a:p>
            <a:pPr>
              <a:lnSpc>
                <a:spcPct val="105000"/>
              </a:lnSpc>
            </a:pPr>
            <a:endParaRPr lang="es-ES" sz="2100" dirty="0">
              <a:solidFill>
                <a:srgbClr val="E6E9FF"/>
              </a:solidFill>
              <a:latin typeface="Lexend" pitchFamily="34" charset="0"/>
              <a:ea typeface="Lexend" pitchFamily="34" charset="-122"/>
              <a:cs typeface="Lexend" pitchFamily="34" charset="-120"/>
            </a:endParaRPr>
          </a:p>
          <a:p>
            <a:pPr>
              <a:lnSpc>
                <a:spcPct val="105000"/>
              </a:lnSpc>
            </a:pPr>
            <a:r>
              <a:rPr lang="es-ES" sz="2100" i="1" dirty="0">
                <a:solidFill>
                  <a:srgbClr val="E6E9FF"/>
                </a:solidFill>
                <a:latin typeface="Lexend" pitchFamily="34" charset="0"/>
                <a:ea typeface="Lexend" pitchFamily="34" charset="-122"/>
                <a:cs typeface="Lexend" pitchFamily="34" charset="-120"/>
              </a:rPr>
              <a:t>Pista</a:t>
            </a:r>
          </a:p>
          <a:p>
            <a:pPr>
              <a:lnSpc>
                <a:spcPct val="105000"/>
              </a:lnSpc>
            </a:pPr>
            <a:r>
              <a:rPr lang="es-ES" sz="2100" dirty="0">
                <a:solidFill>
                  <a:srgbClr val="E6E9FF"/>
                </a:solidFill>
                <a:latin typeface="Lexend" pitchFamily="34" charset="0"/>
                <a:ea typeface="Lexend" pitchFamily="34" charset="-122"/>
                <a:cs typeface="Lexend" pitchFamily="34" charset="-120"/>
              </a:rPr>
              <a:t>La clase </a:t>
            </a:r>
            <a:r>
              <a:rPr lang="es-ES" sz="2100" dirty="0" err="1">
                <a:solidFill>
                  <a:srgbClr val="E6E9FF"/>
                </a:solidFill>
                <a:latin typeface="Lexend" pitchFamily="34" charset="0"/>
                <a:ea typeface="Lexend" pitchFamily="34" charset="-122"/>
                <a:cs typeface="Lexend" pitchFamily="34" charset="-120"/>
              </a:rPr>
              <a:t>Thread</a:t>
            </a:r>
            <a:r>
              <a:rPr lang="es-ES" sz="2100" dirty="0">
                <a:solidFill>
                  <a:srgbClr val="E6E9FF"/>
                </a:solidFill>
                <a:latin typeface="Lexend" pitchFamily="34" charset="0"/>
                <a:ea typeface="Lexend" pitchFamily="34" charset="-122"/>
                <a:cs typeface="Lexend" pitchFamily="34" charset="-120"/>
              </a:rPr>
              <a:t> dispone de métodos para obtener información sobre el hilo que se está ejecutando en este momento.</a:t>
            </a:r>
            <a:endParaRPr lang="en-US" sz="2100" dirty="0"/>
          </a:p>
        </p:txBody>
      </p:sp>
    </p:spTree>
    <p:extLst>
      <p:ext uri="{BB962C8B-B14F-4D97-AF65-F5344CB8AC3E}">
        <p14:creationId xmlns:p14="http://schemas.microsoft.com/office/powerpoint/2010/main" val="2200343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886896"/>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2. Mi primer hilo</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609585" y="1528587"/>
            <a:ext cx="10904160" cy="4565865"/>
          </a:xfrm>
          <a:prstGeom prst="rect">
            <a:avLst/>
          </a:prstGeom>
        </p:spPr>
        <p:txBody>
          <a:bodyPr wrap="square">
            <a:spAutoFit/>
          </a:bodyPr>
          <a:lstStyle/>
          <a:p>
            <a:pPr>
              <a:lnSpc>
                <a:spcPct val="85000"/>
              </a:lnSpc>
            </a:pPr>
            <a:r>
              <a:rPr lang="es-ES" sz="1900" dirty="0">
                <a:solidFill>
                  <a:srgbClr val="E6E9FF"/>
                </a:solidFill>
                <a:latin typeface="Lexend" pitchFamily="34" charset="0"/>
                <a:ea typeface="Lexend" pitchFamily="34" charset="-122"/>
                <a:cs typeface="Lexend" pitchFamily="34" charset="-120"/>
              </a:rPr>
              <a:t>Crea una clase denominada  Ejercicio2 que herede de </a:t>
            </a:r>
            <a:r>
              <a:rPr lang="es-ES" sz="1900" dirty="0" err="1">
                <a:solidFill>
                  <a:srgbClr val="E6E9FF"/>
                </a:solidFill>
                <a:latin typeface="Lexend" pitchFamily="34" charset="0"/>
                <a:ea typeface="Lexend" pitchFamily="34" charset="-122"/>
                <a:cs typeface="Lexend" pitchFamily="34" charset="-120"/>
              </a:rPr>
              <a:t>Thread</a:t>
            </a:r>
            <a:r>
              <a:rPr lang="es-ES" sz="1900" dirty="0">
                <a:solidFill>
                  <a:srgbClr val="E6E9FF"/>
                </a:solidFill>
                <a:latin typeface="Lexend" pitchFamily="34" charset="0"/>
                <a:ea typeface="Lexend" pitchFamily="34" charset="-122"/>
                <a:cs typeface="Lexend" pitchFamily="34" charset="-120"/>
              </a:rPr>
              <a:t>.</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Cuando se ejecute deberá mostrar por pantalla el siguiente mensaje:</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Hola desde mi primer hilo</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Requisitos</a:t>
            </a:r>
          </a:p>
          <a:p>
            <a:pPr>
              <a:lnSpc>
                <a:spcPct val="85000"/>
              </a:lnSpc>
            </a:pPr>
            <a:r>
              <a:rPr lang="es-ES" sz="1900" dirty="0">
                <a:solidFill>
                  <a:srgbClr val="E6E9FF"/>
                </a:solidFill>
                <a:latin typeface="Lexend" pitchFamily="34" charset="0"/>
                <a:ea typeface="Lexend" pitchFamily="34" charset="-122"/>
                <a:cs typeface="Lexend" pitchFamily="34" charset="-120"/>
              </a:rPr>
              <a:t>•	Heredar de la clase </a:t>
            </a:r>
            <a:r>
              <a:rPr lang="es-ES" sz="1900" dirty="0" err="1">
                <a:solidFill>
                  <a:srgbClr val="E6E9FF"/>
                </a:solidFill>
                <a:latin typeface="Lexend" pitchFamily="34" charset="0"/>
                <a:ea typeface="Lexend" pitchFamily="34" charset="-122"/>
                <a:cs typeface="Lexend" pitchFamily="34" charset="-120"/>
              </a:rPr>
              <a:t>Thread</a:t>
            </a:r>
            <a:r>
              <a:rPr lang="es-ES" sz="1900" dirty="0">
                <a:solidFill>
                  <a:srgbClr val="E6E9FF"/>
                </a:solidFill>
                <a:latin typeface="Lexend" pitchFamily="34" charset="0"/>
                <a:ea typeface="Lexend" pitchFamily="34" charset="-122"/>
                <a:cs typeface="Lexend" pitchFamily="34" charset="-120"/>
              </a:rPr>
              <a:t>.</a:t>
            </a:r>
          </a:p>
          <a:p>
            <a:pPr>
              <a:lnSpc>
                <a:spcPct val="85000"/>
              </a:lnSpc>
            </a:pPr>
            <a:r>
              <a:rPr lang="es-ES" sz="1900" dirty="0">
                <a:solidFill>
                  <a:srgbClr val="E6E9FF"/>
                </a:solidFill>
                <a:latin typeface="Lexend" pitchFamily="34" charset="0"/>
                <a:ea typeface="Lexend" pitchFamily="34" charset="-122"/>
                <a:cs typeface="Lexend" pitchFamily="34" charset="-120"/>
              </a:rPr>
              <a:t>•	Definir la tarea que ejecutará el hilo.</a:t>
            </a:r>
          </a:p>
          <a:p>
            <a:pPr>
              <a:lnSpc>
                <a:spcPct val="85000"/>
              </a:lnSpc>
            </a:pPr>
            <a:r>
              <a:rPr lang="es-ES" sz="1900" dirty="0">
                <a:solidFill>
                  <a:srgbClr val="E6E9FF"/>
                </a:solidFill>
                <a:latin typeface="Lexend" pitchFamily="34" charset="0"/>
                <a:ea typeface="Lexend" pitchFamily="34" charset="-122"/>
                <a:cs typeface="Lexend" pitchFamily="34" charset="-120"/>
              </a:rPr>
              <a:t>•	Arrancar el hilo desde el método </a:t>
            </a:r>
            <a:r>
              <a:rPr lang="es-ES" sz="1900" dirty="0" err="1">
                <a:solidFill>
                  <a:srgbClr val="E6E9FF"/>
                </a:solidFill>
                <a:latin typeface="Lexend" pitchFamily="34" charset="0"/>
                <a:ea typeface="Lexend" pitchFamily="34" charset="-122"/>
                <a:cs typeface="Lexend" pitchFamily="34" charset="-120"/>
              </a:rPr>
              <a:t>main</a:t>
            </a:r>
            <a:r>
              <a:rPr lang="es-ES" sz="1900" dirty="0">
                <a:solidFill>
                  <a:srgbClr val="E6E9FF"/>
                </a:solidFill>
                <a:latin typeface="Lexend" pitchFamily="34" charset="0"/>
                <a:ea typeface="Lexend" pitchFamily="34" charset="-122"/>
                <a:cs typeface="Lexend" pitchFamily="34" charset="-120"/>
              </a:rPr>
              <a:t>().</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Cuestiones</a:t>
            </a:r>
          </a:p>
          <a:p>
            <a:pPr>
              <a:lnSpc>
                <a:spcPct val="85000"/>
              </a:lnSpc>
            </a:pPr>
            <a:r>
              <a:rPr lang="es-ES" sz="1900" dirty="0">
                <a:solidFill>
                  <a:srgbClr val="E6E9FF"/>
                </a:solidFill>
                <a:latin typeface="Lexend" pitchFamily="34" charset="0"/>
                <a:ea typeface="Lexend" pitchFamily="34" charset="-122"/>
                <a:cs typeface="Lexend" pitchFamily="34" charset="-120"/>
              </a:rPr>
              <a:t>1.	¿Qué método contiene el código que ejecuta el hilo?</a:t>
            </a:r>
          </a:p>
          <a:p>
            <a:pPr marL="457200" indent="-457200">
              <a:lnSpc>
                <a:spcPct val="85000"/>
              </a:lnSpc>
              <a:buAutoNum type="arabicPeriod" startAt="2"/>
            </a:pPr>
            <a:r>
              <a:rPr lang="es-ES" sz="1900" dirty="0">
                <a:solidFill>
                  <a:srgbClr val="E6E9FF"/>
                </a:solidFill>
                <a:latin typeface="Lexend" pitchFamily="34" charset="0"/>
                <a:ea typeface="Lexend" pitchFamily="34" charset="-122"/>
                <a:cs typeface="Lexend" pitchFamily="34" charset="-120"/>
              </a:rPr>
              <a:t>¿Qué método debe utilizarse para ponerlo en marcha?</a:t>
            </a:r>
          </a:p>
          <a:p>
            <a:pPr marL="457200" indent="-457200">
              <a:lnSpc>
                <a:spcPct val="85000"/>
              </a:lnSpc>
              <a:buAutoNum type="arabicPeriod" startAt="2"/>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Pista</a:t>
            </a:r>
          </a:p>
          <a:p>
            <a:pPr>
              <a:lnSpc>
                <a:spcPct val="85000"/>
              </a:lnSpc>
            </a:pPr>
            <a:r>
              <a:rPr lang="es-ES" sz="1900" dirty="0">
                <a:solidFill>
                  <a:srgbClr val="E6E9FF"/>
                </a:solidFill>
                <a:latin typeface="Lexend" pitchFamily="34" charset="0"/>
                <a:ea typeface="Lexend" pitchFamily="34" charset="-122"/>
                <a:cs typeface="Lexend" pitchFamily="34" charset="-120"/>
              </a:rPr>
              <a:t>Un hilo necesita definir qué trabajo realizará y después ser iniciado desde el programa principal.</a:t>
            </a:r>
          </a:p>
        </p:txBody>
      </p:sp>
    </p:spTree>
    <p:extLst>
      <p:ext uri="{BB962C8B-B14F-4D97-AF65-F5344CB8AC3E}">
        <p14:creationId xmlns:p14="http://schemas.microsoft.com/office/powerpoint/2010/main" val="3382274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886896"/>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3. Dos tareas simultáneas</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609585" y="1528587"/>
            <a:ext cx="10904160" cy="5062924"/>
          </a:xfrm>
          <a:prstGeom prst="rect">
            <a:avLst/>
          </a:prstGeom>
        </p:spPr>
        <p:txBody>
          <a:bodyPr wrap="square">
            <a:spAutoFit/>
          </a:bodyPr>
          <a:lstStyle/>
          <a:p>
            <a:pPr>
              <a:lnSpc>
                <a:spcPct val="85000"/>
              </a:lnSpc>
            </a:pPr>
            <a:r>
              <a:rPr lang="es-ES" sz="1900" dirty="0">
                <a:solidFill>
                  <a:srgbClr val="E6E9FF"/>
                </a:solidFill>
                <a:latin typeface="Lexend" pitchFamily="34" charset="0"/>
                <a:ea typeface="Lexend" pitchFamily="34" charset="-122"/>
                <a:cs typeface="Lexend" pitchFamily="34" charset="-120"/>
              </a:rPr>
              <a:t>Crea dos hilos diferentes.</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Hilo A</a:t>
            </a:r>
          </a:p>
          <a:p>
            <a:pPr>
              <a:lnSpc>
                <a:spcPct val="85000"/>
              </a:lnSpc>
            </a:pPr>
            <a:r>
              <a:rPr lang="es-ES" sz="1900" dirty="0">
                <a:solidFill>
                  <a:srgbClr val="E6E9FF"/>
                </a:solidFill>
                <a:latin typeface="Lexend" pitchFamily="34" charset="0"/>
                <a:ea typeface="Lexend" pitchFamily="34" charset="-122"/>
                <a:cs typeface="Lexend" pitchFamily="34" charset="-120"/>
              </a:rPr>
              <a:t>Mostrará los números del 1 al 10.</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Hilo B</a:t>
            </a:r>
          </a:p>
          <a:p>
            <a:pPr>
              <a:lnSpc>
                <a:spcPct val="85000"/>
              </a:lnSpc>
            </a:pPr>
            <a:r>
              <a:rPr lang="es-ES" sz="1900" dirty="0">
                <a:solidFill>
                  <a:srgbClr val="E6E9FF"/>
                </a:solidFill>
                <a:latin typeface="Lexend" pitchFamily="34" charset="0"/>
                <a:ea typeface="Lexend" pitchFamily="34" charset="-122"/>
                <a:cs typeface="Lexend" pitchFamily="34" charset="-120"/>
              </a:rPr>
              <a:t>Mostrará las letras desde la A hasta la J.</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Ejecuta ambos hilos desde el método principal.</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Requisitos</a:t>
            </a:r>
          </a:p>
          <a:p>
            <a:pPr>
              <a:lnSpc>
                <a:spcPct val="85000"/>
              </a:lnSpc>
            </a:pPr>
            <a:r>
              <a:rPr lang="es-ES" sz="1900" dirty="0">
                <a:solidFill>
                  <a:srgbClr val="E6E9FF"/>
                </a:solidFill>
                <a:latin typeface="Lexend" pitchFamily="34" charset="0"/>
                <a:ea typeface="Lexend" pitchFamily="34" charset="-122"/>
                <a:cs typeface="Lexend" pitchFamily="34" charset="-120"/>
              </a:rPr>
              <a:t>•	Crear dos hilos independientes.</a:t>
            </a:r>
          </a:p>
          <a:p>
            <a:pPr>
              <a:lnSpc>
                <a:spcPct val="85000"/>
              </a:lnSpc>
            </a:pPr>
            <a:r>
              <a:rPr lang="es-ES" sz="1900" dirty="0">
                <a:solidFill>
                  <a:srgbClr val="E6E9FF"/>
                </a:solidFill>
                <a:latin typeface="Lexend" pitchFamily="34" charset="0"/>
                <a:ea typeface="Lexend" pitchFamily="34" charset="-122"/>
                <a:cs typeface="Lexend" pitchFamily="34" charset="-120"/>
              </a:rPr>
              <a:t>•	Lanzar ambos mediante </a:t>
            </a:r>
            <a:r>
              <a:rPr lang="es-ES" sz="1900" dirty="0" err="1">
                <a:solidFill>
                  <a:srgbClr val="E6E9FF"/>
                </a:solidFill>
                <a:latin typeface="Lexend" pitchFamily="34" charset="0"/>
                <a:ea typeface="Lexend" pitchFamily="34" charset="-122"/>
                <a:cs typeface="Lexend" pitchFamily="34" charset="-120"/>
              </a:rPr>
              <a:t>start</a:t>
            </a:r>
            <a:r>
              <a:rPr lang="es-ES" sz="1900" dirty="0">
                <a:solidFill>
                  <a:srgbClr val="E6E9FF"/>
                </a:solidFill>
                <a:latin typeface="Lexend" pitchFamily="34" charset="0"/>
                <a:ea typeface="Lexend" pitchFamily="34" charset="-122"/>
                <a:cs typeface="Lexend" pitchFamily="34" charset="-120"/>
              </a:rPr>
              <a:t>().</a:t>
            </a:r>
          </a:p>
          <a:p>
            <a:pPr>
              <a:lnSpc>
                <a:spcPct val="85000"/>
              </a:lnSpc>
            </a:pPr>
            <a:r>
              <a:rPr lang="es-ES" sz="1900" dirty="0">
                <a:solidFill>
                  <a:srgbClr val="E6E9FF"/>
                </a:solidFill>
                <a:latin typeface="Lexend" pitchFamily="34" charset="0"/>
                <a:ea typeface="Lexend" pitchFamily="34" charset="-122"/>
                <a:cs typeface="Lexend" pitchFamily="34" charset="-120"/>
              </a:rPr>
              <a:t>•	Observar la salida obtenida en consola.</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Cuestiones</a:t>
            </a:r>
          </a:p>
          <a:p>
            <a:pPr>
              <a:lnSpc>
                <a:spcPct val="85000"/>
              </a:lnSpc>
            </a:pPr>
            <a:r>
              <a:rPr lang="es-ES" sz="1900" dirty="0">
                <a:solidFill>
                  <a:srgbClr val="E6E9FF"/>
                </a:solidFill>
                <a:latin typeface="Lexend" pitchFamily="34" charset="0"/>
                <a:ea typeface="Lexend" pitchFamily="34" charset="-122"/>
                <a:cs typeface="Lexend" pitchFamily="34" charset="-120"/>
              </a:rPr>
              <a:t>1.	¿Aparecen siempre primero los números y después las letras?</a:t>
            </a:r>
          </a:p>
          <a:p>
            <a:pPr marL="457200" indent="-457200">
              <a:lnSpc>
                <a:spcPct val="85000"/>
              </a:lnSpc>
              <a:buAutoNum type="arabicPeriod" startAt="2"/>
            </a:pPr>
            <a:r>
              <a:rPr lang="es-ES" sz="1900" dirty="0">
                <a:solidFill>
                  <a:srgbClr val="E6E9FF"/>
                </a:solidFill>
                <a:latin typeface="Lexend" pitchFamily="34" charset="0"/>
                <a:ea typeface="Lexend" pitchFamily="34" charset="-122"/>
                <a:cs typeface="Lexend" pitchFamily="34" charset="-120"/>
              </a:rPr>
              <a:t>¿Ocurren siempre las mismas salidas?</a:t>
            </a:r>
          </a:p>
          <a:p>
            <a:pPr marL="457200" indent="-457200">
              <a:lnSpc>
                <a:spcPct val="85000"/>
              </a:lnSpc>
              <a:buAutoNum type="arabicPeriod" startAt="2"/>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Ejecuta el programa varias veces y compara el resultado.</a:t>
            </a:r>
          </a:p>
        </p:txBody>
      </p:sp>
    </p:spTree>
    <p:extLst>
      <p:ext uri="{BB962C8B-B14F-4D97-AF65-F5344CB8AC3E}">
        <p14:creationId xmlns:p14="http://schemas.microsoft.com/office/powerpoint/2010/main" val="4079131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886896"/>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4. Creando hilos con </a:t>
            </a:r>
            <a:r>
              <a:rPr lang="es-ES" sz="2800" b="1" dirty="0" err="1">
                <a:solidFill>
                  <a:srgbClr val="E6E9FF"/>
                </a:solidFill>
                <a:latin typeface="Lexend" pitchFamily="34" charset="0"/>
                <a:ea typeface="Lexend" pitchFamily="34" charset="-122"/>
                <a:cs typeface="Lexend" pitchFamily="34" charset="-120"/>
              </a:rPr>
              <a:t>Runnable</a:t>
            </a:r>
            <a:endParaRPr lang="es-ES" sz="2800" b="1" dirty="0">
              <a:solidFill>
                <a:srgbClr val="E6E9FF"/>
              </a:solidFill>
              <a:latin typeface="Lexend" pitchFamily="34" charset="0"/>
              <a:ea typeface="Lexend" pitchFamily="34" charset="-122"/>
              <a:cs typeface="Lexend" pitchFamily="34" charset="-120"/>
            </a:endParaRP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609585" y="1528587"/>
            <a:ext cx="10904160" cy="3323217"/>
          </a:xfrm>
          <a:prstGeom prst="rect">
            <a:avLst/>
          </a:prstGeom>
        </p:spPr>
        <p:txBody>
          <a:bodyPr wrap="square">
            <a:spAutoFit/>
          </a:bodyPr>
          <a:lstStyle/>
          <a:p>
            <a:pPr>
              <a:lnSpc>
                <a:spcPct val="85000"/>
              </a:lnSpc>
            </a:pPr>
            <a:r>
              <a:rPr lang="es-ES" sz="1900" dirty="0">
                <a:solidFill>
                  <a:srgbClr val="E6E9FF"/>
                </a:solidFill>
                <a:latin typeface="Lexend" pitchFamily="34" charset="0"/>
                <a:ea typeface="Lexend" pitchFamily="34" charset="-122"/>
                <a:cs typeface="Lexend" pitchFamily="34" charset="-120"/>
              </a:rPr>
              <a:t>Repite el ejercicio anterior utilizando la interfaz </a:t>
            </a:r>
            <a:r>
              <a:rPr lang="es-ES" sz="1900" dirty="0" err="1">
                <a:solidFill>
                  <a:srgbClr val="E6E9FF"/>
                </a:solidFill>
                <a:latin typeface="Lexend" pitchFamily="34" charset="0"/>
                <a:ea typeface="Lexend" pitchFamily="34" charset="-122"/>
                <a:cs typeface="Lexend" pitchFamily="34" charset="-120"/>
              </a:rPr>
              <a:t>Runnable</a:t>
            </a:r>
            <a:r>
              <a:rPr lang="es-ES" sz="1900" dirty="0">
                <a:solidFill>
                  <a:srgbClr val="E6E9FF"/>
                </a:solidFill>
                <a:latin typeface="Lexend" pitchFamily="34" charset="0"/>
                <a:ea typeface="Lexend" pitchFamily="34" charset="-122"/>
                <a:cs typeface="Lexend" pitchFamily="34" charset="-120"/>
              </a:rPr>
              <a:t> en lugar de heredar de </a:t>
            </a:r>
            <a:r>
              <a:rPr lang="es-ES" sz="1900" dirty="0" err="1">
                <a:solidFill>
                  <a:srgbClr val="E6E9FF"/>
                </a:solidFill>
                <a:latin typeface="Lexend" pitchFamily="34" charset="0"/>
                <a:ea typeface="Lexend" pitchFamily="34" charset="-122"/>
                <a:cs typeface="Lexend" pitchFamily="34" charset="-120"/>
              </a:rPr>
              <a:t>Thread</a:t>
            </a:r>
            <a:r>
              <a:rPr lang="es-ES" sz="1900" dirty="0">
                <a:solidFill>
                  <a:srgbClr val="E6E9FF"/>
                </a:solidFill>
                <a:latin typeface="Lexend" pitchFamily="34" charset="0"/>
                <a:ea typeface="Lexend" pitchFamily="34" charset="-122"/>
                <a:cs typeface="Lexend" pitchFamily="34" charset="-120"/>
              </a:rPr>
              <a:t>.</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Requisitos</a:t>
            </a:r>
          </a:p>
          <a:p>
            <a:pPr>
              <a:lnSpc>
                <a:spcPct val="85000"/>
              </a:lnSpc>
            </a:pPr>
            <a:r>
              <a:rPr lang="es-ES" sz="1900" dirty="0">
                <a:solidFill>
                  <a:srgbClr val="E6E9FF"/>
                </a:solidFill>
                <a:latin typeface="Lexend" pitchFamily="34" charset="0"/>
                <a:ea typeface="Lexend" pitchFamily="34" charset="-122"/>
                <a:cs typeface="Lexend" pitchFamily="34" charset="-120"/>
              </a:rPr>
              <a:t>•	Crear una clase que implemente </a:t>
            </a:r>
            <a:r>
              <a:rPr lang="es-ES" sz="1900" dirty="0" err="1">
                <a:solidFill>
                  <a:srgbClr val="E6E9FF"/>
                </a:solidFill>
                <a:latin typeface="Lexend" pitchFamily="34" charset="0"/>
                <a:ea typeface="Lexend" pitchFamily="34" charset="-122"/>
                <a:cs typeface="Lexend" pitchFamily="34" charset="-120"/>
              </a:rPr>
              <a:t>Runnable</a:t>
            </a:r>
            <a:r>
              <a:rPr lang="es-ES" sz="1900" dirty="0">
                <a:solidFill>
                  <a:srgbClr val="E6E9FF"/>
                </a:solidFill>
                <a:latin typeface="Lexend" pitchFamily="34" charset="0"/>
                <a:ea typeface="Lexend" pitchFamily="34" charset="-122"/>
                <a:cs typeface="Lexend" pitchFamily="34" charset="-120"/>
              </a:rPr>
              <a:t>.</a:t>
            </a:r>
          </a:p>
          <a:p>
            <a:pPr>
              <a:lnSpc>
                <a:spcPct val="85000"/>
              </a:lnSpc>
            </a:pPr>
            <a:r>
              <a:rPr lang="es-ES" sz="1900" dirty="0">
                <a:solidFill>
                  <a:srgbClr val="E6E9FF"/>
                </a:solidFill>
                <a:latin typeface="Lexend" pitchFamily="34" charset="0"/>
                <a:ea typeface="Lexend" pitchFamily="34" charset="-122"/>
                <a:cs typeface="Lexend" pitchFamily="34" charset="-120"/>
              </a:rPr>
              <a:t>•	Asociarla a un objeto de tipo </a:t>
            </a:r>
            <a:r>
              <a:rPr lang="es-ES" sz="1900" dirty="0" err="1">
                <a:solidFill>
                  <a:srgbClr val="E6E9FF"/>
                </a:solidFill>
                <a:latin typeface="Lexend" pitchFamily="34" charset="0"/>
                <a:ea typeface="Lexend" pitchFamily="34" charset="-122"/>
                <a:cs typeface="Lexend" pitchFamily="34" charset="-120"/>
              </a:rPr>
              <a:t>Thread</a:t>
            </a:r>
            <a:r>
              <a:rPr lang="es-ES" sz="1900" dirty="0">
                <a:solidFill>
                  <a:srgbClr val="E6E9FF"/>
                </a:solidFill>
                <a:latin typeface="Lexend" pitchFamily="34" charset="0"/>
                <a:ea typeface="Lexend" pitchFamily="34" charset="-122"/>
                <a:cs typeface="Lexend" pitchFamily="34" charset="-120"/>
              </a:rPr>
              <a:t>.</a:t>
            </a:r>
          </a:p>
          <a:p>
            <a:pPr>
              <a:lnSpc>
                <a:spcPct val="85000"/>
              </a:lnSpc>
            </a:pPr>
            <a:r>
              <a:rPr lang="es-ES" sz="1900" dirty="0">
                <a:solidFill>
                  <a:srgbClr val="E6E9FF"/>
                </a:solidFill>
                <a:latin typeface="Lexend" pitchFamily="34" charset="0"/>
                <a:ea typeface="Lexend" pitchFamily="34" charset="-122"/>
                <a:cs typeface="Lexend" pitchFamily="34" charset="-120"/>
              </a:rPr>
              <a:t>•	Ejecutar la tarea.</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Cuestiones</a:t>
            </a:r>
          </a:p>
          <a:p>
            <a:pPr>
              <a:lnSpc>
                <a:spcPct val="85000"/>
              </a:lnSpc>
            </a:pPr>
            <a:r>
              <a:rPr lang="es-ES" sz="1900" dirty="0">
                <a:solidFill>
                  <a:srgbClr val="E6E9FF"/>
                </a:solidFill>
                <a:latin typeface="Lexend" pitchFamily="34" charset="0"/>
                <a:ea typeface="Lexend" pitchFamily="34" charset="-122"/>
                <a:cs typeface="Lexend" pitchFamily="34" charset="-120"/>
              </a:rPr>
              <a:t>1.	¿Qué diferencias observas respecto al ejercicio anterior?</a:t>
            </a:r>
          </a:p>
          <a:p>
            <a:pPr marL="457200" indent="-457200">
              <a:lnSpc>
                <a:spcPct val="85000"/>
              </a:lnSpc>
              <a:buAutoNum type="arabicPeriod" startAt="2"/>
            </a:pPr>
            <a:r>
              <a:rPr lang="es-ES" sz="1900" dirty="0">
                <a:solidFill>
                  <a:srgbClr val="E6E9FF"/>
                </a:solidFill>
                <a:latin typeface="Lexend" pitchFamily="34" charset="0"/>
                <a:ea typeface="Lexend" pitchFamily="34" charset="-122"/>
                <a:cs typeface="Lexend" pitchFamily="34" charset="-120"/>
              </a:rPr>
              <a:t>¿Qué solución te parece más flexible?</a:t>
            </a:r>
          </a:p>
          <a:p>
            <a:pPr marL="457200" indent="-457200">
              <a:lnSpc>
                <a:spcPct val="85000"/>
              </a:lnSpc>
              <a:buAutoNum type="arabicPeriod" startAt="2"/>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Pista</a:t>
            </a:r>
          </a:p>
          <a:p>
            <a:pPr>
              <a:lnSpc>
                <a:spcPct val="85000"/>
              </a:lnSpc>
            </a:pPr>
            <a:r>
              <a:rPr lang="es-ES" sz="1900" dirty="0">
                <a:solidFill>
                  <a:srgbClr val="E6E9FF"/>
                </a:solidFill>
                <a:latin typeface="Lexend" pitchFamily="34" charset="0"/>
                <a:ea typeface="Lexend" pitchFamily="34" charset="-122"/>
                <a:cs typeface="Lexend" pitchFamily="34" charset="-120"/>
              </a:rPr>
              <a:t>Implementar </a:t>
            </a:r>
            <a:r>
              <a:rPr lang="es-ES" sz="1900" dirty="0" err="1">
                <a:solidFill>
                  <a:srgbClr val="E6E9FF"/>
                </a:solidFill>
                <a:latin typeface="Lexend" pitchFamily="34" charset="0"/>
                <a:ea typeface="Lexend" pitchFamily="34" charset="-122"/>
                <a:cs typeface="Lexend" pitchFamily="34" charset="-120"/>
              </a:rPr>
              <a:t>Runnable</a:t>
            </a:r>
            <a:r>
              <a:rPr lang="es-ES" sz="1900" dirty="0">
                <a:solidFill>
                  <a:srgbClr val="E6E9FF"/>
                </a:solidFill>
                <a:latin typeface="Lexend" pitchFamily="34" charset="0"/>
                <a:ea typeface="Lexend" pitchFamily="34" charset="-122"/>
                <a:cs typeface="Lexend" pitchFamily="34" charset="-120"/>
              </a:rPr>
              <a:t> no crea un hilo por sí mismo.</a:t>
            </a:r>
          </a:p>
        </p:txBody>
      </p:sp>
    </p:spTree>
    <p:extLst>
      <p:ext uri="{BB962C8B-B14F-4D97-AF65-F5344CB8AC3E}">
        <p14:creationId xmlns:p14="http://schemas.microsoft.com/office/powerpoint/2010/main" val="661310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134295"/>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5. ¿run() o </a:t>
            </a:r>
            <a:r>
              <a:rPr lang="es-ES" sz="2800" b="1" dirty="0" err="1">
                <a:solidFill>
                  <a:srgbClr val="E6E9FF"/>
                </a:solidFill>
                <a:latin typeface="Lexend" pitchFamily="34" charset="0"/>
                <a:ea typeface="Lexend" pitchFamily="34" charset="-122"/>
                <a:cs typeface="Lexend" pitchFamily="34" charset="-120"/>
              </a:rPr>
              <a:t>start</a:t>
            </a:r>
            <a:r>
              <a:rPr lang="es-ES" sz="2800" b="1" dirty="0">
                <a:solidFill>
                  <a:srgbClr val="E6E9FF"/>
                </a:solidFill>
                <a:latin typeface="Lexend" pitchFamily="34" charset="0"/>
                <a:ea typeface="Lexend" pitchFamily="34" charset="-122"/>
                <a:cs typeface="Lexend" pitchFamily="34" charset="-120"/>
              </a:rPr>
              <a:t>()?</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609585" y="711829"/>
            <a:ext cx="10904160" cy="6200928"/>
          </a:xfrm>
          <a:prstGeom prst="rect">
            <a:avLst/>
          </a:prstGeom>
        </p:spPr>
        <p:txBody>
          <a:bodyPr wrap="square">
            <a:spAutoFit/>
          </a:bodyPr>
          <a:lstStyle/>
          <a:p>
            <a:pPr>
              <a:lnSpc>
                <a:spcPct val="85000"/>
              </a:lnSpc>
            </a:pPr>
            <a:r>
              <a:rPr lang="es-ES" sz="1900" dirty="0">
                <a:solidFill>
                  <a:srgbClr val="E6E9FF"/>
                </a:solidFill>
                <a:latin typeface="Lexend" pitchFamily="34" charset="0"/>
                <a:ea typeface="Lexend" pitchFamily="34" charset="-122"/>
                <a:cs typeface="Lexend" pitchFamily="34" charset="-120"/>
              </a:rPr>
              <a:t>Crea una clase cuyo hilo muestre 10 veces el mensaje "Hola desde el hilo" indicando también el nombre del hilo que lo ejecuta.</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Realiza dos pruebas distintas:</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600" dirty="0">
                <a:solidFill>
                  <a:srgbClr val="E6E9FF"/>
                </a:solidFill>
                <a:latin typeface="Lexend" pitchFamily="34" charset="0"/>
                <a:ea typeface="Lexend" pitchFamily="34" charset="-122"/>
                <a:cs typeface="Lexend" pitchFamily="34" charset="-120"/>
              </a:rPr>
              <a:t>Prueba 1</a:t>
            </a:r>
          </a:p>
          <a:p>
            <a:pPr>
              <a:lnSpc>
                <a:spcPct val="85000"/>
              </a:lnSpc>
            </a:pPr>
            <a:r>
              <a:rPr lang="es-ES" sz="1600" dirty="0">
                <a:solidFill>
                  <a:srgbClr val="E6E9FF"/>
                </a:solidFill>
                <a:latin typeface="Lexend" pitchFamily="34" charset="0"/>
                <a:ea typeface="Lexend" pitchFamily="34" charset="-122"/>
                <a:cs typeface="Lexend" pitchFamily="34" charset="-120"/>
              </a:rPr>
              <a:t>Llama al método:</a:t>
            </a:r>
          </a:p>
          <a:p>
            <a:pPr>
              <a:lnSpc>
                <a:spcPct val="85000"/>
              </a:lnSpc>
            </a:pPr>
            <a:r>
              <a:rPr lang="es-ES" sz="1600" dirty="0">
                <a:solidFill>
                  <a:srgbClr val="E6E9FF"/>
                </a:solidFill>
                <a:latin typeface="Lexend" pitchFamily="34" charset="0"/>
                <a:ea typeface="Lexend" pitchFamily="34" charset="-122"/>
                <a:cs typeface="Lexend" pitchFamily="34" charset="-120"/>
              </a:rPr>
              <a:t>Java</a:t>
            </a:r>
          </a:p>
          <a:p>
            <a:pPr>
              <a:lnSpc>
                <a:spcPct val="85000"/>
              </a:lnSpc>
            </a:pPr>
            <a:r>
              <a:rPr lang="es-ES" sz="1600" dirty="0">
                <a:solidFill>
                  <a:srgbClr val="E6E9FF"/>
                </a:solidFill>
                <a:latin typeface="Lexend" pitchFamily="34" charset="0"/>
                <a:ea typeface="Lexend" pitchFamily="34" charset="-122"/>
                <a:cs typeface="Lexend" pitchFamily="34" charset="-120"/>
              </a:rPr>
              <a:t>run()</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a:solidFill>
                  <a:srgbClr val="E6E9FF"/>
                </a:solidFill>
                <a:latin typeface="Lexend" pitchFamily="34" charset="0"/>
                <a:ea typeface="Lexend" pitchFamily="34" charset="-122"/>
                <a:cs typeface="Lexend" pitchFamily="34" charset="-120"/>
              </a:rPr>
              <a:t>Prueba 2</a:t>
            </a:r>
          </a:p>
          <a:p>
            <a:pPr>
              <a:lnSpc>
                <a:spcPct val="85000"/>
              </a:lnSpc>
            </a:pPr>
            <a:r>
              <a:rPr lang="es-ES" sz="1600" dirty="0">
                <a:solidFill>
                  <a:srgbClr val="E6E9FF"/>
                </a:solidFill>
                <a:latin typeface="Lexend" pitchFamily="34" charset="0"/>
                <a:ea typeface="Lexend" pitchFamily="34" charset="-122"/>
                <a:cs typeface="Lexend" pitchFamily="34" charset="-120"/>
              </a:rPr>
              <a:t>Llama al método:</a:t>
            </a:r>
          </a:p>
          <a:p>
            <a:pPr>
              <a:lnSpc>
                <a:spcPct val="85000"/>
              </a:lnSpc>
            </a:pPr>
            <a:r>
              <a:rPr lang="es-ES" sz="1600" dirty="0">
                <a:solidFill>
                  <a:srgbClr val="E6E9FF"/>
                </a:solidFill>
                <a:latin typeface="Lexend" pitchFamily="34" charset="0"/>
                <a:ea typeface="Lexend" pitchFamily="34" charset="-122"/>
                <a:cs typeface="Lexend" pitchFamily="34" charset="-120"/>
              </a:rPr>
              <a:t>Java</a:t>
            </a:r>
          </a:p>
          <a:p>
            <a:pPr>
              <a:lnSpc>
                <a:spcPct val="85000"/>
              </a:lnSpc>
            </a:pPr>
            <a:r>
              <a:rPr lang="es-ES" sz="1600" dirty="0" err="1">
                <a:solidFill>
                  <a:srgbClr val="E6E9FF"/>
                </a:solidFill>
                <a:latin typeface="Lexend" pitchFamily="34" charset="0"/>
                <a:ea typeface="Lexend" pitchFamily="34" charset="-122"/>
                <a:cs typeface="Lexend" pitchFamily="34" charset="-120"/>
              </a:rPr>
              <a:t>start</a:t>
            </a:r>
            <a:r>
              <a:rPr lang="es-ES" sz="1600" dirty="0">
                <a:solidFill>
                  <a:srgbClr val="E6E9FF"/>
                </a:solidFill>
                <a:latin typeface="Lexend" pitchFamily="34" charset="0"/>
                <a:ea typeface="Lexend" pitchFamily="34" charset="-122"/>
                <a:cs typeface="Lexend" pitchFamily="34" charset="-120"/>
              </a:rPr>
              <a:t>()</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Requisitos</a:t>
            </a:r>
          </a:p>
          <a:p>
            <a:pPr>
              <a:lnSpc>
                <a:spcPct val="85000"/>
              </a:lnSpc>
            </a:pPr>
            <a:r>
              <a:rPr lang="es-ES" sz="1900" dirty="0">
                <a:solidFill>
                  <a:srgbClr val="E6E9FF"/>
                </a:solidFill>
                <a:latin typeface="Lexend" pitchFamily="34" charset="0"/>
                <a:ea typeface="Lexend" pitchFamily="34" charset="-122"/>
                <a:cs typeface="Lexend" pitchFamily="34" charset="-120"/>
              </a:rPr>
              <a:t>•	Comparar ambos comportamientos.</a:t>
            </a:r>
          </a:p>
          <a:p>
            <a:pPr>
              <a:lnSpc>
                <a:spcPct val="85000"/>
              </a:lnSpc>
            </a:pPr>
            <a:r>
              <a:rPr lang="es-ES" sz="1900" dirty="0">
                <a:solidFill>
                  <a:srgbClr val="E6E9FF"/>
                </a:solidFill>
                <a:latin typeface="Lexend" pitchFamily="34" charset="0"/>
                <a:ea typeface="Lexend" pitchFamily="34" charset="-122"/>
                <a:cs typeface="Lexend" pitchFamily="34" charset="-120"/>
              </a:rPr>
              <a:t>•	Anotar las diferencias observadas.</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Cuestiones</a:t>
            </a:r>
          </a:p>
          <a:p>
            <a:pPr>
              <a:lnSpc>
                <a:spcPct val="85000"/>
              </a:lnSpc>
            </a:pPr>
            <a:r>
              <a:rPr lang="es-ES" sz="1900" dirty="0">
                <a:solidFill>
                  <a:srgbClr val="E6E9FF"/>
                </a:solidFill>
                <a:latin typeface="Lexend" pitchFamily="34" charset="0"/>
                <a:ea typeface="Lexend" pitchFamily="34" charset="-122"/>
                <a:cs typeface="Lexend" pitchFamily="34" charset="-120"/>
              </a:rPr>
              <a:t>1.	¿Se crea realmente un nuevo hilo en los dos casos?</a:t>
            </a:r>
          </a:p>
          <a:p>
            <a:pPr marL="457200" indent="-457200">
              <a:lnSpc>
                <a:spcPct val="85000"/>
              </a:lnSpc>
              <a:buAutoNum type="arabicPeriod" startAt="2"/>
            </a:pPr>
            <a:r>
              <a:rPr lang="es-ES" sz="1900" dirty="0">
                <a:solidFill>
                  <a:srgbClr val="E6E9FF"/>
                </a:solidFill>
                <a:latin typeface="Lexend" pitchFamily="34" charset="0"/>
                <a:ea typeface="Lexend" pitchFamily="34" charset="-122"/>
                <a:cs typeface="Lexend" pitchFamily="34" charset="-120"/>
              </a:rPr>
              <a:t>¿Cuál es la forma correcta de iniciar un hilo?</a:t>
            </a:r>
          </a:p>
          <a:p>
            <a:pPr marL="457200" indent="-457200">
              <a:lnSpc>
                <a:spcPct val="85000"/>
              </a:lnSpc>
              <a:buAutoNum type="arabicPeriod" startAt="2"/>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Pista</a:t>
            </a:r>
          </a:p>
          <a:p>
            <a:pPr>
              <a:lnSpc>
                <a:spcPct val="85000"/>
              </a:lnSpc>
            </a:pPr>
            <a:r>
              <a:rPr lang="es-ES" sz="1900" dirty="0">
                <a:solidFill>
                  <a:srgbClr val="E6E9FF"/>
                </a:solidFill>
                <a:latin typeface="Lexend" pitchFamily="34" charset="0"/>
                <a:ea typeface="Lexend" pitchFamily="34" charset="-122"/>
                <a:cs typeface="Lexend" pitchFamily="34" charset="-120"/>
              </a:rPr>
              <a:t>Piensa qué ocurre si llamas a run() igual que llamarías a cualquier otro método de una clase.</a:t>
            </a:r>
          </a:p>
        </p:txBody>
      </p:sp>
    </p:spTree>
    <p:extLst>
      <p:ext uri="{BB962C8B-B14F-4D97-AF65-F5344CB8AC3E}">
        <p14:creationId xmlns:p14="http://schemas.microsoft.com/office/powerpoint/2010/main" val="2749143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405408"/>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Estados de ejecución de un hilo</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1267750"/>
            <a:ext cx="10904160" cy="5089085"/>
          </a:xfrm>
          <a:prstGeom prst="rect">
            <a:avLst/>
          </a:prstGeom>
        </p:spPr>
        <p:txBody>
          <a:bodyPr wrap="square">
            <a:spAutoFit/>
          </a:bodyPr>
          <a:lstStyle/>
          <a:p>
            <a:pPr>
              <a:lnSpc>
                <a:spcPct val="85000"/>
              </a:lnSpc>
            </a:pPr>
            <a:r>
              <a:rPr lang="es-ES" sz="1900" dirty="0">
                <a:solidFill>
                  <a:srgbClr val="E6E9FF"/>
                </a:solidFill>
                <a:latin typeface="Lexend" pitchFamily="34" charset="0"/>
                <a:ea typeface="Lexend" pitchFamily="34" charset="-122"/>
                <a:cs typeface="Lexend" pitchFamily="34" charset="-120"/>
              </a:rPr>
              <a:t>Durante su ciclo de vida, un hilo no está siempre ejecutándose. Puede pasar por distintos estados según las acciones realizadas y los recursos disponibles.</a:t>
            </a:r>
          </a:p>
          <a:p>
            <a:pPr>
              <a:lnSpc>
                <a:spcPct val="85000"/>
              </a:lnSpc>
            </a:pPr>
            <a:r>
              <a:rPr lang="es-ES" sz="1900" dirty="0">
                <a:solidFill>
                  <a:srgbClr val="E6E9FF"/>
                </a:solidFill>
                <a:latin typeface="Lexend" pitchFamily="34" charset="0"/>
                <a:ea typeface="Lexend" pitchFamily="34" charset="-122"/>
                <a:cs typeface="Lexend" pitchFamily="34" charset="-120"/>
              </a:rPr>
              <a:t>Realiza dos pruebas distintas:</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dirty="0">
                <a:solidFill>
                  <a:srgbClr val="E6E9FF"/>
                </a:solidFill>
                <a:latin typeface="Lexend" pitchFamily="34" charset="0"/>
                <a:ea typeface="Lexend" pitchFamily="34" charset="-122"/>
                <a:cs typeface="Lexend" pitchFamily="34" charset="-120"/>
              </a:rPr>
              <a:t>Estados principales</a:t>
            </a:r>
          </a:p>
          <a:p>
            <a:pPr>
              <a:lnSpc>
                <a:spcPct val="85000"/>
              </a:lnSpc>
            </a:pPr>
            <a:endParaRPr lang="es-ES" dirty="0">
              <a:solidFill>
                <a:srgbClr val="E6E9FF"/>
              </a:solidFill>
              <a:latin typeface="Lexend" pitchFamily="34" charset="0"/>
              <a:ea typeface="Lexend" pitchFamily="34" charset="-122"/>
              <a:cs typeface="Lexend" pitchFamily="34" charset="-120"/>
            </a:endParaRPr>
          </a:p>
          <a:p>
            <a:pPr>
              <a:lnSpc>
                <a:spcPct val="85000"/>
              </a:lnSpc>
            </a:pPr>
            <a:r>
              <a:rPr lang="es-ES" dirty="0">
                <a:solidFill>
                  <a:srgbClr val="E6E9FF"/>
                </a:solidFill>
                <a:latin typeface="Lexend" pitchFamily="34" charset="0"/>
                <a:ea typeface="Lexend" pitchFamily="34" charset="-122"/>
                <a:cs typeface="Lexend" pitchFamily="34" charset="-120"/>
              </a:rPr>
              <a:t>NEW</a:t>
            </a:r>
          </a:p>
          <a:p>
            <a:pPr>
              <a:lnSpc>
                <a:spcPct val="85000"/>
              </a:lnSpc>
            </a:pPr>
            <a:r>
              <a:rPr lang="es-ES" dirty="0">
                <a:solidFill>
                  <a:srgbClr val="E6E9FF"/>
                </a:solidFill>
                <a:latin typeface="Lexend" pitchFamily="34" charset="0"/>
                <a:ea typeface="Lexend" pitchFamily="34" charset="-122"/>
                <a:cs typeface="Lexend" pitchFamily="34" charset="-120"/>
              </a:rPr>
              <a:t>El hilo ha sido creado .Todavía no se ha llamado a </a:t>
            </a:r>
            <a:r>
              <a:rPr lang="es-ES" dirty="0" err="1">
                <a:solidFill>
                  <a:srgbClr val="E6E9FF"/>
                </a:solidFill>
                <a:latin typeface="Lexend" pitchFamily="34" charset="0"/>
                <a:ea typeface="Lexend" pitchFamily="34" charset="-122"/>
                <a:cs typeface="Lexend" pitchFamily="34" charset="-120"/>
              </a:rPr>
              <a:t>start</a:t>
            </a:r>
            <a:r>
              <a:rPr lang="es-ES" dirty="0">
                <a:solidFill>
                  <a:srgbClr val="E6E9FF"/>
                </a:solidFill>
                <a:latin typeface="Lexend" pitchFamily="34" charset="0"/>
                <a:ea typeface="Lexend" pitchFamily="34" charset="-122"/>
                <a:cs typeface="Lexend" pitchFamily="34" charset="-120"/>
              </a:rPr>
              <a:t>()</a:t>
            </a:r>
          </a:p>
          <a:p>
            <a:pPr>
              <a:lnSpc>
                <a:spcPct val="85000"/>
              </a:lnSpc>
            </a:pPr>
            <a:endParaRPr lang="es-ES" dirty="0">
              <a:solidFill>
                <a:srgbClr val="E6E9FF"/>
              </a:solidFill>
              <a:latin typeface="Lexend" pitchFamily="34" charset="0"/>
              <a:ea typeface="Lexend" pitchFamily="34" charset="-122"/>
              <a:cs typeface="Lexend" pitchFamily="34" charset="-120"/>
            </a:endParaRPr>
          </a:p>
          <a:p>
            <a:pPr>
              <a:lnSpc>
                <a:spcPct val="85000"/>
              </a:lnSpc>
            </a:pPr>
            <a:r>
              <a:rPr lang="es-ES" dirty="0">
                <a:solidFill>
                  <a:srgbClr val="E6E9FF"/>
                </a:solidFill>
                <a:latin typeface="Lexend" pitchFamily="34" charset="0"/>
                <a:ea typeface="Lexend" pitchFamily="34" charset="-122"/>
                <a:cs typeface="Lexend" pitchFamily="34" charset="-120"/>
              </a:rPr>
              <a:t>RUNNABLE</a:t>
            </a:r>
          </a:p>
          <a:p>
            <a:pPr>
              <a:lnSpc>
                <a:spcPct val="85000"/>
              </a:lnSpc>
            </a:pPr>
            <a:r>
              <a:rPr lang="es-ES" dirty="0">
                <a:solidFill>
                  <a:srgbClr val="E6E9FF"/>
                </a:solidFill>
                <a:latin typeface="Lexend" pitchFamily="34" charset="0"/>
                <a:ea typeface="Lexend" pitchFamily="34" charset="-122"/>
                <a:cs typeface="Lexend" pitchFamily="34" charset="-120"/>
              </a:rPr>
              <a:t>El hilo está preparado para ejecutarse.</a:t>
            </a:r>
          </a:p>
          <a:p>
            <a:pPr>
              <a:lnSpc>
                <a:spcPct val="85000"/>
              </a:lnSpc>
            </a:pPr>
            <a:r>
              <a:rPr lang="es-ES" dirty="0">
                <a:solidFill>
                  <a:srgbClr val="E6E9FF"/>
                </a:solidFill>
                <a:latin typeface="Lexend" pitchFamily="34" charset="0"/>
                <a:ea typeface="Lexend" pitchFamily="34" charset="-122"/>
                <a:cs typeface="Lexend" pitchFamily="34" charset="-120"/>
              </a:rPr>
              <a:t>La JVM decidirá cuándo utilizar la CPU.</a:t>
            </a:r>
          </a:p>
          <a:p>
            <a:pPr>
              <a:lnSpc>
                <a:spcPct val="85000"/>
              </a:lnSpc>
            </a:pPr>
            <a:endParaRPr lang="es-ES" dirty="0">
              <a:solidFill>
                <a:srgbClr val="E6E9FF"/>
              </a:solidFill>
              <a:latin typeface="Lexend" pitchFamily="34" charset="0"/>
              <a:ea typeface="Lexend" pitchFamily="34" charset="-122"/>
              <a:cs typeface="Lexend" pitchFamily="34" charset="-120"/>
            </a:endParaRPr>
          </a:p>
          <a:p>
            <a:pPr>
              <a:lnSpc>
                <a:spcPct val="85000"/>
              </a:lnSpc>
            </a:pPr>
            <a:r>
              <a:rPr lang="es-ES" dirty="0">
                <a:solidFill>
                  <a:srgbClr val="E6E9FF"/>
                </a:solidFill>
                <a:latin typeface="Lexend" pitchFamily="34" charset="0"/>
                <a:ea typeface="Lexend" pitchFamily="34" charset="-122"/>
                <a:cs typeface="Lexend" pitchFamily="34" charset="-120"/>
              </a:rPr>
              <a:t>WAITING</a:t>
            </a:r>
          </a:p>
          <a:p>
            <a:pPr>
              <a:lnSpc>
                <a:spcPct val="85000"/>
              </a:lnSpc>
            </a:pPr>
            <a:r>
              <a:rPr lang="es-ES" dirty="0">
                <a:solidFill>
                  <a:srgbClr val="E6E9FF"/>
                </a:solidFill>
                <a:latin typeface="Lexend" pitchFamily="34" charset="0"/>
                <a:ea typeface="Lexend" pitchFamily="34" charset="-122"/>
                <a:cs typeface="Lexend" pitchFamily="34" charset="-120"/>
              </a:rPr>
              <a:t>El hilo espera indefinidamente a que ocurra algo.</a:t>
            </a:r>
          </a:p>
          <a:p>
            <a:pPr>
              <a:lnSpc>
                <a:spcPct val="85000"/>
              </a:lnSpc>
            </a:pPr>
            <a:r>
              <a:rPr lang="es-ES" dirty="0">
                <a:solidFill>
                  <a:srgbClr val="E6E9FF"/>
                </a:solidFill>
                <a:latin typeface="Lexend" pitchFamily="34" charset="0"/>
                <a:ea typeface="Lexend" pitchFamily="34" charset="-122"/>
                <a:cs typeface="Lexend" pitchFamily="34" charset="-120"/>
              </a:rPr>
              <a:t>TIMED WAITING</a:t>
            </a:r>
          </a:p>
          <a:p>
            <a:pPr>
              <a:lnSpc>
                <a:spcPct val="85000"/>
              </a:lnSpc>
            </a:pPr>
            <a:endParaRPr lang="es-ES" dirty="0">
              <a:solidFill>
                <a:srgbClr val="E6E9FF"/>
              </a:solidFill>
              <a:latin typeface="Lexend" pitchFamily="34" charset="0"/>
              <a:ea typeface="Lexend" pitchFamily="34" charset="-122"/>
              <a:cs typeface="Lexend" pitchFamily="34" charset="-120"/>
            </a:endParaRPr>
          </a:p>
          <a:p>
            <a:pPr>
              <a:lnSpc>
                <a:spcPct val="85000"/>
              </a:lnSpc>
            </a:pPr>
            <a:r>
              <a:rPr lang="es-ES" dirty="0">
                <a:solidFill>
                  <a:srgbClr val="E6E9FF"/>
                </a:solidFill>
                <a:latin typeface="Lexend" pitchFamily="34" charset="0"/>
                <a:ea typeface="Lexend" pitchFamily="34" charset="-122"/>
                <a:cs typeface="Lexend" pitchFamily="34" charset="-120"/>
              </a:rPr>
              <a:t>El hilo espera durante un tiempo determinado.</a:t>
            </a:r>
          </a:p>
          <a:p>
            <a:pPr>
              <a:lnSpc>
                <a:spcPct val="85000"/>
              </a:lnSpc>
            </a:pPr>
            <a:endParaRPr lang="es-ES" dirty="0">
              <a:solidFill>
                <a:srgbClr val="E6E9FF"/>
              </a:solidFill>
              <a:latin typeface="Lexend" pitchFamily="34" charset="0"/>
              <a:ea typeface="Lexend" pitchFamily="34" charset="-122"/>
              <a:cs typeface="Lexend" pitchFamily="34" charset="-120"/>
            </a:endParaRPr>
          </a:p>
          <a:p>
            <a:pPr>
              <a:lnSpc>
                <a:spcPct val="85000"/>
              </a:lnSpc>
            </a:pPr>
            <a:r>
              <a:rPr lang="es-ES" dirty="0">
                <a:solidFill>
                  <a:srgbClr val="E6E9FF"/>
                </a:solidFill>
                <a:latin typeface="Lexend" pitchFamily="34" charset="0"/>
                <a:ea typeface="Lexend" pitchFamily="34" charset="-122"/>
                <a:cs typeface="Lexend" pitchFamily="34" charset="-120"/>
              </a:rPr>
              <a:t>TERMINATED</a:t>
            </a:r>
          </a:p>
          <a:p>
            <a:pPr>
              <a:lnSpc>
                <a:spcPct val="85000"/>
              </a:lnSpc>
            </a:pPr>
            <a:r>
              <a:rPr lang="es-ES" dirty="0">
                <a:solidFill>
                  <a:srgbClr val="E6E9FF"/>
                </a:solidFill>
                <a:latin typeface="Lexend" pitchFamily="34" charset="0"/>
                <a:ea typeface="Lexend" pitchFamily="34" charset="-122"/>
                <a:cs typeface="Lexend" pitchFamily="34" charset="-120"/>
              </a:rPr>
              <a:t>El método run() ha finalizado.</a:t>
            </a:r>
          </a:p>
        </p:txBody>
      </p:sp>
    </p:spTree>
    <p:extLst>
      <p:ext uri="{BB962C8B-B14F-4D97-AF65-F5344CB8AC3E}">
        <p14:creationId xmlns:p14="http://schemas.microsoft.com/office/powerpoint/2010/main" val="752390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405408"/>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Cambio de estado de un hilo</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1267750"/>
            <a:ext cx="10904160" cy="4539704"/>
          </a:xfrm>
          <a:prstGeom prst="rect">
            <a:avLst/>
          </a:prstGeom>
        </p:spPr>
        <p:txBody>
          <a:bodyPr wrap="square">
            <a:spAutoFit/>
          </a:bodyPr>
          <a:lstStyle/>
          <a:p>
            <a:pPr>
              <a:lnSpc>
                <a:spcPct val="85000"/>
              </a:lnSpc>
            </a:pPr>
            <a:r>
              <a:rPr lang="es-ES" sz="2000" dirty="0">
                <a:solidFill>
                  <a:srgbClr val="E6E9FF"/>
                </a:solidFill>
                <a:latin typeface="Lexend" pitchFamily="34" charset="0"/>
                <a:ea typeface="Lexend" pitchFamily="34" charset="-122"/>
                <a:cs typeface="Lexend" pitchFamily="34" charset="-120"/>
              </a:rPr>
              <a:t>Creación</a:t>
            </a:r>
          </a:p>
          <a:p>
            <a:pPr>
              <a:lnSpc>
                <a:spcPct val="85000"/>
              </a:lnSpc>
            </a:pPr>
            <a:r>
              <a:rPr lang="es-ES" sz="2000" dirty="0" err="1">
                <a:solidFill>
                  <a:srgbClr val="E6E9FF"/>
                </a:solidFill>
                <a:latin typeface="Lexend" pitchFamily="34" charset="0"/>
                <a:ea typeface="Lexend" pitchFamily="34" charset="-122"/>
                <a:cs typeface="Lexend" pitchFamily="34" charset="-120"/>
              </a:rPr>
              <a:t>Thread</a:t>
            </a:r>
            <a:r>
              <a:rPr lang="es-ES" sz="2000" dirty="0">
                <a:solidFill>
                  <a:srgbClr val="E6E9FF"/>
                </a:solidFill>
                <a:latin typeface="Lexend" pitchFamily="34" charset="0"/>
                <a:ea typeface="Lexend" pitchFamily="34" charset="-122"/>
                <a:cs typeface="Lexend" pitchFamily="34" charset="-120"/>
              </a:rPr>
              <a:t> hilo = new </a:t>
            </a:r>
            <a:r>
              <a:rPr lang="es-ES" sz="2000" dirty="0" err="1">
                <a:solidFill>
                  <a:srgbClr val="E6E9FF"/>
                </a:solidFill>
                <a:latin typeface="Lexend" pitchFamily="34" charset="0"/>
                <a:ea typeface="Lexend" pitchFamily="34" charset="-122"/>
                <a:cs typeface="Lexend" pitchFamily="34" charset="-120"/>
              </a:rPr>
              <a:t>Thread</a:t>
            </a:r>
            <a:r>
              <a:rPr lang="es-ES" sz="2000" dirty="0">
                <a:solidFill>
                  <a:srgbClr val="E6E9FF"/>
                </a:solidFill>
                <a:latin typeface="Lexend" pitchFamily="34" charset="0"/>
                <a:ea typeface="Lexend" pitchFamily="34" charset="-122"/>
                <a:cs typeface="Lexend" pitchFamily="34" charset="-120"/>
              </a:rPr>
              <a:t>(tarea);</a:t>
            </a:r>
          </a:p>
          <a:p>
            <a:pPr>
              <a:lnSpc>
                <a:spcPct val="85000"/>
              </a:lnSpc>
            </a:pPr>
            <a:r>
              <a:rPr lang="es-ES" sz="2000" dirty="0">
                <a:solidFill>
                  <a:srgbClr val="E6E9FF"/>
                </a:solidFill>
                <a:latin typeface="Lexend" pitchFamily="34" charset="0"/>
                <a:ea typeface="Lexend" pitchFamily="34" charset="-122"/>
                <a:cs typeface="Lexend" pitchFamily="34" charset="-120"/>
              </a:rPr>
              <a:t>Estado: NEW</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Inicio</a:t>
            </a:r>
          </a:p>
          <a:p>
            <a:pPr>
              <a:lnSpc>
                <a:spcPct val="85000"/>
              </a:lnSpc>
            </a:pPr>
            <a:r>
              <a:rPr lang="es-ES" sz="2000" dirty="0" err="1">
                <a:solidFill>
                  <a:srgbClr val="E6E9FF"/>
                </a:solidFill>
                <a:latin typeface="Lexend" pitchFamily="34" charset="0"/>
                <a:ea typeface="Lexend" pitchFamily="34" charset="-122"/>
                <a:cs typeface="Lexend" pitchFamily="34" charset="-120"/>
              </a:rPr>
              <a:t>hilo.start</a:t>
            </a:r>
            <a:r>
              <a:rPr lang="es-ES" sz="2000" dirty="0">
                <a:solidFill>
                  <a:srgbClr val="E6E9FF"/>
                </a:solidFill>
                <a:latin typeface="Lexend" pitchFamily="34" charset="0"/>
                <a:ea typeface="Lexend" pitchFamily="34" charset="-122"/>
                <a:cs typeface="Lexend" pitchFamily="34" charset="-120"/>
              </a:rPr>
              <a:t>();</a:t>
            </a:r>
          </a:p>
          <a:p>
            <a:pPr>
              <a:lnSpc>
                <a:spcPct val="85000"/>
              </a:lnSpc>
            </a:pPr>
            <a:r>
              <a:rPr lang="es-ES" sz="2000" dirty="0" err="1">
                <a:solidFill>
                  <a:srgbClr val="E6E9FF"/>
                </a:solidFill>
                <a:latin typeface="Lexend" pitchFamily="34" charset="0"/>
                <a:ea typeface="Lexend" pitchFamily="34" charset="-122"/>
                <a:cs typeface="Lexend" pitchFamily="34" charset="-120"/>
              </a:rPr>
              <a:t>Estado:RUNNABLE</a:t>
            </a:r>
            <a:endParaRPr lang="es-ES" sz="2000" dirty="0">
              <a:solidFill>
                <a:srgbClr val="E6E9FF"/>
              </a:solidFill>
              <a:latin typeface="Lexend" pitchFamily="34" charset="0"/>
              <a:ea typeface="Lexend" pitchFamily="34" charset="-122"/>
              <a:cs typeface="Lexend" pitchFamily="34" charset="-120"/>
            </a:endParaRP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Espera temporal</a:t>
            </a:r>
          </a:p>
          <a:p>
            <a:pPr>
              <a:lnSpc>
                <a:spcPct val="85000"/>
              </a:lnSpc>
            </a:pPr>
            <a:r>
              <a:rPr lang="es-ES" sz="2000" dirty="0" err="1">
                <a:solidFill>
                  <a:srgbClr val="E6E9FF"/>
                </a:solidFill>
                <a:latin typeface="Lexend" pitchFamily="34" charset="0"/>
                <a:ea typeface="Lexend" pitchFamily="34" charset="-122"/>
                <a:cs typeface="Lexend" pitchFamily="34" charset="-120"/>
              </a:rPr>
              <a:t>Thread.sleep</a:t>
            </a:r>
            <a:r>
              <a:rPr lang="es-ES" sz="2000" dirty="0">
                <a:solidFill>
                  <a:srgbClr val="E6E9FF"/>
                </a:solidFill>
                <a:latin typeface="Lexend" pitchFamily="34" charset="0"/>
                <a:ea typeface="Lexend" pitchFamily="34" charset="-122"/>
                <a:cs typeface="Lexend" pitchFamily="34" charset="-120"/>
              </a:rPr>
              <a:t>(3000);</a:t>
            </a:r>
          </a:p>
          <a:p>
            <a:pPr>
              <a:lnSpc>
                <a:spcPct val="85000"/>
              </a:lnSpc>
            </a:pPr>
            <a:r>
              <a:rPr lang="es-ES" sz="2000" dirty="0" err="1">
                <a:solidFill>
                  <a:srgbClr val="E6E9FF"/>
                </a:solidFill>
                <a:latin typeface="Lexend" pitchFamily="34" charset="0"/>
                <a:ea typeface="Lexend" pitchFamily="34" charset="-122"/>
                <a:cs typeface="Lexend" pitchFamily="34" charset="-120"/>
              </a:rPr>
              <a:t>Estado:TIMED</a:t>
            </a:r>
            <a:r>
              <a:rPr lang="es-ES" sz="2000" dirty="0">
                <a:solidFill>
                  <a:srgbClr val="E6E9FF"/>
                </a:solidFill>
                <a:latin typeface="Lexend" pitchFamily="34" charset="0"/>
                <a:ea typeface="Lexend" pitchFamily="34" charset="-122"/>
                <a:cs typeface="Lexend" pitchFamily="34" charset="-120"/>
              </a:rPr>
              <a:t> WAITING</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Finalización</a:t>
            </a:r>
          </a:p>
          <a:p>
            <a:pPr>
              <a:lnSpc>
                <a:spcPct val="85000"/>
              </a:lnSpc>
            </a:pPr>
            <a:r>
              <a:rPr lang="es-ES" sz="2000" dirty="0">
                <a:solidFill>
                  <a:srgbClr val="E6E9FF"/>
                </a:solidFill>
                <a:latin typeface="Lexend" pitchFamily="34" charset="0"/>
                <a:ea typeface="Lexend" pitchFamily="34" charset="-122"/>
                <a:cs typeface="Lexend" pitchFamily="34" charset="-120"/>
              </a:rPr>
              <a:t>Cuando termina run()</a:t>
            </a:r>
          </a:p>
          <a:p>
            <a:pPr>
              <a:lnSpc>
                <a:spcPct val="85000"/>
              </a:lnSpc>
            </a:pPr>
            <a:r>
              <a:rPr lang="es-ES" sz="2000" dirty="0">
                <a:solidFill>
                  <a:srgbClr val="E6E9FF"/>
                </a:solidFill>
                <a:latin typeface="Lexend" pitchFamily="34" charset="0"/>
                <a:ea typeface="Lexend" pitchFamily="34" charset="-122"/>
                <a:cs typeface="Lexend" pitchFamily="34" charset="-120"/>
              </a:rPr>
              <a:t>Estado: TERMINATED</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Idea </a:t>
            </a:r>
            <a:r>
              <a:rPr lang="es-ES" sz="2000" dirty="0" err="1">
                <a:solidFill>
                  <a:srgbClr val="E6E9FF"/>
                </a:solidFill>
                <a:latin typeface="Lexend" pitchFamily="34" charset="0"/>
                <a:ea typeface="Lexend" pitchFamily="34" charset="-122"/>
                <a:cs typeface="Lexend" pitchFamily="34" charset="-120"/>
              </a:rPr>
              <a:t>claveUn</a:t>
            </a:r>
            <a:r>
              <a:rPr lang="es-ES" sz="2000" dirty="0">
                <a:solidFill>
                  <a:srgbClr val="E6E9FF"/>
                </a:solidFill>
                <a:latin typeface="Lexend" pitchFamily="34" charset="0"/>
                <a:ea typeface="Lexend" pitchFamily="34" charset="-122"/>
                <a:cs typeface="Lexend" pitchFamily="34" charset="-120"/>
              </a:rPr>
              <a:t> hilo cambia de estado continuamente durante su ejecución</a:t>
            </a:r>
            <a:r>
              <a:rPr lang="es-ES" sz="1900" dirty="0">
                <a:solidFill>
                  <a:srgbClr val="E6E9FF"/>
                </a:solidFill>
                <a:latin typeface="Lexend" pitchFamily="34" charset="0"/>
                <a:ea typeface="Lexend" pitchFamily="34" charset="-122"/>
                <a:cs typeface="Lexend" pitchFamily="34" charset="-120"/>
              </a:rPr>
              <a:t>.</a:t>
            </a:r>
            <a:endParaRPr lang="es-ES" dirty="0">
              <a:solidFill>
                <a:srgbClr val="E6E9FF"/>
              </a:solidFill>
              <a:latin typeface="Lexend" pitchFamily="34" charset="0"/>
              <a:ea typeface="Lexend" pitchFamily="34" charset="-122"/>
              <a:cs typeface="Lexend" pitchFamily="34" charset="-120"/>
            </a:endParaRPr>
          </a:p>
        </p:txBody>
      </p:sp>
    </p:spTree>
    <p:extLst>
      <p:ext uri="{BB962C8B-B14F-4D97-AF65-F5344CB8AC3E}">
        <p14:creationId xmlns:p14="http://schemas.microsoft.com/office/powerpoint/2010/main" val="989694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405408"/>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Pausando la ejecución de un hilo</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1267750"/>
            <a:ext cx="10904160" cy="4016484"/>
          </a:xfrm>
          <a:prstGeom prst="rect">
            <a:avLst/>
          </a:prstGeom>
        </p:spPr>
        <p:txBody>
          <a:bodyPr wrap="square">
            <a:spAutoFit/>
          </a:bodyPr>
          <a:lstStyle/>
          <a:p>
            <a:pPr>
              <a:lnSpc>
                <a:spcPct val="85000"/>
              </a:lnSpc>
            </a:pPr>
            <a:r>
              <a:rPr lang="es-ES" sz="2000" dirty="0">
                <a:solidFill>
                  <a:srgbClr val="E6E9FF"/>
                </a:solidFill>
                <a:latin typeface="Lexend" pitchFamily="34" charset="0"/>
                <a:ea typeface="Lexend" pitchFamily="34" charset="-122"/>
                <a:cs typeface="Lexend" pitchFamily="34" charset="-120"/>
              </a:rPr>
              <a:t>¿Qué hace?</a:t>
            </a:r>
          </a:p>
          <a:p>
            <a:pPr>
              <a:lnSpc>
                <a:spcPct val="85000"/>
              </a:lnSpc>
            </a:pPr>
            <a:r>
              <a:rPr lang="es-ES" sz="2000" dirty="0">
                <a:solidFill>
                  <a:srgbClr val="E6E9FF"/>
                </a:solidFill>
                <a:latin typeface="Lexend" pitchFamily="34" charset="0"/>
                <a:ea typeface="Lexend" pitchFamily="34" charset="-122"/>
                <a:cs typeface="Lexend" pitchFamily="34" charset="-120"/>
              </a:rPr>
              <a:t>Permite suspender temporalmente la ejecución de un hilo.</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Permite suspender temporalmente la ejecución de un hilo.</a:t>
            </a:r>
          </a:p>
          <a:p>
            <a:pPr>
              <a:lnSpc>
                <a:spcPct val="85000"/>
              </a:lnSpc>
            </a:pPr>
            <a:r>
              <a:rPr lang="es-ES" sz="2000" dirty="0" err="1">
                <a:solidFill>
                  <a:srgbClr val="E6E9FF"/>
                </a:solidFill>
                <a:latin typeface="Lexend" pitchFamily="34" charset="0"/>
                <a:ea typeface="Lexend" pitchFamily="34" charset="-122"/>
                <a:cs typeface="Lexend" pitchFamily="34" charset="-120"/>
              </a:rPr>
              <a:t>Thread.sleep</a:t>
            </a:r>
            <a:r>
              <a:rPr lang="es-ES" sz="2000" dirty="0">
                <a:solidFill>
                  <a:srgbClr val="E6E9FF"/>
                </a:solidFill>
                <a:latin typeface="Lexend" pitchFamily="34" charset="0"/>
                <a:ea typeface="Lexend" pitchFamily="34" charset="-122"/>
                <a:cs typeface="Lexend" pitchFamily="34" charset="-120"/>
              </a:rPr>
              <a:t>(3000);</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El hilo permanece detenido durante 3 segundos.</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Usos habituales</a:t>
            </a:r>
          </a:p>
          <a:p>
            <a:pPr marL="342900" indent="-342900">
              <a:lnSpc>
                <a:spcPct val="85000"/>
              </a:lnSpc>
              <a:buFont typeface="Arial" panose="020B0604020202020204" pitchFamily="34" charset="0"/>
              <a:buChar char="•"/>
            </a:pPr>
            <a:r>
              <a:rPr lang="es-ES" sz="2000" dirty="0">
                <a:solidFill>
                  <a:srgbClr val="E6E9FF"/>
                </a:solidFill>
                <a:latin typeface="Lexend" pitchFamily="34" charset="0"/>
                <a:ea typeface="Lexend" pitchFamily="34" charset="-122"/>
                <a:cs typeface="Lexend" pitchFamily="34" charset="-120"/>
              </a:rPr>
              <a:t>Simular tareas largas.</a:t>
            </a:r>
          </a:p>
          <a:p>
            <a:pPr marL="342900" indent="-342900">
              <a:lnSpc>
                <a:spcPct val="85000"/>
              </a:lnSpc>
              <a:buFont typeface="Arial" panose="020B0604020202020204" pitchFamily="34" charset="0"/>
              <a:buChar char="•"/>
            </a:pPr>
            <a:r>
              <a:rPr lang="es-ES" sz="2000" dirty="0">
                <a:solidFill>
                  <a:srgbClr val="E6E9FF"/>
                </a:solidFill>
                <a:latin typeface="Lexend" pitchFamily="34" charset="0"/>
                <a:ea typeface="Lexend" pitchFamily="34" charset="-122"/>
                <a:cs typeface="Lexend" pitchFamily="34" charset="-120"/>
              </a:rPr>
              <a:t>Introducir retrasos controlados.</a:t>
            </a:r>
          </a:p>
          <a:p>
            <a:pPr marL="342900" indent="-342900">
              <a:lnSpc>
                <a:spcPct val="85000"/>
              </a:lnSpc>
              <a:buFont typeface="Arial" panose="020B0604020202020204" pitchFamily="34" charset="0"/>
              <a:buChar char="•"/>
            </a:pPr>
            <a:r>
              <a:rPr lang="es-ES" sz="2000" dirty="0">
                <a:solidFill>
                  <a:srgbClr val="E6E9FF"/>
                </a:solidFill>
                <a:latin typeface="Lexend" pitchFamily="34" charset="0"/>
                <a:ea typeface="Lexend" pitchFamily="34" charset="-122"/>
                <a:cs typeface="Lexend" pitchFamily="34" charset="-120"/>
              </a:rPr>
              <a:t>Realizar pruebas y depuración.</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Importante</a:t>
            </a:r>
          </a:p>
          <a:p>
            <a:pPr>
              <a:lnSpc>
                <a:spcPct val="85000"/>
              </a:lnSpc>
            </a:pPr>
            <a:r>
              <a:rPr lang="es-ES" sz="2000" dirty="0">
                <a:solidFill>
                  <a:srgbClr val="E6E9FF"/>
                </a:solidFill>
                <a:latin typeface="Lexend" pitchFamily="34" charset="0"/>
                <a:ea typeface="Lexend" pitchFamily="34" charset="-122"/>
                <a:cs typeface="Lexend" pitchFamily="34" charset="-120"/>
              </a:rPr>
              <a:t>Mientras un hilo está dormido, los demás pueden seguir ejecutándose.</a:t>
            </a:r>
          </a:p>
        </p:txBody>
      </p:sp>
    </p:spTree>
    <p:extLst>
      <p:ext uri="{BB962C8B-B14F-4D97-AF65-F5344CB8AC3E}">
        <p14:creationId xmlns:p14="http://schemas.microsoft.com/office/powerpoint/2010/main" val="4267471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405408"/>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Esperando a que termine un hilo</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1267750"/>
            <a:ext cx="10904160" cy="4801314"/>
          </a:xfrm>
          <a:prstGeom prst="rect">
            <a:avLst/>
          </a:prstGeom>
        </p:spPr>
        <p:txBody>
          <a:bodyPr wrap="square">
            <a:spAutoFit/>
          </a:bodyPr>
          <a:lstStyle/>
          <a:p>
            <a:pPr>
              <a:lnSpc>
                <a:spcPct val="85000"/>
              </a:lnSpc>
            </a:pPr>
            <a:r>
              <a:rPr lang="es-ES" sz="2000" dirty="0">
                <a:solidFill>
                  <a:srgbClr val="E6E9FF"/>
                </a:solidFill>
                <a:latin typeface="Lexend" pitchFamily="34" charset="0"/>
                <a:ea typeface="Lexend" pitchFamily="34" charset="-122"/>
                <a:cs typeface="Lexend" pitchFamily="34" charset="-120"/>
              </a:rPr>
              <a:t>¿Qué hace?</a:t>
            </a:r>
          </a:p>
          <a:p>
            <a:pPr>
              <a:lnSpc>
                <a:spcPct val="85000"/>
              </a:lnSpc>
            </a:pPr>
            <a:r>
              <a:rPr lang="es-ES" sz="2000" dirty="0">
                <a:solidFill>
                  <a:srgbClr val="E6E9FF"/>
                </a:solidFill>
                <a:latin typeface="Lexend" pitchFamily="34" charset="0"/>
                <a:ea typeface="Lexend" pitchFamily="34" charset="-122"/>
                <a:cs typeface="Lexend" pitchFamily="34" charset="-120"/>
              </a:rPr>
              <a:t>Permite que un hilo espere a que otro termine su trabajo.</a:t>
            </a:r>
          </a:p>
          <a:p>
            <a:pPr>
              <a:lnSpc>
                <a:spcPct val="85000"/>
              </a:lnSpc>
            </a:pPr>
            <a:r>
              <a:rPr lang="es-ES" sz="2000" dirty="0" err="1">
                <a:solidFill>
                  <a:srgbClr val="E6E9FF"/>
                </a:solidFill>
                <a:latin typeface="Lexend" pitchFamily="34" charset="0"/>
                <a:ea typeface="Lexend" pitchFamily="34" charset="-122"/>
                <a:cs typeface="Lexend" pitchFamily="34" charset="-120"/>
              </a:rPr>
              <a:t>hilo.start</a:t>
            </a:r>
            <a:r>
              <a:rPr lang="es-ES" sz="2000" dirty="0">
                <a:solidFill>
                  <a:srgbClr val="E6E9FF"/>
                </a:solidFill>
                <a:latin typeface="Lexend" pitchFamily="34" charset="0"/>
                <a:ea typeface="Lexend" pitchFamily="34" charset="-122"/>
                <a:cs typeface="Lexend" pitchFamily="34" charset="-120"/>
              </a:rPr>
              <a:t>();</a:t>
            </a:r>
          </a:p>
          <a:p>
            <a:pPr>
              <a:lnSpc>
                <a:spcPct val="85000"/>
              </a:lnSpc>
            </a:pPr>
            <a:r>
              <a:rPr lang="es-ES" sz="2000" dirty="0" err="1">
                <a:solidFill>
                  <a:srgbClr val="E6E9FF"/>
                </a:solidFill>
                <a:latin typeface="Lexend" pitchFamily="34" charset="0"/>
                <a:ea typeface="Lexend" pitchFamily="34" charset="-122"/>
                <a:cs typeface="Lexend" pitchFamily="34" charset="-120"/>
              </a:rPr>
              <a:t>hilo.join</a:t>
            </a:r>
            <a:r>
              <a:rPr lang="es-ES" sz="2000" dirty="0">
                <a:solidFill>
                  <a:srgbClr val="E6E9FF"/>
                </a:solidFill>
                <a:latin typeface="Lexend" pitchFamily="34" charset="0"/>
                <a:ea typeface="Lexend" pitchFamily="34" charset="-122"/>
                <a:cs typeface="Lexend" pitchFamily="34" charset="-120"/>
              </a:rPr>
              <a:t>();</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El programa no continuará hasta que el hilo haya finalizado.</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Ejemplo</a:t>
            </a:r>
          </a:p>
          <a:p>
            <a:pPr>
              <a:lnSpc>
                <a:spcPct val="85000"/>
              </a:lnSpc>
            </a:pPr>
            <a:r>
              <a:rPr lang="es-ES" sz="2000" dirty="0">
                <a:solidFill>
                  <a:srgbClr val="E6E9FF"/>
                </a:solidFill>
                <a:latin typeface="Lexend" pitchFamily="34" charset="0"/>
                <a:ea typeface="Lexend" pitchFamily="34" charset="-122"/>
                <a:cs typeface="Lexend" pitchFamily="34" charset="-120"/>
              </a:rPr>
              <a:t>hilo1.start();</a:t>
            </a:r>
          </a:p>
          <a:p>
            <a:pPr>
              <a:lnSpc>
                <a:spcPct val="85000"/>
              </a:lnSpc>
            </a:pPr>
            <a:r>
              <a:rPr lang="es-ES" sz="2000" dirty="0">
                <a:solidFill>
                  <a:srgbClr val="E6E9FF"/>
                </a:solidFill>
                <a:latin typeface="Lexend" pitchFamily="34" charset="0"/>
                <a:ea typeface="Lexend" pitchFamily="34" charset="-122"/>
                <a:cs typeface="Lexend" pitchFamily="34" charset="-120"/>
              </a:rPr>
              <a:t>hilo2.start(); </a:t>
            </a:r>
          </a:p>
          <a:p>
            <a:pPr>
              <a:lnSpc>
                <a:spcPct val="85000"/>
              </a:lnSpc>
            </a:pPr>
            <a:r>
              <a:rPr lang="es-ES" sz="2000" dirty="0">
                <a:solidFill>
                  <a:srgbClr val="E6E9FF"/>
                </a:solidFill>
                <a:latin typeface="Lexend" pitchFamily="34" charset="0"/>
                <a:ea typeface="Lexend" pitchFamily="34" charset="-122"/>
                <a:cs typeface="Lexend" pitchFamily="34" charset="-120"/>
              </a:rPr>
              <a:t>hilo1.join();</a:t>
            </a:r>
          </a:p>
          <a:p>
            <a:pPr>
              <a:lnSpc>
                <a:spcPct val="85000"/>
              </a:lnSpc>
            </a:pPr>
            <a:r>
              <a:rPr lang="es-ES" sz="2000" dirty="0">
                <a:solidFill>
                  <a:srgbClr val="E6E9FF"/>
                </a:solidFill>
                <a:latin typeface="Lexend" pitchFamily="34" charset="0"/>
                <a:ea typeface="Lexend" pitchFamily="34" charset="-122"/>
                <a:cs typeface="Lexend" pitchFamily="34" charset="-120"/>
              </a:rPr>
              <a:t>hilo2.join();</a:t>
            </a:r>
          </a:p>
          <a:p>
            <a:pPr>
              <a:lnSpc>
                <a:spcPct val="85000"/>
              </a:lnSpc>
            </a:pPr>
            <a:r>
              <a:rPr lang="es-ES" sz="2000" dirty="0" err="1">
                <a:solidFill>
                  <a:srgbClr val="E6E9FF"/>
                </a:solidFill>
                <a:latin typeface="Lexend" pitchFamily="34" charset="0"/>
                <a:ea typeface="Lexend" pitchFamily="34" charset="-122"/>
                <a:cs typeface="Lexend" pitchFamily="34" charset="-120"/>
              </a:rPr>
              <a:t>System.out.println</a:t>
            </a:r>
            <a:r>
              <a:rPr lang="es-ES" sz="2000" dirty="0">
                <a:solidFill>
                  <a:srgbClr val="E6E9FF"/>
                </a:solidFill>
                <a:latin typeface="Lexend" pitchFamily="34" charset="0"/>
                <a:ea typeface="Lexend" pitchFamily="34" charset="-122"/>
                <a:cs typeface="Lexend" pitchFamily="34" charset="-120"/>
              </a:rPr>
              <a:t>("Todos los hilos han terminado");</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Importante</a:t>
            </a:r>
          </a:p>
          <a:p>
            <a:pPr>
              <a:lnSpc>
                <a:spcPct val="85000"/>
              </a:lnSpc>
            </a:pPr>
            <a:r>
              <a:rPr lang="es-ES" sz="2000" dirty="0" err="1">
                <a:solidFill>
                  <a:srgbClr val="E6E9FF"/>
                </a:solidFill>
                <a:latin typeface="Lexend" pitchFamily="34" charset="0"/>
                <a:ea typeface="Lexend" pitchFamily="34" charset="-122"/>
                <a:cs typeface="Lexend" pitchFamily="34" charset="-120"/>
              </a:rPr>
              <a:t>join</a:t>
            </a:r>
            <a:r>
              <a:rPr lang="es-ES" sz="2000" dirty="0">
                <a:solidFill>
                  <a:srgbClr val="E6E9FF"/>
                </a:solidFill>
                <a:latin typeface="Lexend" pitchFamily="34" charset="0"/>
                <a:ea typeface="Lexend" pitchFamily="34" charset="-122"/>
                <a:cs typeface="Lexend" pitchFamily="34" charset="-120"/>
              </a:rPr>
              <a:t>() no sincroniza datos.</a:t>
            </a:r>
          </a:p>
          <a:p>
            <a:pPr>
              <a:lnSpc>
                <a:spcPct val="85000"/>
              </a:lnSpc>
            </a:pPr>
            <a:r>
              <a:rPr lang="es-ES" sz="2000" dirty="0">
                <a:solidFill>
                  <a:srgbClr val="E6E9FF"/>
                </a:solidFill>
                <a:latin typeface="Lexend" pitchFamily="34" charset="0"/>
                <a:ea typeface="Lexend" pitchFamily="34" charset="-122"/>
                <a:cs typeface="Lexend" pitchFamily="34" charset="-120"/>
              </a:rPr>
              <a:t>Solo espera a que un hilo finalice. </a:t>
            </a:r>
          </a:p>
          <a:p>
            <a:pPr>
              <a:lnSpc>
                <a:spcPct val="85000"/>
              </a:lnSpc>
            </a:pPr>
            <a:r>
              <a:rPr lang="es-ES" sz="2000" dirty="0">
                <a:solidFill>
                  <a:srgbClr val="E6E9FF"/>
                </a:solidFill>
                <a:latin typeface="Lexend" pitchFamily="34" charset="0"/>
                <a:ea typeface="Lexend" pitchFamily="34" charset="-122"/>
                <a:cs typeface="Lexend" pitchFamily="34" charset="-120"/>
              </a:rPr>
              <a:t>El mensaje solo aparecerá cuando hilo1 y 2 terminen.</a:t>
            </a:r>
          </a:p>
        </p:txBody>
      </p:sp>
    </p:spTree>
    <p:extLst>
      <p:ext uri="{BB962C8B-B14F-4D97-AF65-F5344CB8AC3E}">
        <p14:creationId xmlns:p14="http://schemas.microsoft.com/office/powerpoint/2010/main" val="1206744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405408"/>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¿Sigue ejecutándose el hilo?</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1267750"/>
            <a:ext cx="10904160" cy="3231654"/>
          </a:xfrm>
          <a:prstGeom prst="rect">
            <a:avLst/>
          </a:prstGeom>
        </p:spPr>
        <p:txBody>
          <a:bodyPr wrap="square">
            <a:spAutoFit/>
          </a:bodyPr>
          <a:lstStyle/>
          <a:p>
            <a:pPr>
              <a:lnSpc>
                <a:spcPct val="85000"/>
              </a:lnSpc>
            </a:pPr>
            <a:r>
              <a:rPr lang="es-ES" sz="2000" dirty="0">
                <a:solidFill>
                  <a:srgbClr val="E6E9FF"/>
                </a:solidFill>
                <a:latin typeface="Lexend" pitchFamily="34" charset="0"/>
                <a:ea typeface="Lexend" pitchFamily="34" charset="-122"/>
                <a:cs typeface="Lexend" pitchFamily="34" charset="-120"/>
              </a:rPr>
              <a:t>Permite comprobar si un hilo continúa activo.</a:t>
            </a:r>
          </a:p>
          <a:p>
            <a:pPr>
              <a:lnSpc>
                <a:spcPct val="85000"/>
              </a:lnSpc>
            </a:pPr>
            <a:r>
              <a:rPr lang="es-ES" sz="2000" dirty="0" err="1">
                <a:solidFill>
                  <a:srgbClr val="E6E9FF"/>
                </a:solidFill>
                <a:latin typeface="Lexend" pitchFamily="34" charset="0"/>
                <a:ea typeface="Lexend" pitchFamily="34" charset="-122"/>
                <a:cs typeface="Lexend" pitchFamily="34" charset="-120"/>
              </a:rPr>
              <a:t>hilo.isAlive</a:t>
            </a:r>
            <a:r>
              <a:rPr lang="es-ES" sz="2000" dirty="0">
                <a:solidFill>
                  <a:srgbClr val="E6E9FF"/>
                </a:solidFill>
                <a:latin typeface="Lexend" pitchFamily="34" charset="0"/>
                <a:ea typeface="Lexend" pitchFamily="34" charset="-122"/>
                <a:cs typeface="Lexend" pitchFamily="34" charset="-120"/>
              </a:rPr>
              <a:t>();</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Ejemplo</a:t>
            </a:r>
          </a:p>
          <a:p>
            <a:pPr>
              <a:lnSpc>
                <a:spcPct val="85000"/>
              </a:lnSpc>
            </a:pPr>
            <a:r>
              <a:rPr lang="es-ES" sz="2000" dirty="0" err="1">
                <a:solidFill>
                  <a:srgbClr val="E6E9FF"/>
                </a:solidFill>
                <a:latin typeface="Lexend" pitchFamily="34" charset="0"/>
                <a:ea typeface="Lexend" pitchFamily="34" charset="-122"/>
                <a:cs typeface="Lexend" pitchFamily="34" charset="-120"/>
              </a:rPr>
              <a:t>if</a:t>
            </a:r>
            <a:r>
              <a:rPr lang="es-ES" sz="2000" dirty="0">
                <a:solidFill>
                  <a:srgbClr val="E6E9FF"/>
                </a:solidFill>
                <a:latin typeface="Lexend" pitchFamily="34" charset="0"/>
                <a:ea typeface="Lexend" pitchFamily="34" charset="-122"/>
                <a:cs typeface="Lexend" pitchFamily="34" charset="-120"/>
              </a:rPr>
              <a:t> (</a:t>
            </a:r>
            <a:r>
              <a:rPr lang="es-ES" sz="2000" dirty="0" err="1">
                <a:solidFill>
                  <a:srgbClr val="E6E9FF"/>
                </a:solidFill>
                <a:latin typeface="Lexend" pitchFamily="34" charset="0"/>
                <a:ea typeface="Lexend" pitchFamily="34" charset="-122"/>
                <a:cs typeface="Lexend" pitchFamily="34" charset="-120"/>
              </a:rPr>
              <a:t>hilo.isAlive</a:t>
            </a:r>
            <a:r>
              <a:rPr lang="es-ES" sz="2000" dirty="0">
                <a:solidFill>
                  <a:srgbClr val="E6E9FF"/>
                </a:solidFill>
                <a:latin typeface="Lexend" pitchFamily="34" charset="0"/>
                <a:ea typeface="Lexend" pitchFamily="34" charset="-122"/>
                <a:cs typeface="Lexend" pitchFamily="34" charset="-120"/>
              </a:rPr>
              <a:t>()) {</a:t>
            </a:r>
            <a:r>
              <a:rPr lang="es-ES" sz="2000" dirty="0" err="1">
                <a:solidFill>
                  <a:srgbClr val="E6E9FF"/>
                </a:solidFill>
                <a:latin typeface="Lexend" pitchFamily="34" charset="0"/>
                <a:ea typeface="Lexend" pitchFamily="34" charset="-122"/>
                <a:cs typeface="Lexend" pitchFamily="34" charset="-120"/>
              </a:rPr>
              <a:t>System.out.println</a:t>
            </a:r>
            <a:r>
              <a:rPr lang="es-ES" sz="2000" dirty="0">
                <a:solidFill>
                  <a:srgbClr val="E6E9FF"/>
                </a:solidFill>
                <a:latin typeface="Lexend" pitchFamily="34" charset="0"/>
                <a:ea typeface="Lexend" pitchFamily="34" charset="-122"/>
                <a:cs typeface="Lexend" pitchFamily="34" charset="-120"/>
              </a:rPr>
              <a:t>("El hilo sigue trabajando");}</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Resultado</a:t>
            </a:r>
          </a:p>
          <a:p>
            <a:pPr>
              <a:lnSpc>
                <a:spcPct val="85000"/>
              </a:lnSpc>
            </a:pPr>
            <a:r>
              <a:rPr lang="es-ES" sz="2000" dirty="0">
                <a:solidFill>
                  <a:srgbClr val="E6E9FF"/>
                </a:solidFill>
                <a:latin typeface="Lexend" pitchFamily="34" charset="0"/>
                <a:ea typeface="Lexend" pitchFamily="34" charset="-122"/>
                <a:cs typeface="Lexend" pitchFamily="34" charset="-120"/>
              </a:rPr>
              <a:t>true → el hilo sigue ejecutándose.</a:t>
            </a:r>
          </a:p>
          <a:p>
            <a:pPr>
              <a:lnSpc>
                <a:spcPct val="85000"/>
              </a:lnSpc>
            </a:pPr>
            <a:r>
              <a:rPr lang="es-ES" sz="2000" dirty="0">
                <a:solidFill>
                  <a:srgbClr val="E6E9FF"/>
                </a:solidFill>
                <a:latin typeface="Lexend" pitchFamily="34" charset="0"/>
                <a:ea typeface="Lexend" pitchFamily="34" charset="-122"/>
                <a:cs typeface="Lexend" pitchFamily="34" charset="-120"/>
              </a:rPr>
              <a:t>false → el hilo ha terminado.</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Importante</a:t>
            </a:r>
          </a:p>
          <a:p>
            <a:pPr>
              <a:lnSpc>
                <a:spcPct val="85000"/>
              </a:lnSpc>
            </a:pPr>
            <a:r>
              <a:rPr lang="es-ES" sz="2000" dirty="0">
                <a:solidFill>
                  <a:srgbClr val="E6E9FF"/>
                </a:solidFill>
                <a:latin typeface="Lexend" pitchFamily="34" charset="0"/>
                <a:ea typeface="Lexend" pitchFamily="34" charset="-122"/>
                <a:cs typeface="Lexend" pitchFamily="34" charset="-120"/>
              </a:rPr>
              <a:t>Resulta útil para supervisar el estado de ejecución de un hilo.</a:t>
            </a:r>
          </a:p>
        </p:txBody>
      </p:sp>
    </p:spTree>
    <p:extLst>
      <p:ext uri="{BB962C8B-B14F-4D97-AF65-F5344CB8AC3E}">
        <p14:creationId xmlns:p14="http://schemas.microsoft.com/office/powerpoint/2010/main" val="1436688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85" y="405408"/>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6. ¿En qué estado está?</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1267750"/>
            <a:ext cx="10904160" cy="3728713"/>
          </a:xfrm>
          <a:prstGeom prst="rect">
            <a:avLst/>
          </a:prstGeom>
        </p:spPr>
        <p:txBody>
          <a:bodyPr wrap="square">
            <a:spAutoFit/>
          </a:bodyPr>
          <a:lstStyle/>
          <a:p>
            <a:pPr>
              <a:lnSpc>
                <a:spcPct val="85000"/>
              </a:lnSpc>
            </a:pPr>
            <a:r>
              <a:rPr lang="es-ES" sz="2000" dirty="0">
                <a:solidFill>
                  <a:srgbClr val="E6E9FF"/>
                </a:solidFill>
                <a:latin typeface="Lexend" pitchFamily="34" charset="0"/>
                <a:ea typeface="Lexend" pitchFamily="34" charset="-122"/>
                <a:cs typeface="Lexend" pitchFamily="34" charset="-120"/>
              </a:rPr>
              <a:t>Observa el siguiente código e indica en qué estado se encuentra el hilo después de cada instrucción:</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err="1">
                <a:solidFill>
                  <a:srgbClr val="E6E9FF"/>
                </a:solidFill>
                <a:latin typeface="Lexend" pitchFamily="34" charset="0"/>
                <a:ea typeface="Lexend" pitchFamily="34" charset="-122"/>
                <a:cs typeface="Lexend" pitchFamily="34" charset="-120"/>
              </a:rPr>
              <a:t>Thread</a:t>
            </a:r>
            <a:r>
              <a:rPr lang="es-ES" sz="2000" dirty="0">
                <a:solidFill>
                  <a:srgbClr val="E6E9FF"/>
                </a:solidFill>
                <a:latin typeface="Lexend" pitchFamily="34" charset="0"/>
                <a:ea typeface="Lexend" pitchFamily="34" charset="-122"/>
                <a:cs typeface="Lexend" pitchFamily="34" charset="-120"/>
              </a:rPr>
              <a:t> hilo = new </a:t>
            </a:r>
            <a:r>
              <a:rPr lang="es-ES" sz="2000" dirty="0" err="1">
                <a:solidFill>
                  <a:srgbClr val="E6E9FF"/>
                </a:solidFill>
                <a:latin typeface="Lexend" pitchFamily="34" charset="0"/>
                <a:ea typeface="Lexend" pitchFamily="34" charset="-122"/>
                <a:cs typeface="Lexend" pitchFamily="34" charset="-120"/>
              </a:rPr>
              <a:t>Thread</a:t>
            </a:r>
            <a:r>
              <a:rPr lang="es-ES" sz="2000" dirty="0">
                <a:solidFill>
                  <a:srgbClr val="E6E9FF"/>
                </a:solidFill>
                <a:latin typeface="Lexend" pitchFamily="34" charset="0"/>
                <a:ea typeface="Lexend" pitchFamily="34" charset="-122"/>
                <a:cs typeface="Lexend" pitchFamily="34" charset="-120"/>
              </a:rPr>
              <a:t>(tarea);</a:t>
            </a:r>
          </a:p>
          <a:p>
            <a:pPr>
              <a:lnSpc>
                <a:spcPct val="85000"/>
              </a:lnSpc>
            </a:pPr>
            <a:r>
              <a:rPr lang="es-ES" sz="2000" dirty="0" err="1">
                <a:solidFill>
                  <a:srgbClr val="E6E9FF"/>
                </a:solidFill>
                <a:latin typeface="Lexend" pitchFamily="34" charset="0"/>
                <a:ea typeface="Lexend" pitchFamily="34" charset="-122"/>
                <a:cs typeface="Lexend" pitchFamily="34" charset="-120"/>
              </a:rPr>
              <a:t>hilo.start</a:t>
            </a:r>
            <a:r>
              <a:rPr lang="es-ES" sz="2000" dirty="0">
                <a:solidFill>
                  <a:srgbClr val="E6E9FF"/>
                </a:solidFill>
                <a:latin typeface="Lexend" pitchFamily="34" charset="0"/>
                <a:ea typeface="Lexend" pitchFamily="34" charset="-122"/>
                <a:cs typeface="Lexend" pitchFamily="34" charset="-120"/>
              </a:rPr>
              <a:t>(); </a:t>
            </a:r>
          </a:p>
          <a:p>
            <a:pPr>
              <a:lnSpc>
                <a:spcPct val="85000"/>
              </a:lnSpc>
            </a:pPr>
            <a:r>
              <a:rPr lang="es-ES" sz="2000" dirty="0" err="1">
                <a:solidFill>
                  <a:srgbClr val="E6E9FF"/>
                </a:solidFill>
                <a:latin typeface="Lexend" pitchFamily="34" charset="0"/>
                <a:ea typeface="Lexend" pitchFamily="34" charset="-122"/>
                <a:cs typeface="Lexend" pitchFamily="34" charset="-120"/>
              </a:rPr>
              <a:t>Thread.sleep</a:t>
            </a:r>
            <a:r>
              <a:rPr lang="es-ES" sz="2000" dirty="0">
                <a:solidFill>
                  <a:srgbClr val="E6E9FF"/>
                </a:solidFill>
                <a:latin typeface="Lexend" pitchFamily="34" charset="0"/>
                <a:ea typeface="Lexend" pitchFamily="34" charset="-122"/>
                <a:cs typeface="Lexend" pitchFamily="34" charset="-120"/>
              </a:rPr>
              <a:t>(1000);</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Cuestiones</a:t>
            </a:r>
          </a:p>
          <a:p>
            <a:pPr>
              <a:lnSpc>
                <a:spcPct val="85000"/>
              </a:lnSpc>
            </a:pPr>
            <a:r>
              <a:rPr lang="es-ES" sz="2000" dirty="0">
                <a:solidFill>
                  <a:srgbClr val="E6E9FF"/>
                </a:solidFill>
                <a:latin typeface="Lexend" pitchFamily="34" charset="0"/>
                <a:ea typeface="Lexend" pitchFamily="34" charset="-122"/>
                <a:cs typeface="Lexend" pitchFamily="34" charset="-120"/>
              </a:rPr>
              <a:t>¿Cuál es el estado inicial del hilo?</a:t>
            </a:r>
          </a:p>
          <a:p>
            <a:pPr>
              <a:lnSpc>
                <a:spcPct val="85000"/>
              </a:lnSpc>
            </a:pPr>
            <a:r>
              <a:rPr lang="es-ES" sz="2000" dirty="0">
                <a:solidFill>
                  <a:srgbClr val="E6E9FF"/>
                </a:solidFill>
                <a:latin typeface="Lexend" pitchFamily="34" charset="0"/>
                <a:ea typeface="Lexend" pitchFamily="34" charset="-122"/>
                <a:cs typeface="Lexend" pitchFamily="34" charset="-120"/>
              </a:rPr>
              <a:t>¿Qué ocurre tras llamar a </a:t>
            </a:r>
            <a:r>
              <a:rPr lang="es-ES" sz="2000" dirty="0" err="1">
                <a:solidFill>
                  <a:srgbClr val="E6E9FF"/>
                </a:solidFill>
                <a:latin typeface="Lexend" pitchFamily="34" charset="0"/>
                <a:ea typeface="Lexend" pitchFamily="34" charset="-122"/>
                <a:cs typeface="Lexend" pitchFamily="34" charset="-120"/>
              </a:rPr>
              <a:t>start</a:t>
            </a:r>
            <a:r>
              <a:rPr lang="es-ES" sz="2000" dirty="0">
                <a:solidFill>
                  <a:srgbClr val="E6E9FF"/>
                </a:solidFill>
                <a:latin typeface="Lexend" pitchFamily="34" charset="0"/>
                <a:ea typeface="Lexend" pitchFamily="34" charset="-122"/>
                <a:cs typeface="Lexend" pitchFamily="34" charset="-120"/>
              </a:rPr>
              <a:t>()?</a:t>
            </a:r>
          </a:p>
          <a:p>
            <a:pPr>
              <a:lnSpc>
                <a:spcPct val="85000"/>
              </a:lnSpc>
            </a:pPr>
            <a:r>
              <a:rPr lang="es-ES" sz="2000" dirty="0">
                <a:solidFill>
                  <a:srgbClr val="E6E9FF"/>
                </a:solidFill>
                <a:latin typeface="Lexend" pitchFamily="34" charset="0"/>
                <a:ea typeface="Lexend" pitchFamily="34" charset="-122"/>
                <a:cs typeface="Lexend" pitchFamily="34" charset="-120"/>
              </a:rPr>
              <a:t>¿Qué estado provoca sleep()?</a:t>
            </a:r>
          </a:p>
          <a:p>
            <a:pPr>
              <a:lnSpc>
                <a:spcPct val="85000"/>
              </a:lnSpc>
            </a:pPr>
            <a:r>
              <a:rPr lang="es-ES" sz="2000" dirty="0">
                <a:solidFill>
                  <a:srgbClr val="E6E9FF"/>
                </a:solidFill>
                <a:latin typeface="Lexend" pitchFamily="34" charset="0"/>
                <a:ea typeface="Lexend" pitchFamily="34" charset="-122"/>
                <a:cs typeface="Lexend" pitchFamily="34" charset="-120"/>
              </a:rPr>
              <a:t>¿Qué estado tendrá al finalizar run()?</a:t>
            </a:r>
          </a:p>
          <a:p>
            <a:pPr>
              <a:lnSpc>
                <a:spcPct val="85000"/>
              </a:lnSpc>
            </a:pPr>
            <a:endParaRPr lang="es-ES" sz="2000" dirty="0">
              <a:solidFill>
                <a:srgbClr val="E6E9FF"/>
              </a:solidFill>
              <a:latin typeface="Lexend" pitchFamily="34" charset="0"/>
              <a:ea typeface="Lexend" pitchFamily="34" charset="-122"/>
              <a:cs typeface="Lexend" pitchFamily="34" charset="-120"/>
            </a:endParaRPr>
          </a:p>
          <a:p>
            <a:pPr>
              <a:lnSpc>
                <a:spcPct val="85000"/>
              </a:lnSpc>
            </a:pPr>
            <a:r>
              <a:rPr lang="es-ES" sz="2000" dirty="0">
                <a:solidFill>
                  <a:srgbClr val="E6E9FF"/>
                </a:solidFill>
                <a:latin typeface="Lexend" pitchFamily="34" charset="0"/>
                <a:ea typeface="Lexend" pitchFamily="34" charset="-122"/>
                <a:cs typeface="Lexend" pitchFamily="34" charset="-120"/>
              </a:rPr>
              <a:t>Si se quiere programar, para sacar el estado de un hilo usar .</a:t>
            </a:r>
            <a:r>
              <a:rPr lang="es-ES" sz="2000" dirty="0" err="1">
                <a:solidFill>
                  <a:srgbClr val="E6E9FF"/>
                </a:solidFill>
                <a:latin typeface="Lexend" pitchFamily="34" charset="0"/>
                <a:ea typeface="Lexend" pitchFamily="34" charset="-122"/>
                <a:cs typeface="Lexend" pitchFamily="34" charset="-120"/>
              </a:rPr>
              <a:t>getState</a:t>
            </a:r>
            <a:r>
              <a:rPr lang="es-ES" sz="2000" dirty="0">
                <a:solidFill>
                  <a:srgbClr val="E6E9FF"/>
                </a:solidFill>
                <a:latin typeface="Lexend" pitchFamily="34" charset="0"/>
                <a:ea typeface="Lexend" pitchFamily="34" charset="-122"/>
                <a:cs typeface="Lexend" pitchFamily="34" charset="-120"/>
              </a:rPr>
              <a:t>();</a:t>
            </a:r>
            <a:endParaRPr lang="es-ES" dirty="0">
              <a:solidFill>
                <a:srgbClr val="E6E9FF"/>
              </a:solidFill>
              <a:latin typeface="Lexend" pitchFamily="34" charset="0"/>
              <a:ea typeface="Lexend" pitchFamily="34" charset="-122"/>
              <a:cs typeface="Lexend" pitchFamily="34" charset="-120"/>
            </a:endParaRPr>
          </a:p>
        </p:txBody>
      </p:sp>
    </p:spTree>
    <p:extLst>
      <p:ext uri="{BB962C8B-B14F-4D97-AF65-F5344CB8AC3E}">
        <p14:creationId xmlns:p14="http://schemas.microsoft.com/office/powerpoint/2010/main" val="139523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141089"/>
          </a:xfrm>
          <a:prstGeom prst="rect">
            <a:avLst/>
          </a:prstGeom>
          <a:noFill/>
          <a:ln/>
        </p:spPr>
        <p:txBody>
          <a:bodyPr wrap="none" lIns="0" tIns="0" rIns="0" bIns="0" rtlCol="0" anchor="t"/>
          <a:lstStyle/>
          <a:p>
            <a:pPr marL="0" indent="0" algn="l">
              <a:lnSpc>
                <a:spcPct val="100000"/>
              </a:lnSpc>
              <a:buNone/>
            </a:pPr>
            <a:r>
              <a:rPr lang="en-US" sz="950" kern="100" spc="56" dirty="0">
                <a:solidFill>
                  <a:srgbClr val="27E0E3"/>
                </a:solidFill>
                <a:latin typeface="Martian Mono Medium" pitchFamily="34" charset="0"/>
                <a:ea typeface="Martian Mono Medium" pitchFamily="34" charset="-122"/>
                <a:cs typeface="Martian Mono Medium" pitchFamily="34" charset="-120"/>
              </a:rPr>
              <a:t>EL RIESGO DE LA CONCURRENCIA</a:t>
            </a:r>
            <a:endParaRPr lang="en-US" sz="950" dirty="0"/>
          </a:p>
        </p:txBody>
      </p:sp>
      <p:sp>
        <p:nvSpPr>
          <p:cNvPr id="3" name="Text 1"/>
          <p:cNvSpPr/>
          <p:nvPr/>
        </p:nvSpPr>
        <p:spPr>
          <a:xfrm>
            <a:off x="609585" y="822742"/>
            <a:ext cx="10972526" cy="291108"/>
          </a:xfrm>
          <a:prstGeom prst="rect">
            <a:avLst/>
          </a:prstGeom>
          <a:noFill/>
          <a:ln/>
        </p:spPr>
        <p:txBody>
          <a:bodyPr wrap="none" lIns="0" tIns="0" rIns="0" bIns="0" rtlCol="0" anchor="t"/>
          <a:lstStyle/>
          <a:p>
            <a:pPr marL="0" indent="0" algn="l">
              <a:lnSpc>
                <a:spcPct val="96000"/>
              </a:lnSpc>
              <a:buNone/>
            </a:pPr>
            <a:r>
              <a:rPr lang="en-US" sz="2000" kern="100" spc="-10" dirty="0">
                <a:solidFill>
                  <a:srgbClr val="FFFFFF"/>
                </a:solidFill>
                <a:latin typeface="Krona One" pitchFamily="34" charset="0"/>
                <a:ea typeface="Krona One" pitchFamily="34" charset="-122"/>
                <a:cs typeface="Krona One" pitchFamily="34" charset="-120"/>
              </a:rPr>
              <a:t>Recursos compartidos: aparece la condición de carrera</a:t>
            </a:r>
            <a:endParaRPr lang="en-US" sz="2000" dirty="0"/>
          </a:p>
        </p:txBody>
      </p:sp>
      <p:sp>
        <p:nvSpPr>
          <p:cNvPr id="4" name="Text 2"/>
          <p:cNvSpPr/>
          <p:nvPr/>
        </p:nvSpPr>
        <p:spPr>
          <a:xfrm>
            <a:off x="609585" y="1266840"/>
            <a:ext cx="10972526" cy="501452"/>
          </a:xfrm>
          <a:prstGeom prst="rect">
            <a:avLst/>
          </a:prstGeom>
          <a:noFill/>
          <a:ln/>
        </p:spPr>
        <p:txBody>
          <a:bodyPr wrap="square" lIns="0" tIns="0" rIns="0" bIns="0" rtlCol="0" anchor="t">
            <a:normAutofit/>
          </a:bodyPr>
          <a:lstStyle/>
          <a:p>
            <a:pPr>
              <a:lnSpc>
                <a:spcPct val="96000"/>
              </a:lnSpc>
            </a:pPr>
            <a:r>
              <a:rPr lang="es-ES" sz="1700" dirty="0">
                <a:solidFill>
                  <a:srgbClr val="E6E9FF"/>
                </a:solidFill>
                <a:latin typeface="Lexend" pitchFamily="34" charset="0"/>
                <a:ea typeface="Lexend" pitchFamily="34" charset="-122"/>
                <a:cs typeface="Lexend" pitchFamily="34" charset="-120"/>
              </a:rPr>
              <a:t>Compartir memoria es una ventaja de los hilos, pero también introduce un nuevo problema: varios hilos pueden intentar modificar los mismos datos al mismo tiempo.</a:t>
            </a:r>
            <a:endParaRPr lang="en-US" sz="1700" dirty="0"/>
          </a:p>
        </p:txBody>
      </p:sp>
      <p:sp>
        <p:nvSpPr>
          <p:cNvPr id="5" name="Shape 3"/>
          <p:cNvSpPr/>
          <p:nvPr/>
        </p:nvSpPr>
        <p:spPr>
          <a:xfrm>
            <a:off x="609585" y="1897261"/>
            <a:ext cx="4907137" cy="4683029"/>
          </a:xfrm>
          <a:prstGeom prst="roundRect">
            <a:avLst>
              <a:gd name="adj" fmla="val 3106"/>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6" name="Text 4"/>
          <p:cNvSpPr/>
          <p:nvPr/>
        </p:nvSpPr>
        <p:spPr>
          <a:xfrm>
            <a:off x="908027" y="2170311"/>
            <a:ext cx="4608695" cy="141089"/>
          </a:xfrm>
          <a:prstGeom prst="rect">
            <a:avLst/>
          </a:prstGeom>
          <a:noFill/>
          <a:ln/>
        </p:spPr>
        <p:txBody>
          <a:bodyPr wrap="none" lIns="0" tIns="0" rIns="0" bIns="0" rtlCol="0" anchor="t"/>
          <a:lstStyle/>
          <a:p>
            <a:pPr marL="0" indent="0" algn="l">
              <a:lnSpc>
                <a:spcPct val="100000"/>
              </a:lnSpc>
              <a:buNone/>
            </a:pPr>
            <a:r>
              <a:rPr lang="en-US" sz="950" kern="100" spc="56" dirty="0">
                <a:solidFill>
                  <a:srgbClr val="E6E9FF"/>
                </a:solidFill>
                <a:latin typeface="Martian Mono Medium" pitchFamily="34" charset="0"/>
                <a:ea typeface="Martian Mono Medium" pitchFamily="34" charset="-122"/>
                <a:cs typeface="Martian Mono Medium" pitchFamily="34" charset="-120"/>
              </a:rPr>
              <a:t>LA OPERACIÓN NO ES ATÓMICA</a:t>
            </a:r>
            <a:endParaRPr lang="en-US" sz="950" dirty="0"/>
          </a:p>
        </p:txBody>
      </p:sp>
      <p:sp>
        <p:nvSpPr>
          <p:cNvPr id="7" name="Shape 5"/>
          <p:cNvSpPr/>
          <p:nvPr/>
        </p:nvSpPr>
        <p:spPr>
          <a:xfrm>
            <a:off x="908027" y="2555478"/>
            <a:ext cx="4310252" cy="3211314"/>
          </a:xfrm>
          <a:prstGeom prst="roundRect">
            <a:avLst>
              <a:gd name="adj" fmla="val 2838"/>
            </a:avLst>
          </a:prstGeom>
          <a:solidFill>
            <a:srgbClr val="1E1F66"/>
          </a:solidFill>
          <a:ln/>
        </p:spPr>
      </p:sp>
      <p:sp>
        <p:nvSpPr>
          <p:cNvPr id="8" name="Text 6"/>
          <p:cNvSpPr/>
          <p:nvPr/>
        </p:nvSpPr>
        <p:spPr>
          <a:xfrm>
            <a:off x="1168371" y="2772470"/>
            <a:ext cx="3789565" cy="2777331"/>
          </a:xfrm>
          <a:prstGeom prst="rect">
            <a:avLst/>
          </a:prstGeom>
          <a:noFill/>
          <a:ln/>
        </p:spPr>
        <p:txBody>
          <a:bodyPr wrap="square" lIns="0" tIns="0" rIns="0" bIns="0" rtlCol="0" anchor="t">
            <a:normAutofit/>
          </a:bodyPr>
          <a:lstStyle/>
          <a:p>
            <a:pPr>
              <a:lnSpc>
                <a:spcPct val="133000"/>
              </a:lnSpc>
            </a:pPr>
            <a:r>
              <a:rPr lang="es-ES" sz="1700" dirty="0">
                <a:solidFill>
                  <a:srgbClr val="8B949E"/>
                </a:solidFill>
                <a:latin typeface="Consolas" pitchFamily="34" charset="0"/>
                <a:ea typeface="Consolas" pitchFamily="34" charset="-122"/>
                <a:cs typeface="Consolas" pitchFamily="34" charset="-120"/>
              </a:rPr>
              <a:t>Parece una única instrucción</a:t>
            </a:r>
          </a:p>
          <a:p>
            <a:pPr>
              <a:lnSpc>
                <a:spcPct val="133000"/>
              </a:lnSpc>
            </a:pPr>
            <a:endParaRPr lang="es-ES" sz="1700" dirty="0">
              <a:solidFill>
                <a:srgbClr val="8B949E"/>
              </a:solidFill>
              <a:latin typeface="Consolas" pitchFamily="34" charset="0"/>
              <a:ea typeface="Consolas" pitchFamily="34" charset="-122"/>
              <a:cs typeface="Consolas" pitchFamily="34" charset="-120"/>
            </a:endParaRPr>
          </a:p>
          <a:p>
            <a:pPr>
              <a:lnSpc>
                <a:spcPct val="133000"/>
              </a:lnSpc>
            </a:pPr>
            <a:r>
              <a:rPr lang="es-ES" sz="1700" dirty="0">
                <a:solidFill>
                  <a:srgbClr val="8B949E"/>
                </a:solidFill>
                <a:latin typeface="Consolas" pitchFamily="34" charset="0"/>
                <a:ea typeface="Consolas" pitchFamily="34" charset="-122"/>
                <a:cs typeface="Consolas" pitchFamily="34" charset="-120"/>
              </a:rPr>
              <a:t>contador++;</a:t>
            </a:r>
          </a:p>
          <a:p>
            <a:pPr>
              <a:lnSpc>
                <a:spcPct val="133000"/>
              </a:lnSpc>
            </a:pPr>
            <a:endParaRPr lang="es-ES" sz="1700" dirty="0">
              <a:solidFill>
                <a:srgbClr val="8B949E"/>
              </a:solidFill>
              <a:latin typeface="Consolas" pitchFamily="34" charset="0"/>
              <a:ea typeface="Consolas" pitchFamily="34" charset="-122"/>
              <a:cs typeface="Consolas" pitchFamily="34" charset="-120"/>
            </a:endParaRPr>
          </a:p>
          <a:p>
            <a:pPr>
              <a:lnSpc>
                <a:spcPct val="133000"/>
              </a:lnSpc>
            </a:pPr>
            <a:r>
              <a:rPr lang="es-ES" sz="1700" dirty="0">
                <a:solidFill>
                  <a:srgbClr val="8B949E"/>
                </a:solidFill>
                <a:latin typeface="Consolas" pitchFamily="34" charset="0"/>
                <a:ea typeface="Consolas" pitchFamily="34" charset="-122"/>
                <a:cs typeface="Consolas" pitchFamily="34" charset="-120"/>
              </a:rPr>
              <a:t>Pero realmente son tres pasos:</a:t>
            </a:r>
          </a:p>
          <a:p>
            <a:pPr marL="342900" indent="-342900">
              <a:lnSpc>
                <a:spcPct val="133000"/>
              </a:lnSpc>
              <a:buAutoNum type="arabicPeriod"/>
            </a:pPr>
            <a:r>
              <a:rPr lang="es-ES" sz="1700" dirty="0">
                <a:solidFill>
                  <a:srgbClr val="8B949E"/>
                </a:solidFill>
                <a:latin typeface="Consolas" pitchFamily="34" charset="0"/>
                <a:ea typeface="Consolas" pitchFamily="34" charset="-122"/>
                <a:cs typeface="Consolas" pitchFamily="34" charset="-120"/>
              </a:rPr>
              <a:t>Leer el valor actual.</a:t>
            </a:r>
          </a:p>
          <a:p>
            <a:pPr>
              <a:lnSpc>
                <a:spcPct val="133000"/>
              </a:lnSpc>
            </a:pPr>
            <a:r>
              <a:rPr lang="es-ES" sz="1700" dirty="0">
                <a:solidFill>
                  <a:srgbClr val="8B949E"/>
                </a:solidFill>
                <a:latin typeface="Consolas" pitchFamily="34" charset="0"/>
                <a:ea typeface="Consolas" pitchFamily="34" charset="-122"/>
                <a:cs typeface="Consolas" pitchFamily="34" charset="-120"/>
              </a:rPr>
              <a:t>2. Sumar 1.</a:t>
            </a:r>
          </a:p>
          <a:p>
            <a:pPr>
              <a:lnSpc>
                <a:spcPct val="133000"/>
              </a:lnSpc>
            </a:pPr>
            <a:r>
              <a:rPr lang="es-ES" sz="1700" dirty="0">
                <a:solidFill>
                  <a:srgbClr val="8B949E"/>
                </a:solidFill>
                <a:latin typeface="Consolas" pitchFamily="34" charset="0"/>
                <a:ea typeface="Consolas" pitchFamily="34" charset="-122"/>
                <a:cs typeface="Consolas" pitchFamily="34" charset="-120"/>
              </a:rPr>
              <a:t>3. Guardar el nuevo valor.</a:t>
            </a:r>
            <a:endParaRPr lang="en-US" sz="1700" dirty="0"/>
          </a:p>
        </p:txBody>
      </p:sp>
      <p:sp>
        <p:nvSpPr>
          <p:cNvPr id="9" name="Text 7"/>
          <p:cNvSpPr/>
          <p:nvPr/>
        </p:nvSpPr>
        <p:spPr>
          <a:xfrm>
            <a:off x="908027" y="6015934"/>
            <a:ext cx="4310252" cy="564356"/>
          </a:xfrm>
          <a:prstGeom prst="rect">
            <a:avLst/>
          </a:prstGeom>
          <a:noFill/>
          <a:ln/>
        </p:spPr>
        <p:txBody>
          <a:bodyPr wrap="square" lIns="0" tIns="0" rIns="0" bIns="0" rtlCol="0" anchor="t">
            <a:normAutofit/>
          </a:bodyPr>
          <a:lstStyle/>
          <a:p>
            <a:pPr>
              <a:lnSpc>
                <a:spcPct val="96000"/>
              </a:lnSpc>
            </a:pPr>
            <a:r>
              <a:rPr lang="es-ES" sz="1300" dirty="0">
                <a:solidFill>
                  <a:srgbClr val="E6E9FF"/>
                </a:solidFill>
                <a:latin typeface="Lexend" pitchFamily="34" charset="0"/>
                <a:ea typeface="Lexend" pitchFamily="34" charset="-122"/>
                <a:cs typeface="Lexend" pitchFamily="34" charset="-120"/>
              </a:rPr>
              <a:t>Si dos hilos realizan estos pasos al mismo </a:t>
            </a:r>
            <a:r>
              <a:rPr lang="es-ES" sz="1300" dirty="0" err="1">
                <a:solidFill>
                  <a:srgbClr val="E6E9FF"/>
                </a:solidFill>
                <a:latin typeface="Lexend" pitchFamily="34" charset="0"/>
                <a:ea typeface="Lexend" pitchFamily="34" charset="-122"/>
                <a:cs typeface="Lexend" pitchFamily="34" charset="-120"/>
              </a:rPr>
              <a:t>tiempo,pueden</a:t>
            </a:r>
            <a:r>
              <a:rPr lang="es-ES" sz="1300" dirty="0">
                <a:solidFill>
                  <a:srgbClr val="E6E9FF"/>
                </a:solidFill>
                <a:latin typeface="Lexend" pitchFamily="34" charset="0"/>
                <a:ea typeface="Lexend" pitchFamily="34" charset="-122"/>
                <a:cs typeface="Lexend" pitchFamily="34" charset="-120"/>
              </a:rPr>
              <a:t> producirse errores.</a:t>
            </a:r>
            <a:endParaRPr lang="en-US" sz="1300" dirty="0"/>
          </a:p>
        </p:txBody>
      </p:sp>
      <p:sp>
        <p:nvSpPr>
          <p:cNvPr id="11" name="Text 9"/>
          <p:cNvSpPr/>
          <p:nvPr/>
        </p:nvSpPr>
        <p:spPr>
          <a:xfrm>
            <a:off x="6272254" y="2170311"/>
            <a:ext cx="5309856" cy="141089"/>
          </a:xfrm>
          <a:prstGeom prst="rect">
            <a:avLst/>
          </a:prstGeom>
          <a:noFill/>
          <a:ln/>
        </p:spPr>
        <p:txBody>
          <a:bodyPr wrap="none" lIns="0" tIns="0" rIns="0" bIns="0" rtlCol="0" anchor="t"/>
          <a:lstStyle/>
          <a:p>
            <a:pPr marL="0" indent="0" algn="l">
              <a:lnSpc>
                <a:spcPct val="100000"/>
              </a:lnSpc>
              <a:buNone/>
            </a:pPr>
            <a:r>
              <a:rPr lang="en-US" sz="950" kern="100" spc="56" dirty="0">
                <a:solidFill>
                  <a:srgbClr val="FF9347"/>
                </a:solidFill>
                <a:latin typeface="Martian Mono Medium" pitchFamily="34" charset="0"/>
                <a:ea typeface="Martian Mono Medium" pitchFamily="34" charset="-122"/>
                <a:cs typeface="Martian Mono Medium" pitchFamily="34" charset="-120"/>
              </a:rPr>
              <a:t>ESCENARIO DE CONFLICTO (RACE CONDITION)</a:t>
            </a:r>
            <a:endParaRPr lang="en-US" sz="950" dirty="0"/>
          </a:p>
        </p:txBody>
      </p:sp>
      <p:sp>
        <p:nvSpPr>
          <p:cNvPr id="12" name="Text 10"/>
          <p:cNvSpPr/>
          <p:nvPr/>
        </p:nvSpPr>
        <p:spPr>
          <a:xfrm>
            <a:off x="6272254" y="2384533"/>
            <a:ext cx="5011414" cy="282079"/>
          </a:xfrm>
          <a:prstGeom prst="rect">
            <a:avLst/>
          </a:prstGeom>
          <a:noFill/>
          <a:ln/>
        </p:spPr>
        <p:txBody>
          <a:bodyPr wrap="none" lIns="0" tIns="0" rIns="0" bIns="0" rtlCol="0" anchor="t"/>
          <a:lstStyle/>
          <a:p>
            <a:pPr marL="0" indent="0" algn="l">
              <a:lnSpc>
                <a:spcPct val="108000"/>
              </a:lnSpc>
              <a:buNone/>
            </a:pPr>
            <a:r>
              <a:rPr lang="en-US" sz="1700" kern="100" spc="-9" dirty="0">
                <a:solidFill>
                  <a:srgbClr val="E6E9FF"/>
                </a:solidFill>
                <a:latin typeface="Lexend Medium" pitchFamily="34" charset="0"/>
                <a:ea typeface="Lexend Medium" pitchFamily="34" charset="-122"/>
                <a:cs typeface="Lexend Medium" pitchFamily="34" charset="-120"/>
              </a:rPr>
              <a:t>Dos hilos sobre un mismo contador</a:t>
            </a:r>
            <a:endParaRPr lang="en-US" sz="1700" dirty="0"/>
          </a:p>
        </p:txBody>
      </p:sp>
      <p:sp>
        <p:nvSpPr>
          <p:cNvPr id="13" name="Text 11"/>
          <p:cNvSpPr/>
          <p:nvPr/>
        </p:nvSpPr>
        <p:spPr>
          <a:xfrm>
            <a:off x="6272254" y="2848474"/>
            <a:ext cx="5011414" cy="3246371"/>
          </a:xfrm>
          <a:prstGeom prst="rect">
            <a:avLst/>
          </a:prstGeom>
          <a:noFill/>
          <a:ln/>
        </p:spPr>
        <p:txBody>
          <a:bodyPr wrap="square" lIns="0" tIns="0" rIns="0" bIns="0" rtlCol="0" anchor="t">
            <a:normAutofit/>
          </a:bodyPr>
          <a:lstStyle/>
          <a:p>
            <a:pPr>
              <a:lnSpc>
                <a:spcPct val="96000"/>
              </a:lnSpc>
            </a:pPr>
            <a:r>
              <a:rPr lang="es-ES" sz="1300" b="1" dirty="0">
                <a:solidFill>
                  <a:srgbClr val="E6E9FF"/>
                </a:solidFill>
                <a:latin typeface="Lexend Bold" pitchFamily="34" charset="0"/>
                <a:ea typeface="Lexend Bold" pitchFamily="34" charset="-122"/>
                <a:cs typeface="Lexend Bold" pitchFamily="34" charset="-120"/>
              </a:rPr>
              <a:t>Hilo A</a:t>
            </a:r>
          </a:p>
          <a:p>
            <a:pPr>
              <a:lnSpc>
                <a:spcPct val="96000"/>
              </a:lnSpc>
            </a:pPr>
            <a:r>
              <a:rPr lang="es-ES" sz="1300" b="1" dirty="0">
                <a:solidFill>
                  <a:srgbClr val="E6E9FF"/>
                </a:solidFill>
                <a:latin typeface="Lexend Bold" pitchFamily="34" charset="0"/>
                <a:ea typeface="Lexend Bold" pitchFamily="34" charset="-122"/>
                <a:cs typeface="Lexend Bold" pitchFamily="34" charset="-120"/>
              </a:rPr>
              <a:t>Lee 10</a:t>
            </a:r>
          </a:p>
          <a:p>
            <a:pPr>
              <a:lnSpc>
                <a:spcPct val="96000"/>
              </a:lnSpc>
            </a:pPr>
            <a:endParaRPr lang="es-ES" sz="1300" b="1" dirty="0">
              <a:solidFill>
                <a:srgbClr val="E6E9FF"/>
              </a:solidFill>
              <a:latin typeface="Lexend Bold" pitchFamily="34" charset="0"/>
              <a:ea typeface="Lexend Bold" pitchFamily="34" charset="-122"/>
              <a:cs typeface="Lexend Bold" pitchFamily="34" charset="-120"/>
            </a:endParaRPr>
          </a:p>
          <a:p>
            <a:pPr>
              <a:lnSpc>
                <a:spcPct val="96000"/>
              </a:lnSpc>
            </a:pPr>
            <a:r>
              <a:rPr lang="es-ES" sz="1300" b="1" dirty="0">
                <a:solidFill>
                  <a:srgbClr val="E6E9FF"/>
                </a:solidFill>
                <a:latin typeface="Lexend Bold" pitchFamily="34" charset="0"/>
                <a:ea typeface="Lexend Bold" pitchFamily="34" charset="-122"/>
                <a:cs typeface="Lexend Bold" pitchFamily="34" charset="-120"/>
              </a:rPr>
              <a:t>Hilo B</a:t>
            </a:r>
          </a:p>
          <a:p>
            <a:pPr>
              <a:lnSpc>
                <a:spcPct val="96000"/>
              </a:lnSpc>
            </a:pPr>
            <a:r>
              <a:rPr lang="es-ES" sz="1300" b="1" dirty="0">
                <a:solidFill>
                  <a:srgbClr val="E6E9FF"/>
                </a:solidFill>
                <a:latin typeface="Lexend Bold" pitchFamily="34" charset="0"/>
                <a:ea typeface="Lexend Bold" pitchFamily="34" charset="-122"/>
                <a:cs typeface="Lexend Bold" pitchFamily="34" charset="-120"/>
              </a:rPr>
              <a:t>Lee 10</a:t>
            </a:r>
          </a:p>
          <a:p>
            <a:pPr>
              <a:lnSpc>
                <a:spcPct val="96000"/>
              </a:lnSpc>
            </a:pPr>
            <a:endParaRPr lang="es-ES" sz="1300" b="1" dirty="0">
              <a:solidFill>
                <a:srgbClr val="E6E9FF"/>
              </a:solidFill>
              <a:latin typeface="Lexend Bold" pitchFamily="34" charset="0"/>
              <a:ea typeface="Lexend Bold" pitchFamily="34" charset="-122"/>
              <a:cs typeface="Lexend Bold" pitchFamily="34" charset="-120"/>
            </a:endParaRPr>
          </a:p>
          <a:p>
            <a:pPr>
              <a:lnSpc>
                <a:spcPct val="96000"/>
              </a:lnSpc>
            </a:pPr>
            <a:r>
              <a:rPr lang="es-ES" sz="1300" b="1" dirty="0">
                <a:solidFill>
                  <a:srgbClr val="E6E9FF"/>
                </a:solidFill>
                <a:latin typeface="Lexend Bold" pitchFamily="34" charset="0"/>
                <a:ea typeface="Lexend Bold" pitchFamily="34" charset="-122"/>
                <a:cs typeface="Lexend Bold" pitchFamily="34" charset="-120"/>
              </a:rPr>
              <a:t>Hilo A</a:t>
            </a:r>
          </a:p>
          <a:p>
            <a:pPr>
              <a:lnSpc>
                <a:spcPct val="96000"/>
              </a:lnSpc>
            </a:pPr>
            <a:r>
              <a:rPr lang="es-ES" sz="1300" b="1" dirty="0">
                <a:solidFill>
                  <a:srgbClr val="E6E9FF"/>
                </a:solidFill>
                <a:latin typeface="Lexend Bold" pitchFamily="34" charset="0"/>
                <a:ea typeface="Lexend Bold" pitchFamily="34" charset="-122"/>
                <a:cs typeface="Lexend Bold" pitchFamily="34" charset="-120"/>
              </a:rPr>
              <a:t>Calcula 11 y lo guarda</a:t>
            </a:r>
          </a:p>
          <a:p>
            <a:pPr>
              <a:lnSpc>
                <a:spcPct val="96000"/>
              </a:lnSpc>
            </a:pPr>
            <a:endParaRPr lang="es-ES" sz="1300" b="1" dirty="0">
              <a:solidFill>
                <a:srgbClr val="E6E9FF"/>
              </a:solidFill>
              <a:latin typeface="Lexend Bold" pitchFamily="34" charset="0"/>
              <a:ea typeface="Lexend Bold" pitchFamily="34" charset="-122"/>
              <a:cs typeface="Lexend Bold" pitchFamily="34" charset="-120"/>
            </a:endParaRPr>
          </a:p>
          <a:p>
            <a:pPr>
              <a:lnSpc>
                <a:spcPct val="96000"/>
              </a:lnSpc>
            </a:pPr>
            <a:r>
              <a:rPr lang="es-ES" sz="1300" b="1" dirty="0">
                <a:solidFill>
                  <a:srgbClr val="E6E9FF"/>
                </a:solidFill>
                <a:latin typeface="Lexend Bold" pitchFamily="34" charset="0"/>
                <a:ea typeface="Lexend Bold" pitchFamily="34" charset="-122"/>
                <a:cs typeface="Lexend Bold" pitchFamily="34" charset="-120"/>
              </a:rPr>
              <a:t>Hilo B</a:t>
            </a:r>
          </a:p>
          <a:p>
            <a:pPr>
              <a:lnSpc>
                <a:spcPct val="96000"/>
              </a:lnSpc>
            </a:pPr>
            <a:r>
              <a:rPr lang="es-ES" sz="1300" b="1" dirty="0">
                <a:solidFill>
                  <a:srgbClr val="E6E9FF"/>
                </a:solidFill>
                <a:latin typeface="Lexend Bold" pitchFamily="34" charset="0"/>
                <a:ea typeface="Lexend Bold" pitchFamily="34" charset="-122"/>
                <a:cs typeface="Lexend Bold" pitchFamily="34" charset="-120"/>
              </a:rPr>
              <a:t>Calcula 11 y lo guarda</a:t>
            </a:r>
          </a:p>
          <a:p>
            <a:pPr>
              <a:lnSpc>
                <a:spcPct val="96000"/>
              </a:lnSpc>
            </a:pPr>
            <a:endParaRPr lang="es-ES" sz="1300" b="1" dirty="0">
              <a:solidFill>
                <a:srgbClr val="E6E9FF"/>
              </a:solidFill>
              <a:latin typeface="Lexend Bold" pitchFamily="34" charset="0"/>
              <a:ea typeface="Lexend Bold" pitchFamily="34" charset="-122"/>
              <a:cs typeface="Lexend Bold" pitchFamily="34" charset="-120"/>
            </a:endParaRPr>
          </a:p>
          <a:p>
            <a:pPr>
              <a:lnSpc>
                <a:spcPct val="96000"/>
              </a:lnSpc>
            </a:pPr>
            <a:r>
              <a:rPr lang="es-ES" sz="1300" b="1" dirty="0">
                <a:solidFill>
                  <a:srgbClr val="E6E9FF"/>
                </a:solidFill>
                <a:latin typeface="Lexend Bold" pitchFamily="34" charset="0"/>
                <a:ea typeface="Lexend Bold" pitchFamily="34" charset="-122"/>
                <a:cs typeface="Lexend Bold" pitchFamily="34" charset="-120"/>
              </a:rPr>
              <a:t>Resultado</a:t>
            </a:r>
          </a:p>
          <a:p>
            <a:pPr>
              <a:lnSpc>
                <a:spcPct val="96000"/>
              </a:lnSpc>
            </a:pPr>
            <a:r>
              <a:rPr lang="es-ES" sz="1300" b="1" dirty="0">
                <a:solidFill>
                  <a:srgbClr val="E6E9FF"/>
                </a:solidFill>
                <a:latin typeface="Lexend Bold" pitchFamily="34" charset="0"/>
                <a:ea typeface="Lexend Bold" pitchFamily="34" charset="-122"/>
                <a:cs typeface="Lexend Bold" pitchFamily="34" charset="-120"/>
              </a:rPr>
              <a:t>contador = 11</a:t>
            </a:r>
          </a:p>
          <a:p>
            <a:pPr>
              <a:lnSpc>
                <a:spcPct val="96000"/>
              </a:lnSpc>
            </a:pPr>
            <a:endParaRPr lang="es-ES" sz="1300" b="1" dirty="0">
              <a:solidFill>
                <a:srgbClr val="E6E9FF"/>
              </a:solidFill>
              <a:latin typeface="Lexend Bold" pitchFamily="34" charset="0"/>
            </a:endParaRPr>
          </a:p>
          <a:p>
            <a:pPr>
              <a:lnSpc>
                <a:spcPct val="96000"/>
              </a:lnSpc>
            </a:pPr>
            <a:r>
              <a:rPr lang="es-ES" sz="1300" b="1" dirty="0">
                <a:solidFill>
                  <a:srgbClr val="E6E9FF"/>
                </a:solidFill>
                <a:latin typeface="Lexend Bold" pitchFamily="34" charset="0"/>
              </a:rPr>
              <a:t>Debería ser 12</a:t>
            </a:r>
            <a:endParaRPr lang="en-US" sz="1300" dirty="0"/>
          </a:p>
        </p:txBody>
      </p:sp>
      <p:sp>
        <p:nvSpPr>
          <p:cNvPr id="17" name="Text 15"/>
          <p:cNvSpPr/>
          <p:nvPr/>
        </p:nvSpPr>
        <p:spPr>
          <a:xfrm>
            <a:off x="6272254" y="6215859"/>
            <a:ext cx="11582110" cy="164505"/>
          </a:xfrm>
          <a:prstGeom prst="rect">
            <a:avLst/>
          </a:prstGeom>
          <a:noFill/>
          <a:ln/>
        </p:spPr>
        <p:txBody>
          <a:bodyPr wrap="none" lIns="0" tIns="0" rIns="0" bIns="0" rtlCol="0" anchor="t"/>
          <a:lstStyle/>
          <a:p>
            <a:pPr marL="0" indent="0" algn="l">
              <a:lnSpc>
                <a:spcPct val="108000"/>
              </a:lnSpc>
              <a:buNone/>
            </a:pPr>
            <a:r>
              <a:rPr lang="en-US" sz="1000" kern="100" spc="10" dirty="0">
                <a:solidFill>
                  <a:srgbClr val="B9BEEA"/>
                </a:solidFill>
                <a:latin typeface="Lexend" pitchFamily="34" charset="0"/>
                <a:ea typeface="Lexend" pitchFamily="34" charset="-122"/>
                <a:cs typeface="Lexend" pitchFamily="34" charset="-120"/>
              </a:rPr>
              <a:t>Sin sincronización, dos hilos ejecutando 1 000 incrementos cada uno </a:t>
            </a:r>
            <a:r>
              <a:rPr lang="en-US" sz="1000" kern="100" spc="10" dirty="0" err="1">
                <a:solidFill>
                  <a:srgbClr val="B9BEEA"/>
                </a:solidFill>
                <a:latin typeface="Lexend" pitchFamily="34" charset="0"/>
                <a:ea typeface="Lexend" pitchFamily="34" charset="-122"/>
                <a:cs typeface="Lexend" pitchFamily="34" charset="-120"/>
              </a:rPr>
              <a:t>casi</a:t>
            </a:r>
            <a:r>
              <a:rPr lang="en-US" sz="1000" kern="100" spc="10" dirty="0">
                <a:solidFill>
                  <a:srgbClr val="B9BEEA"/>
                </a:solidFill>
                <a:latin typeface="Lexend" pitchFamily="34" charset="0"/>
                <a:ea typeface="Lexend" pitchFamily="34" charset="-122"/>
                <a:cs typeface="Lexend" pitchFamily="34" charset="-120"/>
              </a:rPr>
              <a:t> </a:t>
            </a:r>
          </a:p>
          <a:p>
            <a:pPr marL="0" indent="0" algn="l">
              <a:lnSpc>
                <a:spcPct val="108000"/>
              </a:lnSpc>
              <a:buNone/>
            </a:pPr>
            <a:r>
              <a:rPr lang="en-US" sz="1000" kern="100" spc="10" dirty="0" err="1">
                <a:solidFill>
                  <a:srgbClr val="B9BEEA"/>
                </a:solidFill>
                <a:latin typeface="Lexend" pitchFamily="34" charset="0"/>
                <a:ea typeface="Lexend" pitchFamily="34" charset="-122"/>
                <a:cs typeface="Lexend" pitchFamily="34" charset="-120"/>
              </a:rPr>
              <a:t>nunca</a:t>
            </a:r>
            <a:r>
              <a:rPr lang="en-US" sz="1000" kern="100" spc="10" dirty="0">
                <a:solidFill>
                  <a:srgbClr val="B9BEEA"/>
                </a:solidFill>
                <a:latin typeface="Lexend" pitchFamily="34" charset="0"/>
                <a:ea typeface="Lexend" pitchFamily="34" charset="-122"/>
                <a:cs typeface="Lexend" pitchFamily="34" charset="-120"/>
              </a:rPr>
              <a:t> llegarán al valor esperado de 2 000.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737" y="312234"/>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7. El contador compartido</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609585" y="908036"/>
            <a:ext cx="10904160" cy="5808513"/>
          </a:xfrm>
          <a:prstGeom prst="rect">
            <a:avLst/>
          </a:prstGeom>
        </p:spPr>
        <p:txBody>
          <a:bodyPr wrap="square">
            <a:spAutoFit/>
          </a:bodyPr>
          <a:lstStyle/>
          <a:p>
            <a:pPr>
              <a:lnSpc>
                <a:spcPct val="85000"/>
              </a:lnSpc>
            </a:pPr>
            <a:r>
              <a:rPr lang="es-ES" sz="1900" u="sng" dirty="0">
                <a:solidFill>
                  <a:srgbClr val="E6E9FF"/>
                </a:solidFill>
                <a:latin typeface="Lexend" pitchFamily="34" charset="0"/>
                <a:ea typeface="Lexend" pitchFamily="34" charset="-122"/>
                <a:cs typeface="Lexend" pitchFamily="34" charset="-120"/>
              </a:rPr>
              <a:t>Crea una clase contador con una variable entera inicializada a 0.</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Dos hilos incrementarán dicho contador 10.000 veces cada uno.</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Al finalizar, muestra el valor final obtenido.</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Preguntas</a:t>
            </a:r>
          </a:p>
          <a:p>
            <a:pPr>
              <a:lnSpc>
                <a:spcPct val="85000"/>
              </a:lnSpc>
            </a:pPr>
            <a:r>
              <a:rPr lang="es-ES" sz="1900" dirty="0">
                <a:solidFill>
                  <a:srgbClr val="E6E9FF"/>
                </a:solidFill>
                <a:latin typeface="Lexend" pitchFamily="34" charset="0"/>
                <a:ea typeface="Lexend" pitchFamily="34" charset="-122"/>
                <a:cs typeface="Lexend" pitchFamily="34" charset="-120"/>
              </a:rPr>
              <a:t>¿Se obtiene siempre 20.000?</a:t>
            </a:r>
          </a:p>
          <a:p>
            <a:pPr>
              <a:lnSpc>
                <a:spcPct val="85000"/>
              </a:lnSpc>
            </a:pPr>
            <a:r>
              <a:rPr lang="es-ES" sz="1900" dirty="0">
                <a:solidFill>
                  <a:srgbClr val="E6E9FF"/>
                </a:solidFill>
                <a:latin typeface="Lexend" pitchFamily="34" charset="0"/>
                <a:ea typeface="Lexend" pitchFamily="34" charset="-122"/>
                <a:cs typeface="Lexend" pitchFamily="34" charset="-120"/>
              </a:rPr>
              <a:t>¿Por qué?</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Pista</a:t>
            </a:r>
          </a:p>
          <a:p>
            <a:pPr>
              <a:lnSpc>
                <a:spcPct val="85000"/>
              </a:lnSpc>
            </a:pPr>
            <a:r>
              <a:rPr lang="es-ES" sz="1900" dirty="0">
                <a:solidFill>
                  <a:srgbClr val="E6E9FF"/>
                </a:solidFill>
                <a:latin typeface="Lexend" pitchFamily="34" charset="0"/>
                <a:ea typeface="Lexend" pitchFamily="34" charset="-122"/>
                <a:cs typeface="Lexend" pitchFamily="34" charset="-120"/>
              </a:rPr>
              <a:t>Ambos hilos deben trabajar sobre el mismo objeto contador.</a:t>
            </a:r>
          </a:p>
          <a:p>
            <a:pPr>
              <a:lnSpc>
                <a:spcPct val="85000"/>
              </a:lnSpc>
            </a:pPr>
            <a:r>
              <a:rPr lang="es-ES" sz="1900" dirty="0">
                <a:solidFill>
                  <a:srgbClr val="E6E9FF"/>
                </a:solidFill>
                <a:latin typeface="Lexend" pitchFamily="34" charset="0"/>
                <a:ea typeface="Lexend" pitchFamily="34" charset="-122"/>
                <a:cs typeface="Lexend" pitchFamily="34" charset="-120"/>
              </a:rPr>
              <a:t>Para mostrar el resultado final correctamente, asegúrate de que el programa espera a que ambos hilos terminen antes de imprimir el contador.</a:t>
            </a:r>
          </a:p>
          <a:p>
            <a:pPr>
              <a:lnSpc>
                <a:spcPct val="85000"/>
              </a:lnSpc>
            </a:pPr>
            <a:r>
              <a:rPr lang="es-ES" sz="1900" dirty="0">
                <a:solidFill>
                  <a:srgbClr val="E6E9FF"/>
                </a:solidFill>
                <a:latin typeface="Lexend" pitchFamily="34" charset="0"/>
                <a:ea typeface="Lexend" pitchFamily="34" charset="-122"/>
                <a:cs typeface="Lexend" pitchFamily="34" charset="-120"/>
              </a:rPr>
              <a:t>Investiga el método: </a:t>
            </a:r>
            <a:r>
              <a:rPr lang="es-ES" sz="1900" dirty="0" err="1">
                <a:solidFill>
                  <a:srgbClr val="E6E9FF"/>
                </a:solidFill>
                <a:latin typeface="Lexend" pitchFamily="34" charset="0"/>
                <a:ea typeface="Lexend" pitchFamily="34" charset="-122"/>
                <a:cs typeface="Lexend" pitchFamily="34" charset="-120"/>
              </a:rPr>
              <a:t>join</a:t>
            </a:r>
            <a:r>
              <a:rPr lang="es-ES" sz="1900" dirty="0">
                <a:solidFill>
                  <a:srgbClr val="E6E9FF"/>
                </a:solidFill>
                <a:latin typeface="Lexend" pitchFamily="34" charset="0"/>
                <a:ea typeface="Lexend" pitchFamily="34" charset="-122"/>
                <a:cs typeface="Lexend" pitchFamily="34" charset="-120"/>
              </a:rPr>
              <a:t>() de la clase </a:t>
            </a:r>
            <a:r>
              <a:rPr lang="es-ES" sz="1900" dirty="0" err="1">
                <a:solidFill>
                  <a:srgbClr val="E6E9FF"/>
                </a:solidFill>
                <a:latin typeface="Lexend" pitchFamily="34" charset="0"/>
                <a:ea typeface="Lexend" pitchFamily="34" charset="-122"/>
                <a:cs typeface="Lexend" pitchFamily="34" charset="-120"/>
              </a:rPr>
              <a:t>Thread</a:t>
            </a:r>
            <a:r>
              <a:rPr lang="es-ES" sz="1900" dirty="0">
                <a:solidFill>
                  <a:srgbClr val="E6E9FF"/>
                </a:solidFill>
                <a:latin typeface="Lexend" pitchFamily="34" charset="0"/>
                <a:ea typeface="Lexend" pitchFamily="34" charset="-122"/>
                <a:cs typeface="Lexend" pitchFamily="34" charset="-120"/>
              </a:rPr>
              <a:t>.</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u="sng" dirty="0">
                <a:solidFill>
                  <a:srgbClr val="E6E9FF"/>
                </a:solidFill>
                <a:latin typeface="Lexend" pitchFamily="34" charset="0"/>
                <a:ea typeface="Lexend" pitchFamily="34" charset="-122"/>
                <a:cs typeface="Lexend" pitchFamily="34" charset="-120"/>
              </a:rPr>
              <a:t>Ejecuta varias veces el ejercicio .</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Anota los resultados obtenidos.</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Pregunta</a:t>
            </a:r>
          </a:p>
          <a:p>
            <a:pPr>
              <a:lnSpc>
                <a:spcPct val="85000"/>
              </a:lnSpc>
            </a:pPr>
            <a:r>
              <a:rPr lang="es-ES" sz="1900" dirty="0">
                <a:solidFill>
                  <a:srgbClr val="E6E9FF"/>
                </a:solidFill>
                <a:latin typeface="Lexend" pitchFamily="34" charset="0"/>
                <a:ea typeface="Lexend" pitchFamily="34" charset="-122"/>
                <a:cs typeface="Lexend" pitchFamily="34" charset="-120"/>
              </a:rPr>
              <a:t>¿Por qué el resultado puede ser diferente en cada ejecución?</a:t>
            </a:r>
          </a:p>
          <a:p>
            <a:pPr>
              <a:lnSpc>
                <a:spcPct val="85000"/>
              </a:lnSpc>
            </a:pPr>
            <a:endParaRPr lang="es-ES" sz="1900" dirty="0">
              <a:solidFill>
                <a:srgbClr val="E6E9FF"/>
              </a:solidFill>
              <a:latin typeface="Lexend" pitchFamily="34" charset="0"/>
              <a:ea typeface="Lexend" pitchFamily="34" charset="-122"/>
              <a:cs typeface="Lexend" pitchFamily="34" charset="-120"/>
            </a:endParaRPr>
          </a:p>
        </p:txBody>
      </p:sp>
    </p:spTree>
    <p:extLst>
      <p:ext uri="{BB962C8B-B14F-4D97-AF65-F5344CB8AC3E}">
        <p14:creationId xmlns:p14="http://schemas.microsoft.com/office/powerpoint/2010/main" val="4261488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1340"/>
            <a:ext cx="11582110" cy="166191"/>
          </a:xfrm>
          <a:prstGeom prst="rect">
            <a:avLst/>
          </a:prstGeom>
          <a:noFill/>
          <a:ln/>
        </p:spPr>
        <p:txBody>
          <a:bodyPr wrap="none" lIns="0" tIns="0" rIns="0" bIns="0" rtlCol="0" anchor="t"/>
          <a:lstStyle/>
          <a:p>
            <a:pPr marL="0" indent="0" algn="l">
              <a:lnSpc>
                <a:spcPct val="100000"/>
              </a:lnSpc>
              <a:buNone/>
            </a:pPr>
            <a:r>
              <a:rPr lang="en-US" sz="1100" kern="100" spc="65" dirty="0">
                <a:solidFill>
                  <a:srgbClr val="27E0E3"/>
                </a:solidFill>
                <a:latin typeface="Martian Mono Medium" pitchFamily="34" charset="0"/>
                <a:ea typeface="Martian Mono Medium" pitchFamily="34" charset="-122"/>
                <a:cs typeface="Martian Mono Medium" pitchFamily="34" charset="-120"/>
              </a:rPr>
              <a:t>MECANISMOS DE PROTECCIÓN</a:t>
            </a:r>
            <a:endParaRPr lang="en-US" sz="1100" dirty="0"/>
          </a:p>
        </p:txBody>
      </p:sp>
      <p:sp>
        <p:nvSpPr>
          <p:cNvPr id="3" name="Text 1"/>
          <p:cNvSpPr/>
          <p:nvPr/>
        </p:nvSpPr>
        <p:spPr>
          <a:xfrm>
            <a:off x="609585" y="874327"/>
            <a:ext cx="10972526" cy="343098"/>
          </a:xfrm>
          <a:prstGeom prst="rect">
            <a:avLst/>
          </a:prstGeom>
          <a:noFill/>
          <a:ln/>
        </p:spPr>
        <p:txBody>
          <a:bodyPr wrap="none" lIns="0" tIns="0" rIns="0" bIns="0" rtlCol="0" anchor="t"/>
          <a:lstStyle/>
          <a:p>
            <a:pPr marL="0" indent="0" algn="l">
              <a:lnSpc>
                <a:spcPct val="96000"/>
              </a:lnSpc>
              <a:buNone/>
            </a:pPr>
            <a:r>
              <a:rPr lang="en-US" sz="2350" kern="100" spc="-12" dirty="0">
                <a:solidFill>
                  <a:srgbClr val="FFFFFF"/>
                </a:solidFill>
                <a:latin typeface="Krona One" pitchFamily="34" charset="0"/>
                <a:ea typeface="Krona One" pitchFamily="34" charset="-122"/>
                <a:cs typeface="Krona One" pitchFamily="34" charset="-120"/>
              </a:rPr>
              <a:t>Sincronización: un solo acceso a la vez</a:t>
            </a:r>
            <a:endParaRPr lang="en-US" sz="2350" dirty="0"/>
          </a:p>
        </p:txBody>
      </p:sp>
      <p:sp>
        <p:nvSpPr>
          <p:cNvPr id="4" name="Text 2"/>
          <p:cNvSpPr/>
          <p:nvPr/>
        </p:nvSpPr>
        <p:spPr>
          <a:xfrm>
            <a:off x="609585" y="1434216"/>
            <a:ext cx="10972526" cy="635000"/>
          </a:xfrm>
          <a:prstGeom prst="rect">
            <a:avLst/>
          </a:prstGeom>
          <a:noFill/>
          <a:ln/>
        </p:spPr>
        <p:txBody>
          <a:bodyPr wrap="square" lIns="0" tIns="0" rIns="0" bIns="0" rtlCol="0" anchor="t">
            <a:normAutofit/>
          </a:bodyPr>
          <a:lstStyle/>
          <a:p>
            <a:pPr>
              <a:lnSpc>
                <a:spcPct val="103000"/>
              </a:lnSpc>
            </a:pPr>
            <a:r>
              <a:rPr lang="es-ES" sz="2000" dirty="0">
                <a:solidFill>
                  <a:srgbClr val="E6E9FF"/>
                </a:solidFill>
                <a:latin typeface="Lexend" pitchFamily="34" charset="0"/>
                <a:ea typeface="Lexend" pitchFamily="34" charset="-122"/>
                <a:cs typeface="Lexend" pitchFamily="34" charset="-120"/>
              </a:rPr>
              <a:t>Cuando varios hilos comparten datos, es necesario controlar el acceso para evitar resultados incorrectos.</a:t>
            </a:r>
            <a:endParaRPr lang="en-US" sz="2000" dirty="0"/>
          </a:p>
        </p:txBody>
      </p:sp>
      <p:sp>
        <p:nvSpPr>
          <p:cNvPr id="5" name="Shape 3"/>
          <p:cNvSpPr/>
          <p:nvPr/>
        </p:nvSpPr>
        <p:spPr>
          <a:xfrm>
            <a:off x="609585" y="2245519"/>
            <a:ext cx="5333867" cy="3979466"/>
          </a:xfrm>
          <a:prstGeom prst="roundRect">
            <a:avLst>
              <a:gd name="adj" fmla="val 3830"/>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6" name="Text 4"/>
          <p:cNvSpPr/>
          <p:nvPr/>
        </p:nvSpPr>
        <p:spPr>
          <a:xfrm>
            <a:off x="882628" y="2494908"/>
            <a:ext cx="5060823" cy="166191"/>
          </a:xfrm>
          <a:prstGeom prst="rect">
            <a:avLst/>
          </a:prstGeom>
          <a:noFill/>
          <a:ln/>
        </p:spPr>
        <p:txBody>
          <a:bodyPr wrap="none" lIns="0" tIns="0" rIns="0" bIns="0" rtlCol="0" anchor="t"/>
          <a:lstStyle/>
          <a:p>
            <a:pPr marL="0" indent="0" algn="l">
              <a:lnSpc>
                <a:spcPct val="100000"/>
              </a:lnSpc>
              <a:buNone/>
            </a:pPr>
            <a:r>
              <a:rPr lang="en-US" sz="1100" kern="100" spc="65" dirty="0">
                <a:solidFill>
                  <a:srgbClr val="E6E9FF"/>
                </a:solidFill>
                <a:latin typeface="Martian Mono Medium" pitchFamily="34" charset="0"/>
                <a:ea typeface="Martian Mono Medium" pitchFamily="34" charset="-122"/>
                <a:cs typeface="Martian Mono Medium" pitchFamily="34" charset="-120"/>
              </a:rPr>
              <a:t>LA CLAVE EN JAVA</a:t>
            </a:r>
            <a:endParaRPr lang="en-US" sz="1100" dirty="0"/>
          </a:p>
        </p:txBody>
      </p:sp>
      <p:sp>
        <p:nvSpPr>
          <p:cNvPr id="7" name="Text 5"/>
          <p:cNvSpPr/>
          <p:nvPr/>
        </p:nvSpPr>
        <p:spPr>
          <a:xfrm>
            <a:off x="882628" y="2758608"/>
            <a:ext cx="4787780" cy="332482"/>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Uso de synchronized</a:t>
            </a:r>
            <a:endParaRPr lang="en-US" sz="2000" dirty="0"/>
          </a:p>
        </p:txBody>
      </p:sp>
      <p:sp>
        <p:nvSpPr>
          <p:cNvPr id="8" name="Text 6"/>
          <p:cNvSpPr/>
          <p:nvPr/>
        </p:nvSpPr>
        <p:spPr>
          <a:xfrm>
            <a:off x="882628" y="3249026"/>
            <a:ext cx="4787780" cy="1905000"/>
          </a:xfrm>
          <a:prstGeom prst="rect">
            <a:avLst/>
          </a:prstGeom>
          <a:noFill/>
          <a:ln/>
        </p:spPr>
        <p:txBody>
          <a:bodyPr wrap="square" lIns="0" tIns="0" rIns="0" bIns="0" rtlCol="0" anchor="t">
            <a:normAutofit/>
          </a:bodyPr>
          <a:lstStyle/>
          <a:p>
            <a:pPr>
              <a:lnSpc>
                <a:spcPct val="103000"/>
              </a:lnSpc>
            </a:pPr>
            <a:r>
              <a:rPr lang="en-US" sz="2000" dirty="0">
                <a:solidFill>
                  <a:srgbClr val="E6E9FF"/>
                </a:solidFill>
                <a:latin typeface="Consolas" pitchFamily="34" charset="0"/>
                <a:ea typeface="Consolas" pitchFamily="34" charset="-122"/>
                <a:cs typeface="Consolas" pitchFamily="34" charset="-120"/>
              </a:rPr>
              <a:t>public synchronized void </a:t>
            </a:r>
            <a:r>
              <a:rPr lang="en-US" sz="2000" dirty="0" err="1">
                <a:solidFill>
                  <a:srgbClr val="E6E9FF"/>
                </a:solidFill>
                <a:latin typeface="Consolas" pitchFamily="34" charset="0"/>
                <a:ea typeface="Consolas" pitchFamily="34" charset="-122"/>
                <a:cs typeface="Consolas" pitchFamily="34" charset="-120"/>
              </a:rPr>
              <a:t>incrementar</a:t>
            </a:r>
            <a:r>
              <a:rPr lang="en-US" sz="2000" dirty="0">
                <a:solidFill>
                  <a:srgbClr val="E6E9FF"/>
                </a:solidFill>
                <a:latin typeface="Consolas" pitchFamily="34" charset="0"/>
                <a:ea typeface="Consolas" pitchFamily="34" charset="-122"/>
                <a:cs typeface="Consolas" pitchFamily="34" charset="-120"/>
              </a:rPr>
              <a:t>() </a:t>
            </a:r>
          </a:p>
          <a:p>
            <a:pPr>
              <a:lnSpc>
                <a:spcPct val="103000"/>
              </a:lnSpc>
            </a:pPr>
            <a:r>
              <a:rPr lang="en-US" sz="2000" dirty="0">
                <a:solidFill>
                  <a:srgbClr val="E6E9FF"/>
                </a:solidFill>
                <a:latin typeface="Consolas" pitchFamily="34" charset="0"/>
                <a:ea typeface="Consolas" pitchFamily="34" charset="-122"/>
                <a:cs typeface="Consolas" pitchFamily="34" charset="-120"/>
              </a:rPr>
              <a:t>{    </a:t>
            </a:r>
          </a:p>
          <a:p>
            <a:pPr>
              <a:lnSpc>
                <a:spcPct val="103000"/>
              </a:lnSpc>
            </a:pPr>
            <a:r>
              <a:rPr lang="en-US" sz="2000" dirty="0">
                <a:solidFill>
                  <a:srgbClr val="E6E9FF"/>
                </a:solidFill>
                <a:latin typeface="Consolas" pitchFamily="34" charset="0"/>
                <a:ea typeface="Consolas" pitchFamily="34" charset="-122"/>
                <a:cs typeface="Consolas" pitchFamily="34" charset="-120"/>
              </a:rPr>
              <a:t>	</a:t>
            </a:r>
            <a:r>
              <a:rPr lang="en-US" sz="2000" dirty="0" err="1">
                <a:solidFill>
                  <a:srgbClr val="E6E9FF"/>
                </a:solidFill>
                <a:latin typeface="Consolas" pitchFamily="34" charset="0"/>
                <a:ea typeface="Consolas" pitchFamily="34" charset="-122"/>
                <a:cs typeface="Consolas" pitchFamily="34" charset="-120"/>
              </a:rPr>
              <a:t>contador</a:t>
            </a:r>
            <a:r>
              <a:rPr lang="en-US" sz="2000" dirty="0">
                <a:solidFill>
                  <a:srgbClr val="E6E9FF"/>
                </a:solidFill>
                <a:latin typeface="Consolas" pitchFamily="34" charset="0"/>
                <a:ea typeface="Consolas" pitchFamily="34" charset="-122"/>
                <a:cs typeface="Consolas" pitchFamily="34" charset="-120"/>
              </a:rPr>
              <a:t>++;</a:t>
            </a:r>
          </a:p>
          <a:p>
            <a:pPr>
              <a:lnSpc>
                <a:spcPct val="103000"/>
              </a:lnSpc>
            </a:pPr>
            <a:r>
              <a:rPr lang="en-US" sz="2000" dirty="0">
                <a:solidFill>
                  <a:srgbClr val="E6E9FF"/>
                </a:solidFill>
                <a:latin typeface="Consolas" pitchFamily="34" charset="0"/>
                <a:ea typeface="Consolas" pitchFamily="34" charset="-122"/>
                <a:cs typeface="Consolas" pitchFamily="34" charset="-120"/>
              </a:rPr>
              <a:t>}</a:t>
            </a:r>
          </a:p>
          <a:p>
            <a:pPr>
              <a:lnSpc>
                <a:spcPct val="103000"/>
              </a:lnSpc>
            </a:pPr>
            <a:endParaRPr lang="en-US" sz="2000" dirty="0">
              <a:solidFill>
                <a:srgbClr val="E6E9FF"/>
              </a:solidFill>
              <a:latin typeface="Consolas" pitchFamily="34" charset="0"/>
            </a:endParaRPr>
          </a:p>
        </p:txBody>
      </p:sp>
      <p:sp>
        <p:nvSpPr>
          <p:cNvPr id="9" name="Text 7"/>
          <p:cNvSpPr/>
          <p:nvPr/>
        </p:nvSpPr>
        <p:spPr>
          <a:xfrm>
            <a:off x="882628" y="5275170"/>
            <a:ext cx="4787780" cy="714077"/>
          </a:xfrm>
          <a:prstGeom prst="rect">
            <a:avLst/>
          </a:prstGeom>
          <a:noFill/>
          <a:ln/>
        </p:spPr>
        <p:txBody>
          <a:bodyPr wrap="square" lIns="0" tIns="0" rIns="0" bIns="0" rtlCol="0" anchor="t">
            <a:normAutofit/>
          </a:bodyPr>
          <a:lstStyle/>
          <a:p>
            <a:pPr>
              <a:lnSpc>
                <a:spcPct val="103000"/>
              </a:lnSpc>
            </a:pPr>
            <a:r>
              <a:rPr lang="es-ES" sz="1500" dirty="0">
                <a:solidFill>
                  <a:srgbClr val="E6E9FF"/>
                </a:solidFill>
                <a:latin typeface="Lexend" pitchFamily="34" charset="0"/>
                <a:ea typeface="Lexend" pitchFamily="34" charset="-122"/>
                <a:cs typeface="Lexend" pitchFamily="34" charset="-120"/>
              </a:rPr>
              <a:t>Mientras un hilo ejecuta este método, ningún otro hilo puede ejecutarlo sobre el mismo objeto.</a:t>
            </a:r>
          </a:p>
        </p:txBody>
      </p:sp>
      <p:sp>
        <p:nvSpPr>
          <p:cNvPr id="10" name="Shape 8"/>
          <p:cNvSpPr/>
          <p:nvPr/>
        </p:nvSpPr>
        <p:spPr>
          <a:xfrm>
            <a:off x="6248244" y="2245519"/>
            <a:ext cx="5333867" cy="3979466"/>
          </a:xfrm>
          <a:prstGeom prst="roundRect">
            <a:avLst>
              <a:gd name="adj" fmla="val 3830"/>
            </a:avLst>
          </a:prstGeom>
          <a:solidFill>
            <a:srgbClr val="1E1F66"/>
          </a:solidFill>
          <a:ln w="19050">
            <a:solidFill>
              <a:srgbClr val="FF9347"/>
            </a:solidFill>
            <a:prstDash val="solid"/>
          </a:ln>
          <a:effectLst>
            <a:outerShdw blurRad="201930" dist="127" dir="16200000" algn="bl" rotWithShape="0">
              <a:srgbClr val="FF9347">
                <a:alpha val="30000"/>
              </a:srgbClr>
            </a:outerShdw>
          </a:effectLst>
        </p:spPr>
      </p:sp>
      <p:sp>
        <p:nvSpPr>
          <p:cNvPr id="11" name="Text 9"/>
          <p:cNvSpPr/>
          <p:nvPr/>
        </p:nvSpPr>
        <p:spPr>
          <a:xfrm>
            <a:off x="6521287" y="2494908"/>
            <a:ext cx="5060823" cy="166191"/>
          </a:xfrm>
          <a:prstGeom prst="rect">
            <a:avLst/>
          </a:prstGeom>
          <a:noFill/>
          <a:ln/>
        </p:spPr>
        <p:txBody>
          <a:bodyPr wrap="none" lIns="0" tIns="0" rIns="0" bIns="0" rtlCol="0" anchor="t"/>
          <a:lstStyle/>
          <a:p>
            <a:pPr marL="0" indent="0" algn="l">
              <a:lnSpc>
                <a:spcPct val="100000"/>
              </a:lnSpc>
              <a:buNone/>
            </a:pPr>
            <a:r>
              <a:rPr lang="en-US" sz="1100" kern="100" spc="65" dirty="0">
                <a:solidFill>
                  <a:srgbClr val="FF9347"/>
                </a:solidFill>
                <a:latin typeface="Martian Mono Medium" pitchFamily="34" charset="0"/>
                <a:ea typeface="Martian Mono Medium" pitchFamily="34" charset="-122"/>
                <a:cs typeface="Martian Mono Medium" pitchFamily="34" charset="-120"/>
              </a:rPr>
              <a:t>METÁFORA DE LA PUERTA</a:t>
            </a:r>
            <a:endParaRPr lang="en-US" sz="1100" dirty="0"/>
          </a:p>
        </p:txBody>
      </p:sp>
      <p:sp>
        <p:nvSpPr>
          <p:cNvPr id="12" name="Text 10"/>
          <p:cNvSpPr/>
          <p:nvPr/>
        </p:nvSpPr>
        <p:spPr>
          <a:xfrm>
            <a:off x="6521287" y="2758608"/>
            <a:ext cx="4787780" cy="332482"/>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Un único hilo dentro</a:t>
            </a:r>
            <a:endParaRPr lang="en-US" sz="2000" dirty="0"/>
          </a:p>
        </p:txBody>
      </p:sp>
      <p:sp>
        <p:nvSpPr>
          <p:cNvPr id="13" name="Text 11"/>
          <p:cNvSpPr/>
          <p:nvPr/>
        </p:nvSpPr>
        <p:spPr>
          <a:xfrm>
            <a:off x="6521287" y="3245055"/>
            <a:ext cx="4787780" cy="714077"/>
          </a:xfrm>
          <a:prstGeom prst="rect">
            <a:avLst/>
          </a:prstGeom>
          <a:noFill/>
          <a:ln/>
        </p:spPr>
        <p:txBody>
          <a:bodyPr wrap="square" lIns="0" tIns="0" rIns="0" bIns="0" rtlCol="0" anchor="t">
            <a:normAutofit/>
          </a:bodyPr>
          <a:lstStyle/>
          <a:p>
            <a:pPr>
              <a:lnSpc>
                <a:spcPct val="103000"/>
              </a:lnSpc>
            </a:pPr>
            <a:r>
              <a:rPr lang="es-ES" sz="1500" dirty="0">
                <a:solidFill>
                  <a:srgbClr val="E6E9FF"/>
                </a:solidFill>
                <a:latin typeface="Lexend" pitchFamily="34" charset="0"/>
                <a:ea typeface="Lexend" pitchFamily="34" charset="-122"/>
                <a:cs typeface="Lexend" pitchFamily="34" charset="-120"/>
              </a:rPr>
              <a:t>Solo un hilo puede entrar en el recurso cada vez. Mientras esté dentro, los demás deben esperar su turno.</a:t>
            </a:r>
            <a:endParaRPr lang="en-US" sz="1500" dirty="0"/>
          </a:p>
        </p:txBody>
      </p:sp>
      <p:sp>
        <p:nvSpPr>
          <p:cNvPr id="14" name="Shape 12"/>
          <p:cNvSpPr/>
          <p:nvPr/>
        </p:nvSpPr>
        <p:spPr>
          <a:xfrm>
            <a:off x="6521287" y="4134644"/>
            <a:ext cx="4787780" cy="31651"/>
          </a:xfrm>
          <a:prstGeom prst="roundRect">
            <a:avLst>
              <a:gd name="adj" fmla="val 49998"/>
            </a:avLst>
          </a:prstGeom>
          <a:solidFill>
            <a:srgbClr val="3A3D8C"/>
          </a:solidFill>
          <a:ln/>
        </p:spPr>
      </p:sp>
      <p:sp>
        <p:nvSpPr>
          <p:cNvPr id="15" name="Text 13"/>
          <p:cNvSpPr/>
          <p:nvPr/>
        </p:nvSpPr>
        <p:spPr>
          <a:xfrm>
            <a:off x="6521287" y="4422630"/>
            <a:ext cx="5060823" cy="166191"/>
          </a:xfrm>
          <a:prstGeom prst="rect">
            <a:avLst/>
          </a:prstGeom>
          <a:noFill/>
          <a:ln/>
        </p:spPr>
        <p:txBody>
          <a:bodyPr wrap="none" lIns="0" tIns="0" rIns="0" bIns="0" rtlCol="0" anchor="t"/>
          <a:lstStyle/>
          <a:p>
            <a:pPr marL="0" indent="0" algn="l">
              <a:lnSpc>
                <a:spcPct val="100000"/>
              </a:lnSpc>
              <a:buNone/>
            </a:pPr>
            <a:r>
              <a:rPr lang="en-US" sz="1100" kern="100" spc="65" dirty="0">
                <a:solidFill>
                  <a:srgbClr val="E6E9FF"/>
                </a:solidFill>
                <a:latin typeface="Martian Mono Medium" pitchFamily="34" charset="0"/>
                <a:ea typeface="Martian Mono Medium" pitchFamily="34" charset="-122"/>
                <a:cs typeface="Martian Mono Medium" pitchFamily="34" charset="-120"/>
              </a:rPr>
              <a:t>COORDINACIÓN AVANZADA</a:t>
            </a:r>
            <a:endParaRPr lang="en-US" sz="1100" dirty="0"/>
          </a:p>
        </p:txBody>
      </p:sp>
      <p:sp>
        <p:nvSpPr>
          <p:cNvPr id="16" name="Text 14"/>
          <p:cNvSpPr/>
          <p:nvPr/>
        </p:nvSpPr>
        <p:spPr>
          <a:xfrm>
            <a:off x="6521287" y="4681132"/>
            <a:ext cx="4787780" cy="277019"/>
          </a:xfrm>
          <a:prstGeom prst="rect">
            <a:avLst/>
          </a:prstGeom>
          <a:noFill/>
          <a:ln/>
        </p:spPr>
        <p:txBody>
          <a:bodyPr wrap="none" lIns="0" tIns="0" rIns="0" bIns="0" rtlCol="0" anchor="t"/>
          <a:lstStyle/>
          <a:p>
            <a:pPr marL="0" indent="0" algn="l">
              <a:lnSpc>
                <a:spcPct val="108000"/>
              </a:lnSpc>
              <a:buNone/>
            </a:pPr>
            <a:r>
              <a:rPr lang="en-US" sz="1700" kern="100" spc="-8" dirty="0">
                <a:solidFill>
                  <a:srgbClr val="E6E9FF"/>
                </a:solidFill>
                <a:latin typeface="Lexend Medium" pitchFamily="34" charset="0"/>
                <a:ea typeface="Lexend Medium" pitchFamily="34" charset="-122"/>
                <a:cs typeface="Lexend Medium" pitchFamily="34" charset="-120"/>
              </a:rPr>
              <a:t>wait() y notify()</a:t>
            </a:r>
            <a:endParaRPr lang="en-US" sz="1700" dirty="0"/>
          </a:p>
        </p:txBody>
      </p:sp>
      <p:sp>
        <p:nvSpPr>
          <p:cNvPr id="17" name="Text 15"/>
          <p:cNvSpPr/>
          <p:nvPr/>
        </p:nvSpPr>
        <p:spPr>
          <a:xfrm>
            <a:off x="6521287" y="5117313"/>
            <a:ext cx="4787780" cy="714077"/>
          </a:xfrm>
          <a:prstGeom prst="rect">
            <a:avLst/>
          </a:prstGeom>
          <a:noFill/>
          <a:ln/>
        </p:spPr>
        <p:txBody>
          <a:bodyPr wrap="square" lIns="0" tIns="0" rIns="0" bIns="0" rtlCol="0" anchor="t">
            <a:normAutofit/>
          </a:bodyPr>
          <a:lstStyle/>
          <a:p>
            <a:pPr>
              <a:lnSpc>
                <a:spcPct val="103000"/>
              </a:lnSpc>
            </a:pPr>
            <a:r>
              <a:rPr lang="es-ES" sz="1500" dirty="0">
                <a:solidFill>
                  <a:srgbClr val="E6E9FF"/>
                </a:solidFill>
                <a:latin typeface="Lexend" pitchFamily="34" charset="0"/>
                <a:ea typeface="Lexend" pitchFamily="34" charset="-122"/>
                <a:cs typeface="Lexend" pitchFamily="34" charset="-120"/>
              </a:rPr>
              <a:t>Se estudiarán más adelante para coordinar hilos que dependen unos de otros.</a:t>
            </a:r>
            <a:endParaRPr lang="en-US" sz="1500" dirty="0"/>
          </a:p>
        </p:txBody>
      </p:sp>
      <p:sp>
        <p:nvSpPr>
          <p:cNvPr id="18" name="Text 16"/>
          <p:cNvSpPr/>
          <p:nvPr/>
        </p:nvSpPr>
        <p:spPr>
          <a:xfrm>
            <a:off x="609585" y="6425837"/>
            <a:ext cx="10972526" cy="387945"/>
          </a:xfrm>
          <a:prstGeom prst="rect">
            <a:avLst/>
          </a:prstGeom>
          <a:noFill/>
          <a:ln/>
        </p:spPr>
        <p:txBody>
          <a:bodyPr wrap="square" lIns="0" tIns="0" rIns="0" bIns="0" rtlCol="0" anchor="t">
            <a:normAutofit/>
          </a:bodyPr>
          <a:lstStyle/>
          <a:p>
            <a:pPr>
              <a:lnSpc>
                <a:spcPct val="108000"/>
              </a:lnSpc>
            </a:pPr>
            <a:r>
              <a:rPr lang="es-ES" sz="1150" kern="100" spc="12" dirty="0">
                <a:solidFill>
                  <a:srgbClr val="B9BEEA"/>
                </a:solidFill>
                <a:latin typeface="Lexend" pitchFamily="34" charset="0"/>
                <a:ea typeface="Lexend" pitchFamily="34" charset="-122"/>
                <a:cs typeface="Lexend" pitchFamily="34" charset="-120"/>
              </a:rPr>
              <a:t>La sincronización evita errores, pero reduce parte del paralelismo al obligar a los hilos a esperar su turno.</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737" y="405408"/>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8. Protegiendo el contador</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1032301"/>
            <a:ext cx="10904160" cy="5559984"/>
          </a:xfrm>
          <a:prstGeom prst="rect">
            <a:avLst/>
          </a:prstGeom>
        </p:spPr>
        <p:txBody>
          <a:bodyPr wrap="square">
            <a:spAutoFit/>
          </a:bodyPr>
          <a:lstStyle/>
          <a:p>
            <a:pPr>
              <a:lnSpc>
                <a:spcPct val="85000"/>
              </a:lnSpc>
            </a:pPr>
            <a:r>
              <a:rPr lang="es-ES" sz="1900" u="sng" dirty="0">
                <a:solidFill>
                  <a:srgbClr val="E6E9FF"/>
                </a:solidFill>
                <a:latin typeface="Lexend" pitchFamily="34" charset="0"/>
                <a:ea typeface="Lexend" pitchFamily="34" charset="-122"/>
                <a:cs typeface="Lexend" pitchFamily="34" charset="-120"/>
              </a:rPr>
              <a:t>Modifica el ejercicio anterior para evitar el problema de que se pisen los datos utilizando </a:t>
            </a:r>
            <a:r>
              <a:rPr lang="es-ES" sz="1900" u="sng" dirty="0" err="1">
                <a:solidFill>
                  <a:srgbClr val="E6E9FF"/>
                </a:solidFill>
                <a:latin typeface="Lexend" pitchFamily="34" charset="0"/>
                <a:ea typeface="Lexend" pitchFamily="34" charset="-122"/>
                <a:cs typeface="Lexend" pitchFamily="34" charset="-120"/>
              </a:rPr>
              <a:t>synchronized</a:t>
            </a:r>
            <a:r>
              <a:rPr lang="es-ES" sz="1900" u="sng" dirty="0">
                <a:solidFill>
                  <a:srgbClr val="E6E9FF"/>
                </a:solidFill>
                <a:latin typeface="Lexend" pitchFamily="34" charset="0"/>
                <a:ea typeface="Lexend" pitchFamily="34" charset="-122"/>
                <a:cs typeface="Lexend" pitchFamily="34" charset="-120"/>
              </a:rPr>
              <a:t>.</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Requisitos</a:t>
            </a:r>
          </a:p>
          <a:p>
            <a:pPr>
              <a:lnSpc>
                <a:spcPct val="85000"/>
              </a:lnSpc>
            </a:pPr>
            <a:r>
              <a:rPr lang="es-ES" sz="1900" dirty="0">
                <a:solidFill>
                  <a:srgbClr val="E6E9FF"/>
                </a:solidFill>
                <a:latin typeface="Lexend" pitchFamily="34" charset="0"/>
                <a:ea typeface="Lexend" pitchFamily="34" charset="-122"/>
                <a:cs typeface="Lexend" pitchFamily="34" charset="-120"/>
              </a:rPr>
              <a:t>Mantener la clase Contador.</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Seguir utilizando dos hilos.</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Cada hilo debe incrementar el contador 10.000 veces.</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Mostrar el valor final al terminar.</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Cuestiones</a:t>
            </a:r>
          </a:p>
          <a:p>
            <a:pPr>
              <a:lnSpc>
                <a:spcPct val="85000"/>
              </a:lnSpc>
            </a:pPr>
            <a:r>
              <a:rPr lang="es-ES" sz="1900" dirty="0">
                <a:solidFill>
                  <a:srgbClr val="E6E9FF"/>
                </a:solidFill>
                <a:latin typeface="Lexend" pitchFamily="34" charset="0"/>
                <a:ea typeface="Lexend" pitchFamily="34" charset="-122"/>
                <a:cs typeface="Lexend" pitchFamily="34" charset="-120"/>
              </a:rPr>
              <a:t>¿Se obtiene ahora siempre el valor esperado?</a:t>
            </a:r>
          </a:p>
          <a:p>
            <a:pPr>
              <a:lnSpc>
                <a:spcPct val="85000"/>
              </a:lnSpc>
            </a:pPr>
            <a:r>
              <a:rPr lang="es-ES" sz="1900" dirty="0">
                <a:solidFill>
                  <a:srgbClr val="E6E9FF"/>
                </a:solidFill>
                <a:latin typeface="Lexend" pitchFamily="34" charset="0"/>
                <a:ea typeface="Lexend" pitchFamily="34" charset="-122"/>
                <a:cs typeface="Lexend" pitchFamily="34" charset="-120"/>
              </a:rPr>
              <a:t>¿Qué método se ha protegido con </a:t>
            </a:r>
            <a:r>
              <a:rPr lang="es-ES" sz="1900" dirty="0" err="1">
                <a:solidFill>
                  <a:srgbClr val="E6E9FF"/>
                </a:solidFill>
                <a:latin typeface="Lexend" pitchFamily="34" charset="0"/>
                <a:ea typeface="Lexend" pitchFamily="34" charset="-122"/>
                <a:cs typeface="Lexend" pitchFamily="34" charset="-120"/>
              </a:rPr>
              <a:t>synchronized</a:t>
            </a:r>
            <a:r>
              <a:rPr lang="es-ES" sz="1900" dirty="0">
                <a:solidFill>
                  <a:srgbClr val="E6E9FF"/>
                </a:solidFill>
                <a:latin typeface="Lexend" pitchFamily="34" charset="0"/>
                <a:ea typeface="Lexend" pitchFamily="34" charset="-122"/>
                <a:cs typeface="Lexend" pitchFamily="34" charset="-120"/>
              </a:rPr>
              <a:t>?</a:t>
            </a:r>
          </a:p>
          <a:p>
            <a:pPr>
              <a:lnSpc>
                <a:spcPct val="85000"/>
              </a:lnSpc>
            </a:pPr>
            <a:r>
              <a:rPr lang="es-ES" sz="1900" dirty="0">
                <a:solidFill>
                  <a:srgbClr val="E6E9FF"/>
                </a:solidFill>
                <a:latin typeface="Lexend" pitchFamily="34" charset="0"/>
                <a:ea typeface="Lexend" pitchFamily="34" charset="-122"/>
                <a:cs typeface="Lexend" pitchFamily="34" charset="-120"/>
              </a:rPr>
              <a:t>¿Qué ocurre con el resto de hilos mientras uno está ejecutando una sección sincronizada?</a:t>
            </a:r>
          </a:p>
          <a:p>
            <a:pPr>
              <a:lnSpc>
                <a:spcPct val="85000"/>
              </a:lnSpc>
            </a:pPr>
            <a:endParaRPr lang="es-ES" sz="1900" dirty="0">
              <a:solidFill>
                <a:srgbClr val="E6E9FF"/>
              </a:solidFill>
              <a:latin typeface="Lexend" pitchFamily="34" charset="0"/>
              <a:ea typeface="Lexend" pitchFamily="34" charset="-122"/>
              <a:cs typeface="Lexend" pitchFamily="34" charset="-120"/>
            </a:endParaRPr>
          </a:p>
          <a:p>
            <a:pPr>
              <a:lnSpc>
                <a:spcPct val="85000"/>
              </a:lnSpc>
            </a:pPr>
            <a:r>
              <a:rPr lang="es-ES" sz="1900" dirty="0">
                <a:solidFill>
                  <a:srgbClr val="E6E9FF"/>
                </a:solidFill>
                <a:latin typeface="Lexend" pitchFamily="34" charset="0"/>
                <a:ea typeface="Lexend" pitchFamily="34" charset="-122"/>
                <a:cs typeface="Lexend" pitchFamily="34" charset="-120"/>
              </a:rPr>
              <a:t>Pista Solo un hilo puede ejecutar un método sincronizado de un mismo objeto al mismo tiempo.</a:t>
            </a:r>
          </a:p>
          <a:p>
            <a:pPr>
              <a:lnSpc>
                <a:spcPct val="85000"/>
              </a:lnSpc>
            </a:pPr>
            <a:r>
              <a:rPr lang="es-ES" sz="1900" dirty="0">
                <a:solidFill>
                  <a:srgbClr val="E6E9FF"/>
                </a:solidFill>
                <a:latin typeface="Lexend" pitchFamily="34" charset="0"/>
                <a:ea typeface="Lexend" pitchFamily="34" charset="-122"/>
                <a:cs typeface="Lexend" pitchFamily="34" charset="-120"/>
              </a:rPr>
              <a:t>Para mostrar el resultado final correctamente, asegúrate de que el programa espera a que ambos hilos terminen antes de imprimir el contador.</a:t>
            </a:r>
          </a:p>
          <a:p>
            <a:pPr>
              <a:lnSpc>
                <a:spcPct val="85000"/>
              </a:lnSpc>
            </a:pPr>
            <a:r>
              <a:rPr lang="es-ES" sz="1900" dirty="0">
                <a:solidFill>
                  <a:srgbClr val="E6E9FF"/>
                </a:solidFill>
                <a:latin typeface="Lexend" pitchFamily="34" charset="0"/>
                <a:ea typeface="Lexend" pitchFamily="34" charset="-122"/>
                <a:cs typeface="Lexend" pitchFamily="34" charset="-120"/>
              </a:rPr>
              <a:t>Investiga el método: </a:t>
            </a:r>
            <a:r>
              <a:rPr lang="es-ES" sz="1900" dirty="0" err="1">
                <a:solidFill>
                  <a:srgbClr val="E6E9FF"/>
                </a:solidFill>
                <a:latin typeface="Lexend" pitchFamily="34" charset="0"/>
                <a:ea typeface="Lexend" pitchFamily="34" charset="-122"/>
                <a:cs typeface="Lexend" pitchFamily="34" charset="-120"/>
              </a:rPr>
              <a:t>join</a:t>
            </a:r>
            <a:r>
              <a:rPr lang="es-ES" sz="1900" dirty="0">
                <a:solidFill>
                  <a:srgbClr val="E6E9FF"/>
                </a:solidFill>
                <a:latin typeface="Lexend" pitchFamily="34" charset="0"/>
                <a:ea typeface="Lexend" pitchFamily="34" charset="-122"/>
                <a:cs typeface="Lexend" pitchFamily="34" charset="-120"/>
              </a:rPr>
              <a:t>() de la clase </a:t>
            </a:r>
            <a:r>
              <a:rPr lang="es-ES" sz="1900" dirty="0" err="1">
                <a:solidFill>
                  <a:srgbClr val="E6E9FF"/>
                </a:solidFill>
                <a:latin typeface="Lexend" pitchFamily="34" charset="0"/>
                <a:ea typeface="Lexend" pitchFamily="34" charset="-122"/>
                <a:cs typeface="Lexend" pitchFamily="34" charset="-120"/>
              </a:rPr>
              <a:t>Thread</a:t>
            </a:r>
            <a:r>
              <a:rPr lang="es-ES" sz="1900" dirty="0">
                <a:solidFill>
                  <a:srgbClr val="E6E9FF"/>
                </a:solidFill>
                <a:latin typeface="Lexend" pitchFamily="34" charset="0"/>
                <a:ea typeface="Lexend" pitchFamily="34" charset="-122"/>
                <a:cs typeface="Lexend" pitchFamily="34" charset="-120"/>
              </a:rPr>
              <a:t>.</a:t>
            </a:r>
          </a:p>
        </p:txBody>
      </p:sp>
    </p:spTree>
    <p:extLst>
      <p:ext uri="{BB962C8B-B14F-4D97-AF65-F5344CB8AC3E}">
        <p14:creationId xmlns:p14="http://schemas.microsoft.com/office/powerpoint/2010/main" val="1402083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55591" y="319058"/>
            <a:ext cx="7772206" cy="171549"/>
          </a:xfrm>
          <a:prstGeom prst="rect">
            <a:avLst/>
          </a:prstGeom>
          <a:noFill/>
          <a:ln/>
        </p:spPr>
        <p:txBody>
          <a:bodyPr wrap="none" lIns="0" tIns="0" rIns="0" bIns="0" rtlCol="0" anchor="t"/>
          <a:lstStyle/>
          <a:p>
            <a:pPr marL="0" indent="0" algn="l">
              <a:lnSpc>
                <a:spcPct val="100000"/>
              </a:lnSpc>
              <a:buNone/>
            </a:pPr>
            <a:endParaRPr lang="en-US" sz="1150" dirty="0"/>
          </a:p>
        </p:txBody>
      </p:sp>
      <p:sp>
        <p:nvSpPr>
          <p:cNvPr id="3" name="Text 1"/>
          <p:cNvSpPr/>
          <p:nvPr/>
        </p:nvSpPr>
        <p:spPr>
          <a:xfrm>
            <a:off x="355592" y="337573"/>
            <a:ext cx="7416614" cy="354112"/>
          </a:xfrm>
          <a:prstGeom prst="rect">
            <a:avLst/>
          </a:prstGeom>
          <a:noFill/>
          <a:ln/>
        </p:spPr>
        <p:txBody>
          <a:bodyPr wrap="none" lIns="0" tIns="0" rIns="0" bIns="0" rtlCol="0" anchor="t"/>
          <a:lstStyle/>
          <a:p>
            <a:pPr>
              <a:lnSpc>
                <a:spcPct val="96000"/>
              </a:lnSpc>
            </a:pPr>
            <a:r>
              <a:rPr lang="es-ES" sz="2400" kern="100" spc="-12" dirty="0">
                <a:solidFill>
                  <a:srgbClr val="FFFFFF"/>
                </a:solidFill>
                <a:latin typeface="Krona One" pitchFamily="34" charset="0"/>
                <a:ea typeface="Krona One" pitchFamily="34" charset="-122"/>
                <a:cs typeface="Krona One" pitchFamily="34" charset="-120"/>
              </a:rPr>
              <a:t>Cuando sincronizar no es suficiente</a:t>
            </a:r>
            <a:endParaRPr lang="en-US" sz="2400" dirty="0"/>
          </a:p>
        </p:txBody>
      </p:sp>
      <p:sp>
        <p:nvSpPr>
          <p:cNvPr id="4" name="Text 2"/>
          <p:cNvSpPr/>
          <p:nvPr/>
        </p:nvSpPr>
        <p:spPr>
          <a:xfrm>
            <a:off x="355592" y="866986"/>
            <a:ext cx="11165848" cy="3941760"/>
          </a:xfrm>
          <a:prstGeom prst="rect">
            <a:avLst/>
          </a:prstGeom>
          <a:noFill/>
          <a:ln/>
        </p:spPr>
        <p:txBody>
          <a:bodyPr wrap="square" lIns="0" tIns="0" rIns="0" bIns="0" rtlCol="0" anchor="t">
            <a:normAutofit/>
          </a:bodyPr>
          <a:lstStyle/>
          <a:p>
            <a:pPr>
              <a:lnSpc>
                <a:spcPct val="105000"/>
              </a:lnSpc>
            </a:pPr>
            <a:r>
              <a:rPr lang="es-ES" sz="1550" dirty="0">
                <a:solidFill>
                  <a:srgbClr val="E6E9FF"/>
                </a:solidFill>
                <a:latin typeface="Lexend" pitchFamily="34" charset="0"/>
                <a:ea typeface="Lexend" pitchFamily="34" charset="-122"/>
                <a:cs typeface="Lexend" pitchFamily="34" charset="-120"/>
              </a:rPr>
              <a:t>Con </a:t>
            </a:r>
            <a:r>
              <a:rPr lang="es-ES" sz="1550" dirty="0" err="1">
                <a:solidFill>
                  <a:srgbClr val="E6E9FF"/>
                </a:solidFill>
                <a:latin typeface="Lexend" pitchFamily="34" charset="0"/>
                <a:ea typeface="Lexend" pitchFamily="34" charset="-122"/>
                <a:cs typeface="Lexend" pitchFamily="34" charset="-120"/>
              </a:rPr>
              <a:t>synchronized</a:t>
            </a:r>
            <a:r>
              <a:rPr lang="es-ES" sz="1550" dirty="0">
                <a:solidFill>
                  <a:srgbClr val="E6E9FF"/>
                </a:solidFill>
                <a:latin typeface="Lexend" pitchFamily="34" charset="0"/>
                <a:ea typeface="Lexend" pitchFamily="34" charset="-122"/>
                <a:cs typeface="Lexend" pitchFamily="34" charset="-120"/>
              </a:rPr>
              <a:t> hemos evitado que los hilos se pisen. </a:t>
            </a:r>
          </a:p>
          <a:p>
            <a:pPr>
              <a:lnSpc>
                <a:spcPct val="105000"/>
              </a:lnSpc>
            </a:pPr>
            <a:r>
              <a:rPr lang="es-ES" sz="1550" dirty="0">
                <a:solidFill>
                  <a:srgbClr val="E6E9FF"/>
                </a:solidFill>
                <a:latin typeface="Lexend" pitchFamily="34" charset="0"/>
                <a:ea typeface="Lexend" pitchFamily="34" charset="-122"/>
                <a:cs typeface="Lexend" pitchFamily="34" charset="-120"/>
              </a:rPr>
              <a:t>Sin embargo, aparece otro problema: un hilo puede necesitar esperar hasta que exista información disponible.</a:t>
            </a:r>
          </a:p>
          <a:p>
            <a:pPr>
              <a:lnSpc>
                <a:spcPct val="105000"/>
              </a:lnSpc>
            </a:pPr>
            <a:endParaRPr lang="es-ES" sz="1550" dirty="0">
              <a:solidFill>
                <a:srgbClr val="E6E9FF"/>
              </a:solidFill>
              <a:latin typeface="Lexend" pitchFamily="34" charset="0"/>
              <a:ea typeface="Lexend" pitchFamily="34" charset="-122"/>
              <a:cs typeface="Lexend" pitchFamily="34" charset="-120"/>
            </a:endParaRPr>
          </a:p>
          <a:p>
            <a:pPr>
              <a:lnSpc>
                <a:spcPct val="105000"/>
              </a:lnSpc>
            </a:pPr>
            <a:r>
              <a:rPr lang="es-ES" sz="1550" dirty="0">
                <a:solidFill>
                  <a:srgbClr val="E6E9FF"/>
                </a:solidFill>
                <a:latin typeface="Lexend" pitchFamily="34" charset="0"/>
                <a:ea typeface="Lexend" pitchFamily="34" charset="-122"/>
                <a:cs typeface="Lexend" pitchFamily="34" charset="-120"/>
              </a:rPr>
              <a:t>Hilo 1 </a:t>
            </a:r>
            <a:r>
              <a:rPr lang="es-ES" sz="1550" dirty="0">
                <a:solidFill>
                  <a:srgbClr val="E6E9FF"/>
                </a:solidFill>
                <a:latin typeface="Lexend" pitchFamily="34" charset="0"/>
                <a:ea typeface="Lexend" pitchFamily="34" charset="-122"/>
                <a:cs typeface="Lexend" pitchFamily="34" charset="-120"/>
                <a:sym typeface="Wingdings" panose="05000000000000000000" pitchFamily="2" charset="2"/>
              </a:rPr>
              <a:t></a:t>
            </a:r>
            <a:r>
              <a:rPr lang="es-ES" sz="1550" dirty="0">
                <a:solidFill>
                  <a:srgbClr val="E6E9FF"/>
                </a:solidFill>
                <a:latin typeface="Lexend" pitchFamily="34" charset="0"/>
                <a:ea typeface="Lexend" pitchFamily="34" charset="-122"/>
                <a:cs typeface="Lexend" pitchFamily="34" charset="-120"/>
              </a:rPr>
              <a:t> Descargar un archivo // Hilo 2 </a:t>
            </a:r>
            <a:r>
              <a:rPr lang="es-ES" sz="1550" dirty="0">
                <a:solidFill>
                  <a:srgbClr val="E6E9FF"/>
                </a:solidFill>
                <a:latin typeface="Lexend" pitchFamily="34" charset="0"/>
                <a:ea typeface="Lexend" pitchFamily="34" charset="-122"/>
                <a:cs typeface="Lexend" pitchFamily="34" charset="-120"/>
                <a:sym typeface="Wingdings" panose="05000000000000000000" pitchFamily="2" charset="2"/>
              </a:rPr>
              <a:t> Procesar archivo</a:t>
            </a:r>
          </a:p>
          <a:p>
            <a:pPr>
              <a:lnSpc>
                <a:spcPct val="105000"/>
              </a:lnSpc>
            </a:pPr>
            <a:endParaRPr lang="es-ES" sz="1550" dirty="0">
              <a:solidFill>
                <a:srgbClr val="E6E9FF"/>
              </a:solidFill>
              <a:latin typeface="Lexend" pitchFamily="34" charset="0"/>
              <a:ea typeface="Lexend" pitchFamily="34" charset="-122"/>
              <a:cs typeface="Lexend" pitchFamily="34" charset="-120"/>
            </a:endParaRPr>
          </a:p>
          <a:p>
            <a:pPr>
              <a:lnSpc>
                <a:spcPct val="105000"/>
              </a:lnSpc>
            </a:pPr>
            <a:r>
              <a:rPr lang="es-ES" sz="1550" dirty="0">
                <a:solidFill>
                  <a:srgbClr val="E6E9FF"/>
                </a:solidFill>
                <a:latin typeface="Lexend" pitchFamily="34" charset="0"/>
                <a:ea typeface="Lexend" pitchFamily="34" charset="-122"/>
                <a:cs typeface="Lexend" pitchFamily="34" charset="-120"/>
              </a:rPr>
              <a:t>El segundo hilo no puede continuar hasta finalizar la descarga. ¿Tiene que estar comprobando todo el rato?</a:t>
            </a:r>
          </a:p>
          <a:p>
            <a:pPr>
              <a:lnSpc>
                <a:spcPct val="105000"/>
              </a:lnSpc>
            </a:pPr>
            <a:endParaRPr lang="es-ES" sz="1550" dirty="0">
              <a:solidFill>
                <a:srgbClr val="E6E9FF"/>
              </a:solidFill>
              <a:latin typeface="Lexend" pitchFamily="34" charset="0"/>
              <a:ea typeface="Lexend" pitchFamily="34" charset="-122"/>
              <a:cs typeface="Lexend" pitchFamily="34" charset="-120"/>
            </a:endParaRPr>
          </a:p>
          <a:p>
            <a:pPr>
              <a:lnSpc>
                <a:spcPct val="105000"/>
              </a:lnSpc>
            </a:pPr>
            <a:r>
              <a:rPr lang="es-ES" sz="1550" dirty="0">
                <a:solidFill>
                  <a:srgbClr val="E6E9FF"/>
                </a:solidFill>
                <a:latin typeface="Lexend" pitchFamily="34" charset="0"/>
                <a:ea typeface="Lexend" pitchFamily="34" charset="-122"/>
                <a:cs typeface="Lexend" pitchFamily="34" charset="-120"/>
              </a:rPr>
              <a:t>No para eso tenemos:</a:t>
            </a:r>
          </a:p>
          <a:p>
            <a:pPr>
              <a:lnSpc>
                <a:spcPct val="105000"/>
              </a:lnSpc>
            </a:pPr>
            <a:endParaRPr lang="es-ES" sz="1550" dirty="0">
              <a:solidFill>
                <a:srgbClr val="E6E9FF"/>
              </a:solidFill>
              <a:latin typeface="Lexend" pitchFamily="34" charset="0"/>
              <a:ea typeface="Lexend" pitchFamily="34" charset="-122"/>
              <a:cs typeface="Lexend" pitchFamily="34" charset="-120"/>
            </a:endParaRPr>
          </a:p>
          <a:p>
            <a:pPr>
              <a:lnSpc>
                <a:spcPct val="105000"/>
              </a:lnSpc>
            </a:pPr>
            <a:r>
              <a:rPr lang="es-ES" sz="1550" dirty="0" err="1">
                <a:solidFill>
                  <a:srgbClr val="E6E9FF"/>
                </a:solidFill>
                <a:latin typeface="Lexend" pitchFamily="34" charset="0"/>
                <a:ea typeface="Lexend" pitchFamily="34" charset="-122"/>
                <a:cs typeface="Lexend" pitchFamily="34" charset="-120"/>
              </a:rPr>
              <a:t>wait</a:t>
            </a:r>
            <a:r>
              <a:rPr lang="es-ES" sz="1550" dirty="0">
                <a:solidFill>
                  <a:srgbClr val="E6E9FF"/>
                </a:solidFill>
                <a:latin typeface="Lexend" pitchFamily="34" charset="0"/>
                <a:ea typeface="Lexend" pitchFamily="34" charset="-122"/>
                <a:cs typeface="Lexend" pitchFamily="34" charset="-120"/>
              </a:rPr>
              <a:t>()</a:t>
            </a:r>
          </a:p>
          <a:p>
            <a:pPr>
              <a:lnSpc>
                <a:spcPct val="105000"/>
              </a:lnSpc>
            </a:pPr>
            <a:r>
              <a:rPr lang="es-ES" sz="1550" dirty="0">
                <a:solidFill>
                  <a:srgbClr val="E6E9FF"/>
                </a:solidFill>
                <a:latin typeface="Lexend" pitchFamily="34" charset="0"/>
                <a:ea typeface="Lexend" pitchFamily="34" charset="-122"/>
                <a:cs typeface="Lexend" pitchFamily="34" charset="-120"/>
              </a:rPr>
              <a:t>Permite que un hilo quede bloqueado esperando una condición.</a:t>
            </a:r>
          </a:p>
          <a:p>
            <a:pPr>
              <a:lnSpc>
                <a:spcPct val="105000"/>
              </a:lnSpc>
            </a:pPr>
            <a:endParaRPr lang="es-ES" sz="1550" dirty="0">
              <a:solidFill>
                <a:srgbClr val="E6E9FF"/>
              </a:solidFill>
              <a:latin typeface="Lexend" pitchFamily="34" charset="0"/>
              <a:ea typeface="Lexend" pitchFamily="34" charset="-122"/>
              <a:cs typeface="Lexend" pitchFamily="34" charset="-120"/>
            </a:endParaRPr>
          </a:p>
          <a:p>
            <a:pPr>
              <a:lnSpc>
                <a:spcPct val="105000"/>
              </a:lnSpc>
            </a:pPr>
            <a:r>
              <a:rPr lang="es-ES" sz="1550" dirty="0" err="1">
                <a:solidFill>
                  <a:srgbClr val="E6E9FF"/>
                </a:solidFill>
                <a:latin typeface="Lexend" pitchFamily="34" charset="0"/>
                <a:ea typeface="Lexend" pitchFamily="34" charset="-122"/>
                <a:cs typeface="Lexend" pitchFamily="34" charset="-120"/>
              </a:rPr>
              <a:t>notify</a:t>
            </a:r>
            <a:r>
              <a:rPr lang="es-ES" sz="1550" dirty="0">
                <a:solidFill>
                  <a:srgbClr val="E6E9FF"/>
                </a:solidFill>
                <a:latin typeface="Lexend" pitchFamily="34" charset="0"/>
                <a:ea typeface="Lexend" pitchFamily="34" charset="-122"/>
                <a:cs typeface="Lexend" pitchFamily="34" charset="-120"/>
              </a:rPr>
              <a:t>()</a:t>
            </a:r>
          </a:p>
          <a:p>
            <a:pPr>
              <a:lnSpc>
                <a:spcPct val="105000"/>
              </a:lnSpc>
            </a:pPr>
            <a:r>
              <a:rPr lang="es-ES" sz="1550" dirty="0">
                <a:solidFill>
                  <a:srgbClr val="E6E9FF"/>
                </a:solidFill>
                <a:latin typeface="Lexend" pitchFamily="34" charset="0"/>
                <a:ea typeface="Lexend" pitchFamily="34" charset="-122"/>
                <a:cs typeface="Lexend" pitchFamily="34" charset="-120"/>
              </a:rPr>
              <a:t>Despierta a un hilo que estaba esperando.</a:t>
            </a:r>
          </a:p>
          <a:p>
            <a:pPr>
              <a:lnSpc>
                <a:spcPct val="105000"/>
              </a:lnSpc>
            </a:pPr>
            <a:endParaRPr lang="es-ES" sz="1550" dirty="0">
              <a:solidFill>
                <a:srgbClr val="E6E9FF"/>
              </a:solidFill>
              <a:latin typeface="Lexend" pitchFamily="34" charset="0"/>
              <a:ea typeface="Lexend" pitchFamily="34" charset="-122"/>
              <a:cs typeface="Lexend" pitchFamily="34" charset="-120"/>
            </a:endParaRPr>
          </a:p>
          <a:p>
            <a:pPr>
              <a:lnSpc>
                <a:spcPct val="105000"/>
              </a:lnSpc>
            </a:pPr>
            <a:endParaRPr lang="es-ES" sz="1550" dirty="0">
              <a:solidFill>
                <a:srgbClr val="E6E9FF"/>
              </a:solidFill>
              <a:latin typeface="Lexend" pitchFamily="34" charset="0"/>
            </a:endParaRPr>
          </a:p>
          <a:p>
            <a:pPr>
              <a:lnSpc>
                <a:spcPct val="105000"/>
              </a:lnSpc>
            </a:pPr>
            <a:endParaRPr lang="en-US" sz="1550" dirty="0"/>
          </a:p>
        </p:txBody>
      </p:sp>
      <p:sp>
        <p:nvSpPr>
          <p:cNvPr id="11" name="Text 9"/>
          <p:cNvSpPr/>
          <p:nvPr/>
        </p:nvSpPr>
        <p:spPr>
          <a:xfrm>
            <a:off x="355591" y="4722971"/>
            <a:ext cx="7772206" cy="171549"/>
          </a:xfrm>
          <a:prstGeom prst="rect">
            <a:avLst/>
          </a:prstGeom>
          <a:noFill/>
          <a:ln/>
        </p:spPr>
        <p:txBody>
          <a:bodyPr wrap="none" lIns="0" tIns="0" rIns="0" bIns="0" rtlCol="0" anchor="t"/>
          <a:lstStyle/>
          <a:p>
            <a:pPr marL="0" indent="0" algn="l">
              <a:lnSpc>
                <a:spcPct val="100000"/>
              </a:lnSpc>
              <a:buNone/>
            </a:pPr>
            <a:r>
              <a:rPr lang="en-US" sz="1150" kern="100" spc="68" dirty="0">
                <a:solidFill>
                  <a:srgbClr val="27E0E3"/>
                </a:solidFill>
                <a:latin typeface="Martian Mono Medium" pitchFamily="34" charset="0"/>
                <a:ea typeface="Martian Mono Medium" pitchFamily="34" charset="-122"/>
                <a:cs typeface="Martian Mono Medium" pitchFamily="34" charset="-120"/>
              </a:rPr>
              <a:t>OTROS USOS</a:t>
            </a:r>
            <a:endParaRPr lang="en-US" sz="1150" dirty="0"/>
          </a:p>
        </p:txBody>
      </p:sp>
      <p:sp>
        <p:nvSpPr>
          <p:cNvPr id="12" name="Text 10"/>
          <p:cNvSpPr/>
          <p:nvPr/>
        </p:nvSpPr>
        <p:spPr>
          <a:xfrm>
            <a:off x="355591" y="5098814"/>
            <a:ext cx="7772206" cy="249238"/>
          </a:xfrm>
          <a:prstGeom prst="rect">
            <a:avLst/>
          </a:prstGeom>
          <a:noFill/>
          <a:ln/>
        </p:spPr>
        <p:txBody>
          <a:bodyPr wrap="none" lIns="0" tIns="0" rIns="0" bIns="0" rtlCol="0" anchor="t"/>
          <a:lstStyle/>
          <a:p>
            <a:pPr>
              <a:lnSpc>
                <a:spcPct val="105000"/>
              </a:lnSpc>
            </a:pPr>
            <a:r>
              <a:rPr lang="es-ES" sz="1550" dirty="0">
                <a:solidFill>
                  <a:srgbClr val="E6E9FF"/>
                </a:solidFill>
                <a:latin typeface="Lexend" pitchFamily="34" charset="0"/>
                <a:ea typeface="Lexend" pitchFamily="34" charset="-122"/>
                <a:cs typeface="Lexend" pitchFamily="34" charset="-120"/>
              </a:rPr>
              <a:t>Generación de informes, exportación de datos, envío masivo de correos</a:t>
            </a:r>
            <a:endParaRPr lang="en-US" sz="1550" dirty="0"/>
          </a:p>
        </p:txBody>
      </p:sp>
      <p:sp>
        <p:nvSpPr>
          <p:cNvPr id="13" name="Text 11"/>
          <p:cNvSpPr/>
          <p:nvPr/>
        </p:nvSpPr>
        <p:spPr>
          <a:xfrm>
            <a:off x="355591" y="5740364"/>
            <a:ext cx="7772206" cy="200124"/>
          </a:xfrm>
          <a:prstGeom prst="rect">
            <a:avLst/>
          </a:prstGeom>
          <a:noFill/>
          <a:ln/>
        </p:spPr>
        <p:txBody>
          <a:bodyPr wrap="none" lIns="0" tIns="0" rIns="0" bIns="0" rtlCol="0" anchor="t"/>
          <a:lstStyle/>
          <a:p>
            <a:pPr>
              <a:lnSpc>
                <a:spcPct val="108000"/>
              </a:lnSpc>
            </a:pPr>
            <a:r>
              <a:rPr lang="es-ES" sz="1200" kern="100" spc="12" dirty="0">
                <a:solidFill>
                  <a:srgbClr val="B9BEEA"/>
                </a:solidFill>
                <a:latin typeface="Lexend" pitchFamily="34" charset="0"/>
                <a:ea typeface="Lexend" pitchFamily="34" charset="-122"/>
                <a:cs typeface="Lexend" pitchFamily="34" charset="-120"/>
              </a:rPr>
              <a:t>En un servidor web, cada petición de un usuario puede ser atendida por un hilo diferente.</a:t>
            </a:r>
            <a:endParaRPr lang="en-US" sz="1200" dirty="0"/>
          </a:p>
        </p:txBody>
      </p:sp>
      <p:sp>
        <p:nvSpPr>
          <p:cNvPr id="14" name="Text 12"/>
          <p:cNvSpPr/>
          <p:nvPr/>
        </p:nvSpPr>
        <p:spPr>
          <a:xfrm>
            <a:off x="355591" y="6109819"/>
            <a:ext cx="3708307" cy="200124"/>
          </a:xfrm>
          <a:prstGeom prst="rect">
            <a:avLst/>
          </a:prstGeom>
          <a:noFill/>
          <a:ln/>
        </p:spPr>
        <p:txBody>
          <a:bodyPr wrap="none" lIns="0" tIns="0" rIns="0" bIns="0" rtlCol="0" anchor="t"/>
          <a:lstStyle/>
          <a:p>
            <a:pPr marL="0" indent="0" algn="l">
              <a:lnSpc>
                <a:spcPct val="108000"/>
              </a:lnSpc>
              <a:buNone/>
            </a:pPr>
            <a:r>
              <a:rPr lang="en-US" sz="1200" kern="100" spc="12" dirty="0">
                <a:solidFill>
                  <a:srgbClr val="B9BEEA"/>
                </a:solidFill>
                <a:latin typeface="Lexend" pitchFamily="34" charset="0"/>
                <a:ea typeface="Lexend" pitchFamily="34" charset="-122"/>
                <a:cs typeface="Lexend" pitchFamily="34" charset="-120"/>
              </a:rPr>
              <a:t>SERVIDOR · socket</a:t>
            </a:r>
            <a:endParaRPr lang="en-US" sz="1200" dirty="0"/>
          </a:p>
        </p:txBody>
      </p:sp>
      <p:sp>
        <p:nvSpPr>
          <p:cNvPr id="15" name="Text 13"/>
          <p:cNvSpPr/>
          <p:nvPr/>
        </p:nvSpPr>
        <p:spPr>
          <a:xfrm>
            <a:off x="4292493" y="6109819"/>
            <a:ext cx="3479713" cy="533499"/>
          </a:xfrm>
          <a:prstGeom prst="rect">
            <a:avLst/>
          </a:prstGeom>
          <a:noFill/>
          <a:ln/>
        </p:spPr>
        <p:txBody>
          <a:bodyPr wrap="square" lIns="0" tIns="0" rIns="0" bIns="0" rtlCol="0" anchor="t"/>
          <a:lstStyle/>
          <a:p>
            <a:pPr marL="0" indent="0" algn="l">
              <a:lnSpc>
                <a:spcPct val="108000"/>
              </a:lnSpc>
              <a:spcAft>
                <a:spcPts val="1000"/>
              </a:spcAft>
              <a:buNone/>
            </a:pPr>
            <a:r>
              <a:rPr lang="en-US" sz="1200" kern="100" spc="12" dirty="0">
                <a:solidFill>
                  <a:srgbClr val="B9BEEA"/>
                </a:solidFill>
                <a:latin typeface="Lexend" pitchFamily="34" charset="0"/>
                <a:ea typeface="Lexend" pitchFamily="34" charset="-122"/>
                <a:cs typeface="Lexend" pitchFamily="34" charset="-120"/>
              </a:rPr>
              <a:t>CLIENTES 1 · 2 · 3 · 4</a:t>
            </a:r>
            <a:endParaRPr lang="en-US" sz="1200" dirty="0"/>
          </a:p>
          <a:p>
            <a:pPr marL="0" indent="0" algn="l">
              <a:lnSpc>
                <a:spcPct val="108000"/>
              </a:lnSpc>
              <a:buNone/>
            </a:pPr>
            <a:r>
              <a:rPr lang="en-US" sz="1200" kern="100" spc="12" dirty="0">
                <a:solidFill>
                  <a:srgbClr val="B9BEEA"/>
                </a:solidFill>
                <a:latin typeface="Lexend" pitchFamily="34" charset="0"/>
                <a:ea typeface="Lexend" pitchFamily="34" charset="-122"/>
                <a:cs typeface="Lexend" pitchFamily="34" charset="-120"/>
              </a:rPr>
              <a:t>Cada petición → un hilo distinto</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737" y="244551"/>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9. Esperando una descarga</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836093"/>
            <a:ext cx="10904160" cy="6161687"/>
          </a:xfrm>
          <a:prstGeom prst="rect">
            <a:avLst/>
          </a:prstGeom>
        </p:spPr>
        <p:txBody>
          <a:bodyPr wrap="square">
            <a:spAutoFit/>
          </a:bodyPr>
          <a:lstStyle/>
          <a:p>
            <a:pPr>
              <a:lnSpc>
                <a:spcPct val="85000"/>
              </a:lnSpc>
            </a:pPr>
            <a:r>
              <a:rPr lang="es-ES" sz="1600" dirty="0">
                <a:solidFill>
                  <a:srgbClr val="E6E9FF"/>
                </a:solidFill>
                <a:latin typeface="Lexend" pitchFamily="34" charset="0"/>
                <a:ea typeface="Lexend" pitchFamily="34" charset="-122"/>
                <a:cs typeface="Lexend" pitchFamily="34" charset="-120"/>
              </a:rPr>
              <a:t>Una aplicación descarga un archivo en segundo plano.</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a:solidFill>
                  <a:srgbClr val="E6E9FF"/>
                </a:solidFill>
                <a:latin typeface="Lexend" pitchFamily="34" charset="0"/>
                <a:ea typeface="Lexend" pitchFamily="34" charset="-122"/>
                <a:cs typeface="Lexend" pitchFamily="34" charset="-120"/>
              </a:rPr>
              <a:t>Un hilo simulará la descarga. Otro hilo intentará utilizar el archivo descargado.</a:t>
            </a:r>
          </a:p>
          <a:p>
            <a:pPr>
              <a:lnSpc>
                <a:spcPct val="85000"/>
              </a:lnSpc>
            </a:pPr>
            <a:r>
              <a:rPr lang="es-ES" sz="1600" dirty="0">
                <a:solidFill>
                  <a:srgbClr val="E6E9FF"/>
                </a:solidFill>
                <a:latin typeface="Lexend" pitchFamily="34" charset="0"/>
                <a:ea typeface="Lexend" pitchFamily="34" charset="-122"/>
                <a:cs typeface="Lexend" pitchFamily="34" charset="-120"/>
              </a:rPr>
              <a:t>Si el archivo todavía no está disponible, el segundo hilo deberá esperar utilizando </a:t>
            </a:r>
            <a:r>
              <a:rPr lang="es-ES" sz="1600" dirty="0" err="1">
                <a:solidFill>
                  <a:srgbClr val="E6E9FF"/>
                </a:solidFill>
                <a:latin typeface="Lexend" pitchFamily="34" charset="0"/>
                <a:ea typeface="Lexend" pitchFamily="34" charset="-122"/>
                <a:cs typeface="Lexend" pitchFamily="34" charset="-120"/>
              </a:rPr>
              <a:t>wait</a:t>
            </a:r>
            <a:r>
              <a:rPr lang="es-ES" sz="1600" dirty="0">
                <a:solidFill>
                  <a:srgbClr val="E6E9FF"/>
                </a:solidFill>
                <a:latin typeface="Lexend" pitchFamily="34" charset="0"/>
                <a:ea typeface="Lexend" pitchFamily="34" charset="-122"/>
                <a:cs typeface="Lexend" pitchFamily="34" charset="-120"/>
              </a:rPr>
              <a:t>().</a:t>
            </a:r>
          </a:p>
          <a:p>
            <a:pPr>
              <a:lnSpc>
                <a:spcPct val="85000"/>
              </a:lnSpc>
            </a:pPr>
            <a:r>
              <a:rPr lang="es-ES" sz="1600" dirty="0">
                <a:solidFill>
                  <a:srgbClr val="E6E9FF"/>
                </a:solidFill>
                <a:latin typeface="Lexend" pitchFamily="34" charset="0"/>
                <a:ea typeface="Lexend" pitchFamily="34" charset="-122"/>
                <a:cs typeface="Lexend" pitchFamily="34" charset="-120"/>
              </a:rPr>
              <a:t>Cuando la descarga termine, el primer hilo avisará al segundo mediante </a:t>
            </a:r>
            <a:r>
              <a:rPr lang="es-ES" sz="1600" dirty="0" err="1">
                <a:solidFill>
                  <a:srgbClr val="E6E9FF"/>
                </a:solidFill>
                <a:latin typeface="Lexend" pitchFamily="34" charset="0"/>
                <a:ea typeface="Lexend" pitchFamily="34" charset="-122"/>
                <a:cs typeface="Lexend" pitchFamily="34" charset="-120"/>
              </a:rPr>
              <a:t>notify</a:t>
            </a:r>
            <a:r>
              <a:rPr lang="es-ES" sz="1600" dirty="0">
                <a:solidFill>
                  <a:srgbClr val="E6E9FF"/>
                </a:solidFill>
                <a:latin typeface="Lexend" pitchFamily="34" charset="0"/>
                <a:ea typeface="Lexend" pitchFamily="34" charset="-122"/>
                <a:cs typeface="Lexend" pitchFamily="34" charset="-120"/>
              </a:rPr>
              <a:t>().</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a:solidFill>
                  <a:srgbClr val="E6E9FF"/>
                </a:solidFill>
                <a:latin typeface="Courier New" panose="02070309020205020404" pitchFamily="49" charset="0"/>
                <a:ea typeface="Lexend" pitchFamily="34" charset="-122"/>
                <a:cs typeface="Courier New" panose="02070309020205020404" pitchFamily="49" charset="0"/>
              </a:rPr>
              <a:t>Salida esperada (aproximada)</a:t>
            </a:r>
          </a:p>
          <a:p>
            <a:pPr>
              <a:lnSpc>
                <a:spcPct val="85000"/>
              </a:lnSpc>
            </a:pPr>
            <a:r>
              <a:rPr lang="es-ES" sz="1600" dirty="0">
                <a:solidFill>
                  <a:srgbClr val="E6E9FF"/>
                </a:solidFill>
                <a:latin typeface="Courier New" panose="02070309020205020404" pitchFamily="49" charset="0"/>
                <a:ea typeface="Lexend" pitchFamily="34" charset="-122"/>
                <a:cs typeface="Courier New" panose="02070309020205020404" pitchFamily="49" charset="0"/>
              </a:rPr>
              <a:t>Procesador: esperando archivo... </a:t>
            </a:r>
          </a:p>
          <a:p>
            <a:pPr>
              <a:lnSpc>
                <a:spcPct val="85000"/>
              </a:lnSpc>
            </a:pPr>
            <a:r>
              <a:rPr lang="es-ES" sz="1600" dirty="0">
                <a:solidFill>
                  <a:srgbClr val="E6E9FF"/>
                </a:solidFill>
                <a:latin typeface="Courier New" panose="02070309020205020404" pitchFamily="49" charset="0"/>
                <a:ea typeface="Lexend" pitchFamily="34" charset="-122"/>
                <a:cs typeface="Courier New" panose="02070309020205020404" pitchFamily="49" charset="0"/>
              </a:rPr>
              <a:t>Descargador: iniciando descarga...</a:t>
            </a:r>
          </a:p>
          <a:p>
            <a:pPr>
              <a:lnSpc>
                <a:spcPct val="85000"/>
              </a:lnSpc>
            </a:pPr>
            <a:r>
              <a:rPr lang="es-ES" sz="1600" dirty="0">
                <a:solidFill>
                  <a:srgbClr val="E6E9FF"/>
                </a:solidFill>
                <a:latin typeface="Courier New" panose="02070309020205020404" pitchFamily="49" charset="0"/>
                <a:ea typeface="Lexend" pitchFamily="34" charset="-122"/>
                <a:cs typeface="Courier New" panose="02070309020205020404" pitchFamily="49" charset="0"/>
              </a:rPr>
              <a:t>Descargador: descarga completada. </a:t>
            </a:r>
          </a:p>
          <a:p>
            <a:pPr>
              <a:lnSpc>
                <a:spcPct val="85000"/>
              </a:lnSpc>
            </a:pPr>
            <a:r>
              <a:rPr lang="es-ES" sz="1600" dirty="0">
                <a:solidFill>
                  <a:srgbClr val="E6E9FF"/>
                </a:solidFill>
                <a:latin typeface="Courier New" panose="02070309020205020404" pitchFamily="49" charset="0"/>
                <a:ea typeface="Lexend" pitchFamily="34" charset="-122"/>
                <a:cs typeface="Courier New" panose="02070309020205020404" pitchFamily="49" charset="0"/>
              </a:rPr>
              <a:t>Procesador: archivo disponible.</a:t>
            </a:r>
          </a:p>
          <a:p>
            <a:pPr>
              <a:lnSpc>
                <a:spcPct val="85000"/>
              </a:lnSpc>
            </a:pPr>
            <a:r>
              <a:rPr lang="es-ES" sz="1600" dirty="0">
                <a:solidFill>
                  <a:srgbClr val="E6E9FF"/>
                </a:solidFill>
                <a:latin typeface="Courier New" panose="02070309020205020404" pitchFamily="49" charset="0"/>
                <a:ea typeface="Lexend" pitchFamily="34" charset="-122"/>
                <a:cs typeface="Courier New" panose="02070309020205020404" pitchFamily="49" charset="0"/>
              </a:rPr>
              <a:t>Procesador: procesando archivo... </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a:solidFill>
                  <a:srgbClr val="E6E9FF"/>
                </a:solidFill>
                <a:latin typeface="Lexend" pitchFamily="34" charset="0"/>
                <a:ea typeface="Lexend" pitchFamily="34" charset="-122"/>
                <a:cs typeface="Lexend" pitchFamily="34" charset="-120"/>
              </a:rPr>
              <a:t>Requisitos</a:t>
            </a:r>
          </a:p>
          <a:p>
            <a:pPr>
              <a:lnSpc>
                <a:spcPct val="85000"/>
              </a:lnSpc>
            </a:pPr>
            <a:r>
              <a:rPr lang="es-ES" sz="1600" dirty="0">
                <a:solidFill>
                  <a:srgbClr val="E6E9FF"/>
                </a:solidFill>
                <a:latin typeface="Lexend" pitchFamily="34" charset="0"/>
                <a:ea typeface="Lexend" pitchFamily="34" charset="-122"/>
                <a:cs typeface="Lexend" pitchFamily="34" charset="-120"/>
              </a:rPr>
              <a:t>Crear dos hilos: Descargador y Procesador</a:t>
            </a:r>
          </a:p>
          <a:p>
            <a:pPr>
              <a:lnSpc>
                <a:spcPct val="85000"/>
              </a:lnSpc>
            </a:pPr>
            <a:r>
              <a:rPr lang="es-ES" sz="1600" dirty="0">
                <a:solidFill>
                  <a:srgbClr val="E6E9FF"/>
                </a:solidFill>
                <a:latin typeface="Lexend" pitchFamily="34" charset="0"/>
                <a:ea typeface="Lexend" pitchFamily="34" charset="-122"/>
                <a:cs typeface="Lexend" pitchFamily="34" charset="-120"/>
              </a:rPr>
              <a:t>Compartir un objeto que indique si el archivo está disponible.</a:t>
            </a:r>
          </a:p>
          <a:p>
            <a:pPr>
              <a:lnSpc>
                <a:spcPct val="85000"/>
              </a:lnSpc>
            </a:pPr>
            <a:r>
              <a:rPr lang="es-ES" sz="1600" dirty="0">
                <a:solidFill>
                  <a:srgbClr val="E6E9FF"/>
                </a:solidFill>
                <a:latin typeface="Lexend" pitchFamily="34" charset="0"/>
                <a:ea typeface="Lexend" pitchFamily="34" charset="-122"/>
                <a:cs typeface="Lexend" pitchFamily="34" charset="-120"/>
              </a:rPr>
              <a:t>El hilo procesador debe intentar acceder al archivo antes de que la descarga haya finalizado.</a:t>
            </a:r>
          </a:p>
          <a:p>
            <a:pPr>
              <a:lnSpc>
                <a:spcPct val="85000"/>
              </a:lnSpc>
            </a:pPr>
            <a:r>
              <a:rPr lang="es-ES" sz="1600" dirty="0">
                <a:solidFill>
                  <a:srgbClr val="E6E9FF"/>
                </a:solidFill>
                <a:latin typeface="Lexend" pitchFamily="34" charset="0"/>
                <a:ea typeface="Lexend" pitchFamily="34" charset="-122"/>
                <a:cs typeface="Lexend" pitchFamily="34" charset="-120"/>
              </a:rPr>
              <a:t>Si el archivo no está disponible, el procesador debe esperar.</a:t>
            </a:r>
          </a:p>
          <a:p>
            <a:pPr>
              <a:lnSpc>
                <a:spcPct val="85000"/>
              </a:lnSpc>
            </a:pPr>
            <a:r>
              <a:rPr lang="es-ES" sz="1600" dirty="0">
                <a:solidFill>
                  <a:srgbClr val="E6E9FF"/>
                </a:solidFill>
                <a:latin typeface="Lexend" pitchFamily="34" charset="0"/>
                <a:ea typeface="Lexend" pitchFamily="34" charset="-122"/>
                <a:cs typeface="Lexend" pitchFamily="34" charset="-120"/>
              </a:rPr>
              <a:t>Cuando finalice la descarga, el descargador debe despertar al procesador.</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a:solidFill>
                  <a:srgbClr val="E6E9FF"/>
                </a:solidFill>
                <a:latin typeface="Lexend" pitchFamily="34" charset="0"/>
                <a:ea typeface="Lexend" pitchFamily="34" charset="-122"/>
                <a:cs typeface="Lexend" pitchFamily="34" charset="-120"/>
              </a:rPr>
              <a:t>Cuestiones</a:t>
            </a:r>
          </a:p>
          <a:p>
            <a:pPr>
              <a:lnSpc>
                <a:spcPct val="85000"/>
              </a:lnSpc>
            </a:pPr>
            <a:r>
              <a:rPr lang="es-ES" sz="1600" dirty="0">
                <a:solidFill>
                  <a:srgbClr val="E6E9FF"/>
                </a:solidFill>
                <a:latin typeface="Lexend" pitchFamily="34" charset="0"/>
                <a:ea typeface="Lexend" pitchFamily="34" charset="-122"/>
                <a:cs typeface="Lexend" pitchFamily="34" charset="-120"/>
              </a:rPr>
              <a:t>¿Qué ocurre cuando el procesador ejecuta </a:t>
            </a:r>
            <a:r>
              <a:rPr lang="es-ES" sz="1600" dirty="0" err="1">
                <a:solidFill>
                  <a:srgbClr val="E6E9FF"/>
                </a:solidFill>
                <a:latin typeface="Lexend" pitchFamily="34" charset="0"/>
                <a:ea typeface="Lexend" pitchFamily="34" charset="-122"/>
                <a:cs typeface="Lexend" pitchFamily="34" charset="-120"/>
              </a:rPr>
              <a:t>wait</a:t>
            </a:r>
            <a:r>
              <a:rPr lang="es-ES" sz="1600" dirty="0">
                <a:solidFill>
                  <a:srgbClr val="E6E9FF"/>
                </a:solidFill>
                <a:latin typeface="Lexend" pitchFamily="34" charset="0"/>
                <a:ea typeface="Lexend" pitchFamily="34" charset="-122"/>
                <a:cs typeface="Lexend" pitchFamily="34" charset="-120"/>
              </a:rPr>
              <a:t>()?</a:t>
            </a:r>
          </a:p>
          <a:p>
            <a:pPr>
              <a:lnSpc>
                <a:spcPct val="85000"/>
              </a:lnSpc>
            </a:pPr>
            <a:r>
              <a:rPr lang="es-ES" sz="1600" dirty="0">
                <a:solidFill>
                  <a:srgbClr val="E6E9FF"/>
                </a:solidFill>
                <a:latin typeface="Lexend" pitchFamily="34" charset="0"/>
                <a:ea typeface="Lexend" pitchFamily="34" charset="-122"/>
                <a:cs typeface="Lexend" pitchFamily="34" charset="-120"/>
              </a:rPr>
              <a:t>¿Quién ejecuta </a:t>
            </a:r>
            <a:r>
              <a:rPr lang="es-ES" sz="1600" dirty="0" err="1">
                <a:solidFill>
                  <a:srgbClr val="E6E9FF"/>
                </a:solidFill>
                <a:latin typeface="Lexend" pitchFamily="34" charset="0"/>
                <a:ea typeface="Lexend" pitchFamily="34" charset="-122"/>
                <a:cs typeface="Lexend" pitchFamily="34" charset="-120"/>
              </a:rPr>
              <a:t>notify</a:t>
            </a:r>
            <a:r>
              <a:rPr lang="es-ES" sz="1600" dirty="0">
                <a:solidFill>
                  <a:srgbClr val="E6E9FF"/>
                </a:solidFill>
                <a:latin typeface="Lexend" pitchFamily="34" charset="0"/>
                <a:ea typeface="Lexend" pitchFamily="34" charset="-122"/>
                <a:cs typeface="Lexend" pitchFamily="34" charset="-120"/>
              </a:rPr>
              <a:t>()?</a:t>
            </a:r>
          </a:p>
          <a:p>
            <a:pPr>
              <a:lnSpc>
                <a:spcPct val="85000"/>
              </a:lnSpc>
            </a:pPr>
            <a:r>
              <a:rPr lang="es-ES" sz="1600" dirty="0">
                <a:solidFill>
                  <a:srgbClr val="E6E9FF"/>
                </a:solidFill>
                <a:latin typeface="Lexend" pitchFamily="34" charset="0"/>
                <a:ea typeface="Lexend" pitchFamily="34" charset="-122"/>
                <a:cs typeface="Lexend" pitchFamily="34" charset="-120"/>
              </a:rPr>
              <a:t>¿Qué sucede si eliminas la llamada a </a:t>
            </a:r>
            <a:r>
              <a:rPr lang="es-ES" sz="1600" dirty="0" err="1">
                <a:solidFill>
                  <a:srgbClr val="E6E9FF"/>
                </a:solidFill>
                <a:latin typeface="Lexend" pitchFamily="34" charset="0"/>
                <a:ea typeface="Lexend" pitchFamily="34" charset="-122"/>
                <a:cs typeface="Lexend" pitchFamily="34" charset="-120"/>
              </a:rPr>
              <a:t>notify</a:t>
            </a:r>
            <a:r>
              <a:rPr lang="es-ES" sz="1600" dirty="0">
                <a:solidFill>
                  <a:srgbClr val="E6E9FF"/>
                </a:solidFill>
                <a:latin typeface="Lexend" pitchFamily="34" charset="0"/>
                <a:ea typeface="Lexend" pitchFamily="34" charset="-122"/>
                <a:cs typeface="Lexend" pitchFamily="34" charset="-120"/>
              </a:rPr>
              <a:t>()?</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a:solidFill>
                  <a:srgbClr val="E6E9FF"/>
                </a:solidFill>
                <a:latin typeface="Lexend" pitchFamily="34" charset="0"/>
                <a:ea typeface="Lexend" pitchFamily="34" charset="-122"/>
                <a:cs typeface="Lexend" pitchFamily="34" charset="-120"/>
              </a:rPr>
              <a:t>Pista</a:t>
            </a:r>
          </a:p>
          <a:p>
            <a:pPr>
              <a:lnSpc>
                <a:spcPct val="85000"/>
              </a:lnSpc>
            </a:pPr>
            <a:r>
              <a:rPr lang="es-ES" sz="1600" dirty="0">
                <a:solidFill>
                  <a:srgbClr val="E6E9FF"/>
                </a:solidFill>
                <a:latin typeface="Lexend" pitchFamily="34" charset="0"/>
                <a:ea typeface="Lexend" pitchFamily="34" charset="-122"/>
                <a:cs typeface="Lexend" pitchFamily="34" charset="-120"/>
              </a:rPr>
              <a:t>Piensa en el comportamiento de una persona esperando que termine una descarga. Mientras espera no está comprobando constantemente si el archivo existe. Simplemente espera a ser avisada.</a:t>
            </a:r>
          </a:p>
        </p:txBody>
      </p:sp>
    </p:spTree>
    <p:extLst>
      <p:ext uri="{BB962C8B-B14F-4D97-AF65-F5344CB8AC3E}">
        <p14:creationId xmlns:p14="http://schemas.microsoft.com/office/powerpoint/2010/main" val="2460291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737" y="244551"/>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¿Todos los hilos tienen la misma importancia?</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836093"/>
            <a:ext cx="10904160" cy="2603790"/>
          </a:xfrm>
          <a:prstGeom prst="rect">
            <a:avLst/>
          </a:prstGeom>
        </p:spPr>
        <p:txBody>
          <a:bodyPr wrap="square">
            <a:spAutoFit/>
          </a:bodyPr>
          <a:lstStyle/>
          <a:p>
            <a:pPr>
              <a:lnSpc>
                <a:spcPct val="85000"/>
              </a:lnSpc>
            </a:pPr>
            <a:r>
              <a:rPr lang="es-ES" sz="1600" dirty="0">
                <a:solidFill>
                  <a:srgbClr val="E6E9FF"/>
                </a:solidFill>
                <a:latin typeface="Lexend" pitchFamily="34" charset="0"/>
                <a:ea typeface="Lexend" pitchFamily="34" charset="-122"/>
                <a:cs typeface="Lexend" pitchFamily="34" charset="-120"/>
              </a:rPr>
              <a:t>Java permite asignar una prioridad a cada hilo.</a:t>
            </a:r>
          </a:p>
          <a:p>
            <a:pPr>
              <a:lnSpc>
                <a:spcPct val="85000"/>
              </a:lnSpc>
            </a:pPr>
            <a:r>
              <a:rPr lang="es-ES" sz="1600" dirty="0" err="1">
                <a:solidFill>
                  <a:srgbClr val="E6E9FF"/>
                </a:solidFill>
                <a:latin typeface="Courier New" panose="02070309020205020404" pitchFamily="49" charset="0"/>
                <a:ea typeface="Lexend" pitchFamily="34" charset="-122"/>
                <a:cs typeface="Courier New" panose="02070309020205020404" pitchFamily="49" charset="0"/>
              </a:rPr>
              <a:t>hilo.setPriority</a:t>
            </a:r>
            <a:r>
              <a:rPr lang="es-ES" sz="1600" dirty="0">
                <a:solidFill>
                  <a:srgbClr val="E6E9FF"/>
                </a:solidFill>
                <a:latin typeface="Courier New" panose="02070309020205020404" pitchFamily="49" charset="0"/>
                <a:ea typeface="Lexend" pitchFamily="34" charset="-122"/>
                <a:cs typeface="Courier New" panose="02070309020205020404" pitchFamily="49" charset="0"/>
              </a:rPr>
              <a:t>(</a:t>
            </a:r>
            <a:r>
              <a:rPr lang="es-ES" sz="1600" dirty="0" err="1">
                <a:solidFill>
                  <a:srgbClr val="E6E9FF"/>
                </a:solidFill>
                <a:latin typeface="Courier New" panose="02070309020205020404" pitchFamily="49" charset="0"/>
                <a:ea typeface="Lexend" pitchFamily="34" charset="-122"/>
                <a:cs typeface="Courier New" panose="02070309020205020404" pitchFamily="49" charset="0"/>
              </a:rPr>
              <a:t>Thread.MIN_PRIORITY</a:t>
            </a:r>
            <a:r>
              <a:rPr lang="es-ES" sz="1600" dirty="0">
                <a:solidFill>
                  <a:srgbClr val="E6E9FF"/>
                </a:solidFill>
                <a:latin typeface="Courier New" panose="02070309020205020404" pitchFamily="49" charset="0"/>
                <a:ea typeface="Lexend" pitchFamily="34" charset="-122"/>
                <a:cs typeface="Courier New" panose="02070309020205020404" pitchFamily="49" charset="0"/>
              </a:rPr>
              <a:t>);</a:t>
            </a:r>
          </a:p>
          <a:p>
            <a:pPr>
              <a:lnSpc>
                <a:spcPct val="85000"/>
              </a:lnSpc>
            </a:pPr>
            <a:r>
              <a:rPr lang="es-ES" sz="1600" dirty="0" err="1">
                <a:solidFill>
                  <a:srgbClr val="E6E9FF"/>
                </a:solidFill>
                <a:latin typeface="Courier New" panose="02070309020205020404" pitchFamily="49" charset="0"/>
                <a:ea typeface="Lexend" pitchFamily="34" charset="-122"/>
                <a:cs typeface="Courier New" panose="02070309020205020404" pitchFamily="49" charset="0"/>
              </a:rPr>
              <a:t>hilo.setPriority</a:t>
            </a:r>
            <a:r>
              <a:rPr lang="es-ES" sz="1600" dirty="0">
                <a:solidFill>
                  <a:srgbClr val="E6E9FF"/>
                </a:solidFill>
                <a:latin typeface="Courier New" panose="02070309020205020404" pitchFamily="49" charset="0"/>
                <a:ea typeface="Lexend" pitchFamily="34" charset="-122"/>
                <a:cs typeface="Courier New" panose="02070309020205020404" pitchFamily="49" charset="0"/>
              </a:rPr>
              <a:t>(</a:t>
            </a:r>
            <a:r>
              <a:rPr lang="es-ES" sz="1600" dirty="0" err="1">
                <a:solidFill>
                  <a:srgbClr val="E6E9FF"/>
                </a:solidFill>
                <a:latin typeface="Courier New" panose="02070309020205020404" pitchFamily="49" charset="0"/>
                <a:ea typeface="Lexend" pitchFamily="34" charset="-122"/>
                <a:cs typeface="Courier New" panose="02070309020205020404" pitchFamily="49" charset="0"/>
              </a:rPr>
              <a:t>Thread.NORM_PRIORITY</a:t>
            </a:r>
            <a:r>
              <a:rPr lang="es-ES" sz="1600" dirty="0">
                <a:solidFill>
                  <a:srgbClr val="E6E9FF"/>
                </a:solidFill>
                <a:latin typeface="Courier New" panose="02070309020205020404" pitchFamily="49" charset="0"/>
                <a:ea typeface="Lexend" pitchFamily="34" charset="-122"/>
                <a:cs typeface="Courier New" panose="02070309020205020404" pitchFamily="49" charset="0"/>
              </a:rPr>
              <a:t>);</a:t>
            </a:r>
          </a:p>
          <a:p>
            <a:pPr>
              <a:lnSpc>
                <a:spcPct val="85000"/>
              </a:lnSpc>
            </a:pPr>
            <a:r>
              <a:rPr lang="es-ES" sz="1600" dirty="0" err="1">
                <a:solidFill>
                  <a:srgbClr val="E6E9FF"/>
                </a:solidFill>
                <a:latin typeface="Courier New" panose="02070309020205020404" pitchFamily="49" charset="0"/>
                <a:ea typeface="Lexend" pitchFamily="34" charset="-122"/>
                <a:cs typeface="Courier New" panose="02070309020205020404" pitchFamily="49" charset="0"/>
              </a:rPr>
              <a:t>hilo.setPriority</a:t>
            </a:r>
            <a:r>
              <a:rPr lang="es-ES" sz="1600" dirty="0">
                <a:solidFill>
                  <a:srgbClr val="E6E9FF"/>
                </a:solidFill>
                <a:latin typeface="Courier New" panose="02070309020205020404" pitchFamily="49" charset="0"/>
                <a:ea typeface="Lexend" pitchFamily="34" charset="-122"/>
                <a:cs typeface="Courier New" panose="02070309020205020404" pitchFamily="49" charset="0"/>
              </a:rPr>
              <a:t>(</a:t>
            </a:r>
            <a:r>
              <a:rPr lang="es-ES" sz="1600" dirty="0" err="1">
                <a:solidFill>
                  <a:srgbClr val="E6E9FF"/>
                </a:solidFill>
                <a:latin typeface="Courier New" panose="02070309020205020404" pitchFamily="49" charset="0"/>
                <a:ea typeface="Lexend" pitchFamily="34" charset="-122"/>
                <a:cs typeface="Courier New" panose="02070309020205020404" pitchFamily="49" charset="0"/>
              </a:rPr>
              <a:t>Thread.MAX_PRIORITY</a:t>
            </a:r>
            <a:r>
              <a:rPr lang="es-ES" sz="1600" dirty="0">
                <a:solidFill>
                  <a:srgbClr val="E6E9FF"/>
                </a:solidFill>
                <a:latin typeface="Courier New" panose="02070309020205020404" pitchFamily="49" charset="0"/>
                <a:ea typeface="Lexend" pitchFamily="34" charset="-122"/>
                <a:cs typeface="Courier New" panose="02070309020205020404" pitchFamily="49" charset="0"/>
              </a:rPr>
              <a:t>); </a:t>
            </a:r>
          </a:p>
          <a:p>
            <a:pPr>
              <a:lnSpc>
                <a:spcPct val="85000"/>
              </a:lnSpc>
            </a:pPr>
            <a:endParaRPr lang="es-ES" sz="1600" dirty="0">
              <a:solidFill>
                <a:srgbClr val="E6E9FF"/>
              </a:solidFill>
              <a:latin typeface="Courier New" panose="02070309020205020404" pitchFamily="49" charset="0"/>
              <a:ea typeface="Lexend" pitchFamily="34" charset="-122"/>
              <a:cs typeface="Courier New" panose="02070309020205020404" pitchFamily="49" charset="0"/>
            </a:endParaRPr>
          </a:p>
          <a:p>
            <a:pPr>
              <a:lnSpc>
                <a:spcPct val="85000"/>
              </a:lnSpc>
            </a:pPr>
            <a:r>
              <a:rPr lang="es-ES" sz="1600" dirty="0">
                <a:solidFill>
                  <a:srgbClr val="E6E9FF"/>
                </a:solidFill>
                <a:latin typeface="Lexend" pitchFamily="34" charset="0"/>
                <a:ea typeface="Lexend" pitchFamily="34" charset="-122"/>
                <a:cs typeface="Lexend" pitchFamily="34" charset="-120"/>
              </a:rPr>
              <a:t>Valores disponibles</a:t>
            </a:r>
          </a:p>
          <a:p>
            <a:pPr>
              <a:lnSpc>
                <a:spcPct val="85000"/>
              </a:lnSpc>
            </a:pPr>
            <a:r>
              <a:rPr lang="es-ES" sz="1600" dirty="0">
                <a:solidFill>
                  <a:srgbClr val="E6E9FF"/>
                </a:solidFill>
                <a:latin typeface="Courier New" panose="02070309020205020404" pitchFamily="49" charset="0"/>
                <a:ea typeface="Lexend" pitchFamily="34" charset="-122"/>
                <a:cs typeface="Courier New" panose="02070309020205020404" pitchFamily="49" charset="0"/>
              </a:rPr>
              <a:t>MIN_PRIORITY = 1</a:t>
            </a:r>
          </a:p>
          <a:p>
            <a:pPr>
              <a:lnSpc>
                <a:spcPct val="85000"/>
              </a:lnSpc>
            </a:pPr>
            <a:r>
              <a:rPr lang="es-ES" sz="1600" dirty="0">
                <a:solidFill>
                  <a:srgbClr val="E6E9FF"/>
                </a:solidFill>
                <a:latin typeface="Courier New" panose="02070309020205020404" pitchFamily="49" charset="0"/>
                <a:ea typeface="Lexend" pitchFamily="34" charset="-122"/>
                <a:cs typeface="Courier New" panose="02070309020205020404" pitchFamily="49" charset="0"/>
              </a:rPr>
              <a:t>NORM_PRIORITY = 5</a:t>
            </a:r>
          </a:p>
          <a:p>
            <a:pPr>
              <a:lnSpc>
                <a:spcPct val="85000"/>
              </a:lnSpc>
            </a:pPr>
            <a:r>
              <a:rPr lang="es-ES" sz="1600" dirty="0">
                <a:solidFill>
                  <a:srgbClr val="E6E9FF"/>
                </a:solidFill>
                <a:latin typeface="Courier New" panose="02070309020205020404" pitchFamily="49" charset="0"/>
                <a:ea typeface="Lexend" pitchFamily="34" charset="-122"/>
                <a:cs typeface="Courier New" panose="02070309020205020404" pitchFamily="49" charset="0"/>
              </a:rPr>
              <a:t>MAX_PRIORITY = 10</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a:solidFill>
                  <a:srgbClr val="E6E9FF"/>
                </a:solidFill>
                <a:latin typeface="Lexend" pitchFamily="34" charset="0"/>
                <a:ea typeface="Lexend" pitchFamily="34" charset="-122"/>
                <a:cs typeface="Lexend" pitchFamily="34" charset="-120"/>
              </a:rPr>
              <a:t>Idea clave</a:t>
            </a:r>
          </a:p>
          <a:p>
            <a:pPr>
              <a:lnSpc>
                <a:spcPct val="85000"/>
              </a:lnSpc>
            </a:pPr>
            <a:r>
              <a:rPr lang="es-ES" sz="1600" dirty="0">
                <a:solidFill>
                  <a:srgbClr val="E6E9FF"/>
                </a:solidFill>
                <a:latin typeface="Lexend" pitchFamily="34" charset="0"/>
                <a:ea typeface="Lexend" pitchFamily="34" charset="-122"/>
                <a:cs typeface="Lexend" pitchFamily="34" charset="-120"/>
              </a:rPr>
              <a:t>La prioridad indica qué hilos son más importantes para el planificador.</a:t>
            </a:r>
          </a:p>
        </p:txBody>
      </p:sp>
    </p:spTree>
    <p:extLst>
      <p:ext uri="{BB962C8B-B14F-4D97-AF65-F5344CB8AC3E}">
        <p14:creationId xmlns:p14="http://schemas.microsoft.com/office/powerpoint/2010/main" val="3475089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737" y="244551"/>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10. Probando prioridades </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836093"/>
            <a:ext cx="10904160" cy="2185214"/>
          </a:xfrm>
          <a:prstGeom prst="rect">
            <a:avLst/>
          </a:prstGeom>
        </p:spPr>
        <p:txBody>
          <a:bodyPr wrap="square">
            <a:spAutoFit/>
          </a:bodyPr>
          <a:lstStyle/>
          <a:p>
            <a:pPr>
              <a:lnSpc>
                <a:spcPct val="85000"/>
              </a:lnSpc>
            </a:pPr>
            <a:r>
              <a:rPr lang="es-ES" sz="1600" dirty="0">
                <a:solidFill>
                  <a:srgbClr val="E6E9FF"/>
                </a:solidFill>
                <a:latin typeface="Lexend" pitchFamily="34" charset="0"/>
                <a:ea typeface="Lexend" pitchFamily="34" charset="-122"/>
                <a:cs typeface="Lexend" pitchFamily="34" charset="-120"/>
              </a:rPr>
              <a:t>Crea dos hilos:</a:t>
            </a:r>
          </a:p>
          <a:p>
            <a:pPr>
              <a:lnSpc>
                <a:spcPct val="85000"/>
              </a:lnSpc>
            </a:pPr>
            <a:r>
              <a:rPr lang="es-ES" sz="1600" dirty="0">
                <a:solidFill>
                  <a:srgbClr val="E6E9FF"/>
                </a:solidFill>
                <a:latin typeface="Lexend" pitchFamily="34" charset="0"/>
                <a:ea typeface="Lexend" pitchFamily="34" charset="-122"/>
                <a:cs typeface="Lexend" pitchFamily="34" charset="-120"/>
              </a:rPr>
              <a:t>Hilo A → Prioridad máxima.</a:t>
            </a:r>
          </a:p>
          <a:p>
            <a:pPr>
              <a:lnSpc>
                <a:spcPct val="85000"/>
              </a:lnSpc>
            </a:pPr>
            <a:r>
              <a:rPr lang="es-ES" sz="1600" dirty="0">
                <a:solidFill>
                  <a:srgbClr val="E6E9FF"/>
                </a:solidFill>
                <a:latin typeface="Lexend" pitchFamily="34" charset="0"/>
                <a:ea typeface="Lexend" pitchFamily="34" charset="-122"/>
                <a:cs typeface="Lexend" pitchFamily="34" charset="-120"/>
              </a:rPr>
              <a:t>Hilo B → Prioridad mínima.</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a:solidFill>
                  <a:srgbClr val="E6E9FF"/>
                </a:solidFill>
                <a:latin typeface="Lexend" pitchFamily="34" charset="0"/>
                <a:ea typeface="Lexend" pitchFamily="34" charset="-122"/>
                <a:cs typeface="Lexend" pitchFamily="34" charset="-120"/>
              </a:rPr>
              <a:t>Cada hilo mostrará su nombre 20 veces</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a:solidFill>
                  <a:srgbClr val="E6E9FF"/>
                </a:solidFill>
                <a:latin typeface="Lexend" pitchFamily="34" charset="0"/>
                <a:ea typeface="Lexend" pitchFamily="34" charset="-122"/>
                <a:cs typeface="Lexend" pitchFamily="34" charset="-120"/>
              </a:rPr>
              <a:t>Cuestiones</a:t>
            </a:r>
          </a:p>
          <a:p>
            <a:pPr>
              <a:lnSpc>
                <a:spcPct val="85000"/>
              </a:lnSpc>
            </a:pPr>
            <a:r>
              <a:rPr lang="es-ES" sz="1600" dirty="0">
                <a:solidFill>
                  <a:srgbClr val="E6E9FF"/>
                </a:solidFill>
                <a:latin typeface="Lexend" pitchFamily="34" charset="0"/>
                <a:ea typeface="Lexend" pitchFamily="34" charset="-122"/>
                <a:cs typeface="Lexend" pitchFamily="34" charset="-120"/>
              </a:rPr>
              <a:t>¿Se ejecuta siempre primero el hilo con prioridad máxima?</a:t>
            </a:r>
          </a:p>
          <a:p>
            <a:pPr>
              <a:lnSpc>
                <a:spcPct val="85000"/>
              </a:lnSpc>
            </a:pPr>
            <a:r>
              <a:rPr lang="es-ES" sz="1600" dirty="0">
                <a:solidFill>
                  <a:srgbClr val="E6E9FF"/>
                </a:solidFill>
                <a:latin typeface="Lexend" pitchFamily="34" charset="0"/>
                <a:ea typeface="Lexend" pitchFamily="34" charset="-122"/>
                <a:cs typeface="Lexend" pitchFamily="34" charset="-120"/>
              </a:rPr>
              <a:t>¿Obtienes siempre el mismo resultado?</a:t>
            </a:r>
          </a:p>
          <a:p>
            <a:pPr>
              <a:lnSpc>
                <a:spcPct val="85000"/>
              </a:lnSpc>
            </a:pPr>
            <a:r>
              <a:rPr lang="es-ES" sz="1600" dirty="0">
                <a:solidFill>
                  <a:srgbClr val="E6E9FF"/>
                </a:solidFill>
                <a:latin typeface="Lexend" pitchFamily="34" charset="0"/>
                <a:ea typeface="Lexend" pitchFamily="34" charset="-122"/>
                <a:cs typeface="Lexend" pitchFamily="34" charset="-120"/>
              </a:rPr>
              <a:t>¿Qué conclusión puedes sacar sobre las prioridades?.</a:t>
            </a:r>
          </a:p>
        </p:txBody>
      </p:sp>
    </p:spTree>
    <p:extLst>
      <p:ext uri="{BB962C8B-B14F-4D97-AF65-F5344CB8AC3E}">
        <p14:creationId xmlns:p14="http://schemas.microsoft.com/office/powerpoint/2010/main" val="3699212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5591" y="319058"/>
            <a:ext cx="7772206" cy="171549"/>
          </a:xfrm>
          <a:prstGeom prst="rect">
            <a:avLst/>
          </a:prstGeom>
          <a:noFill/>
          <a:ln/>
        </p:spPr>
        <p:txBody>
          <a:bodyPr wrap="none" lIns="0" tIns="0" rIns="0" bIns="0" rtlCol="0" anchor="t"/>
          <a:lstStyle/>
          <a:p>
            <a:pPr marL="0" indent="0" algn="l">
              <a:lnSpc>
                <a:spcPct val="100000"/>
              </a:lnSpc>
              <a:buNone/>
            </a:pPr>
            <a:r>
              <a:rPr lang="en-US" sz="1150" kern="100" spc="68" dirty="0">
                <a:solidFill>
                  <a:srgbClr val="27E0E3"/>
                </a:solidFill>
                <a:latin typeface="Martian Mono Medium" pitchFamily="34" charset="0"/>
                <a:ea typeface="Martian Mono Medium" pitchFamily="34" charset="-122"/>
                <a:cs typeface="Martian Mono Medium" pitchFamily="34" charset="-120"/>
              </a:rPr>
              <a:t>CASOS REALES EN LA INDUSTRIA</a:t>
            </a:r>
            <a:endParaRPr lang="en-US" sz="1150" dirty="0"/>
          </a:p>
        </p:txBody>
      </p:sp>
      <p:sp>
        <p:nvSpPr>
          <p:cNvPr id="3" name="Text 1"/>
          <p:cNvSpPr/>
          <p:nvPr/>
        </p:nvSpPr>
        <p:spPr>
          <a:xfrm>
            <a:off x="355591" y="580258"/>
            <a:ext cx="7416614" cy="354112"/>
          </a:xfrm>
          <a:prstGeom prst="rect">
            <a:avLst/>
          </a:prstGeom>
          <a:noFill/>
          <a:ln/>
        </p:spPr>
        <p:txBody>
          <a:bodyPr wrap="none" lIns="0" tIns="0" rIns="0" bIns="0" rtlCol="0" anchor="t"/>
          <a:lstStyle/>
          <a:p>
            <a:pPr marL="0" indent="0" algn="l">
              <a:lnSpc>
                <a:spcPct val="96000"/>
              </a:lnSpc>
              <a:buNone/>
            </a:pPr>
            <a:r>
              <a:rPr lang="en-US" sz="2400" kern="100" spc="-12" dirty="0">
                <a:solidFill>
                  <a:srgbClr val="FFFFFF"/>
                </a:solidFill>
                <a:latin typeface="Krona One" pitchFamily="34" charset="0"/>
                <a:ea typeface="Krona One" pitchFamily="34" charset="-122"/>
                <a:cs typeface="Krona One" pitchFamily="34" charset="-120"/>
              </a:rPr>
              <a:t>Dónde se usan los hilos</a:t>
            </a:r>
            <a:endParaRPr lang="en-US" sz="2400" dirty="0"/>
          </a:p>
        </p:txBody>
      </p:sp>
      <p:sp>
        <p:nvSpPr>
          <p:cNvPr id="4" name="Text 2"/>
          <p:cNvSpPr/>
          <p:nvPr/>
        </p:nvSpPr>
        <p:spPr>
          <a:xfrm>
            <a:off x="355591" y="1163214"/>
            <a:ext cx="7416614" cy="498475"/>
          </a:xfrm>
          <a:prstGeom prst="rect">
            <a:avLst/>
          </a:prstGeom>
          <a:noFill/>
          <a:ln/>
        </p:spPr>
        <p:txBody>
          <a:bodyPr wrap="square" lIns="0" tIns="0" rIns="0" bIns="0" rtlCol="0" anchor="t">
            <a:normAutofit/>
          </a:bodyPr>
          <a:lstStyle/>
          <a:p>
            <a:pPr>
              <a:lnSpc>
                <a:spcPct val="105000"/>
              </a:lnSpc>
            </a:pPr>
            <a:r>
              <a:rPr lang="es-ES" sz="1550" dirty="0">
                <a:solidFill>
                  <a:srgbClr val="E6E9FF"/>
                </a:solidFill>
                <a:latin typeface="Lexend" pitchFamily="34" charset="0"/>
                <a:ea typeface="Lexend" pitchFamily="34" charset="-122"/>
                <a:cs typeface="Lexend" pitchFamily="34" charset="-120"/>
              </a:rPr>
              <a:t>Los hilos permiten que una aplicación realice varias tareas al mismo tiempo de forma más eficiente.</a:t>
            </a:r>
            <a:endParaRPr lang="en-US" sz="1550" dirty="0"/>
          </a:p>
        </p:txBody>
      </p:sp>
      <p:sp>
        <p:nvSpPr>
          <p:cNvPr id="5" name="Text 3"/>
          <p:cNvSpPr/>
          <p:nvPr/>
        </p:nvSpPr>
        <p:spPr>
          <a:xfrm>
            <a:off x="355591" y="1866771"/>
            <a:ext cx="7772206" cy="171549"/>
          </a:xfrm>
          <a:prstGeom prst="rect">
            <a:avLst/>
          </a:prstGeom>
          <a:noFill/>
          <a:ln/>
        </p:spPr>
        <p:txBody>
          <a:bodyPr wrap="none" lIns="0" tIns="0" rIns="0" bIns="0" rtlCol="0" anchor="t"/>
          <a:lstStyle/>
          <a:p>
            <a:pPr marL="0" indent="0" algn="l">
              <a:lnSpc>
                <a:spcPct val="100000"/>
              </a:lnSpc>
              <a:buNone/>
            </a:pPr>
            <a:r>
              <a:rPr lang="en-US" sz="1150" kern="100" spc="68" dirty="0">
                <a:solidFill>
                  <a:srgbClr val="27E0E3"/>
                </a:solidFill>
                <a:latin typeface="Martian Mono Medium" pitchFamily="34" charset="0"/>
                <a:ea typeface="Martian Mono Medium" pitchFamily="34" charset="-122"/>
                <a:cs typeface="Martian Mono Medium" pitchFamily="34" charset="-120"/>
              </a:rPr>
              <a:t>SERVIDORES WEB Y BACKEND</a:t>
            </a:r>
            <a:endParaRPr lang="en-US" sz="1150" dirty="0"/>
          </a:p>
        </p:txBody>
      </p:sp>
      <p:sp>
        <p:nvSpPr>
          <p:cNvPr id="6" name="Text 4"/>
          <p:cNvSpPr/>
          <p:nvPr/>
        </p:nvSpPr>
        <p:spPr>
          <a:xfrm>
            <a:off x="355591" y="2242615"/>
            <a:ext cx="7416614" cy="498475"/>
          </a:xfrm>
          <a:prstGeom prst="rect">
            <a:avLst/>
          </a:prstGeom>
          <a:noFill/>
          <a:ln/>
        </p:spPr>
        <p:txBody>
          <a:bodyPr wrap="square" lIns="0" tIns="0" rIns="0" bIns="0" rtlCol="0" anchor="t">
            <a:normAutofit/>
          </a:bodyPr>
          <a:lstStyle/>
          <a:p>
            <a:pPr>
              <a:lnSpc>
                <a:spcPct val="105000"/>
              </a:lnSpc>
            </a:pPr>
            <a:r>
              <a:rPr lang="es-ES" sz="1550" dirty="0">
                <a:solidFill>
                  <a:srgbClr val="E6E9FF"/>
                </a:solidFill>
                <a:latin typeface="Lexend" pitchFamily="34" charset="0"/>
                <a:ea typeface="Lexend" pitchFamily="34" charset="-122"/>
                <a:cs typeface="Lexend" pitchFamily="34" charset="-120"/>
              </a:rPr>
              <a:t>Los servidores web atienden múltiples peticiones simultáneamente utilizando </a:t>
            </a:r>
            <a:r>
              <a:rPr lang="es-ES" sz="1550" dirty="0" err="1">
                <a:solidFill>
                  <a:srgbClr val="E6E9FF"/>
                </a:solidFill>
                <a:latin typeface="Lexend" pitchFamily="34" charset="0"/>
                <a:ea typeface="Lexend" pitchFamily="34" charset="-122"/>
                <a:cs typeface="Lexend" pitchFamily="34" charset="-120"/>
              </a:rPr>
              <a:t>hilos.Cada</a:t>
            </a:r>
            <a:r>
              <a:rPr lang="es-ES" sz="1550" dirty="0">
                <a:solidFill>
                  <a:srgbClr val="E6E9FF"/>
                </a:solidFill>
                <a:latin typeface="Lexend" pitchFamily="34" charset="0"/>
                <a:ea typeface="Lexend" pitchFamily="34" charset="-122"/>
                <a:cs typeface="Lexend" pitchFamily="34" charset="-120"/>
              </a:rPr>
              <a:t> usuario puede ser atendido por un hilo diferente.</a:t>
            </a:r>
            <a:endParaRPr lang="en-US" sz="1550" dirty="0"/>
          </a:p>
        </p:txBody>
      </p:sp>
      <p:sp>
        <p:nvSpPr>
          <p:cNvPr id="7" name="Text 5"/>
          <p:cNvSpPr/>
          <p:nvPr/>
        </p:nvSpPr>
        <p:spPr>
          <a:xfrm>
            <a:off x="355591" y="2946172"/>
            <a:ext cx="7772206" cy="171549"/>
          </a:xfrm>
          <a:prstGeom prst="rect">
            <a:avLst/>
          </a:prstGeom>
          <a:noFill/>
          <a:ln/>
        </p:spPr>
        <p:txBody>
          <a:bodyPr wrap="none" lIns="0" tIns="0" rIns="0" bIns="0" rtlCol="0" anchor="t"/>
          <a:lstStyle/>
          <a:p>
            <a:pPr marL="0" indent="0" algn="l">
              <a:lnSpc>
                <a:spcPct val="100000"/>
              </a:lnSpc>
              <a:buNone/>
            </a:pPr>
            <a:r>
              <a:rPr lang="en-US" sz="1150" kern="100" spc="68" dirty="0">
                <a:solidFill>
                  <a:srgbClr val="27E0E3"/>
                </a:solidFill>
                <a:latin typeface="Martian Mono Medium" pitchFamily="34" charset="0"/>
                <a:ea typeface="Martian Mono Medium" pitchFamily="34" charset="-122"/>
                <a:cs typeface="Martian Mono Medium" pitchFamily="34" charset="-120"/>
              </a:rPr>
              <a:t>APLICACIONES MÓVILES (ANDROID / DAM)</a:t>
            </a:r>
            <a:endParaRPr lang="en-US" sz="1150" dirty="0"/>
          </a:p>
        </p:txBody>
      </p:sp>
      <p:sp>
        <p:nvSpPr>
          <p:cNvPr id="8" name="Text 6"/>
          <p:cNvSpPr/>
          <p:nvPr/>
        </p:nvSpPr>
        <p:spPr>
          <a:xfrm>
            <a:off x="355591" y="3322016"/>
            <a:ext cx="7416614" cy="498475"/>
          </a:xfrm>
          <a:prstGeom prst="rect">
            <a:avLst/>
          </a:prstGeom>
          <a:noFill/>
          <a:ln/>
        </p:spPr>
        <p:txBody>
          <a:bodyPr wrap="square" lIns="0" tIns="0" rIns="0" bIns="0" rtlCol="0" anchor="t">
            <a:normAutofit/>
          </a:bodyPr>
          <a:lstStyle/>
          <a:p>
            <a:pPr>
              <a:lnSpc>
                <a:spcPct val="105000"/>
              </a:lnSpc>
            </a:pPr>
            <a:r>
              <a:rPr lang="es-ES" sz="1550" dirty="0">
                <a:solidFill>
                  <a:srgbClr val="E6E9FF"/>
                </a:solidFill>
                <a:latin typeface="Lexend" pitchFamily="34" charset="0"/>
                <a:ea typeface="Lexend" pitchFamily="34" charset="-122"/>
                <a:cs typeface="Lexend" pitchFamily="34" charset="-120"/>
              </a:rPr>
              <a:t>Consultas a bases de datos y llamadas a </a:t>
            </a:r>
            <a:r>
              <a:rPr lang="es-ES" sz="1550" dirty="0" err="1">
                <a:solidFill>
                  <a:srgbClr val="E6E9FF"/>
                </a:solidFill>
                <a:latin typeface="Lexend" pitchFamily="34" charset="0"/>
                <a:ea typeface="Lexend" pitchFamily="34" charset="-122"/>
                <a:cs typeface="Lexend" pitchFamily="34" charset="-120"/>
              </a:rPr>
              <a:t>APIs</a:t>
            </a:r>
            <a:r>
              <a:rPr lang="es-ES" sz="1550" dirty="0">
                <a:solidFill>
                  <a:srgbClr val="E6E9FF"/>
                </a:solidFill>
                <a:latin typeface="Lexend" pitchFamily="34" charset="0"/>
                <a:ea typeface="Lexend" pitchFamily="34" charset="-122"/>
                <a:cs typeface="Lexend" pitchFamily="34" charset="-120"/>
              </a:rPr>
              <a:t> se delegan a hilos secundarios para no bloquear la pantalla.</a:t>
            </a:r>
            <a:endParaRPr lang="en-US" sz="1550" dirty="0"/>
          </a:p>
        </p:txBody>
      </p:sp>
      <p:sp>
        <p:nvSpPr>
          <p:cNvPr id="9" name="Text 7"/>
          <p:cNvSpPr/>
          <p:nvPr/>
        </p:nvSpPr>
        <p:spPr>
          <a:xfrm>
            <a:off x="355591" y="4025573"/>
            <a:ext cx="7772206" cy="171549"/>
          </a:xfrm>
          <a:prstGeom prst="rect">
            <a:avLst/>
          </a:prstGeom>
          <a:noFill/>
          <a:ln/>
        </p:spPr>
        <p:txBody>
          <a:bodyPr wrap="none" lIns="0" tIns="0" rIns="0" bIns="0" rtlCol="0" anchor="t"/>
          <a:lstStyle/>
          <a:p>
            <a:pPr marL="0" indent="0" algn="l">
              <a:lnSpc>
                <a:spcPct val="100000"/>
              </a:lnSpc>
              <a:buNone/>
            </a:pPr>
            <a:r>
              <a:rPr lang="en-US" sz="1150" kern="100" spc="68" dirty="0">
                <a:solidFill>
                  <a:srgbClr val="27E0E3"/>
                </a:solidFill>
                <a:latin typeface="Martian Mono Medium" pitchFamily="34" charset="0"/>
                <a:ea typeface="Martian Mono Medium" pitchFamily="34" charset="-122"/>
                <a:cs typeface="Martian Mono Medium" pitchFamily="34" charset="-120"/>
              </a:rPr>
              <a:t>VIDEOJUEGOS Y STREAMING</a:t>
            </a:r>
            <a:endParaRPr lang="en-US" sz="1150" dirty="0"/>
          </a:p>
        </p:txBody>
      </p:sp>
      <p:sp>
        <p:nvSpPr>
          <p:cNvPr id="10" name="Text 8"/>
          <p:cNvSpPr/>
          <p:nvPr/>
        </p:nvSpPr>
        <p:spPr>
          <a:xfrm>
            <a:off x="355591" y="4401417"/>
            <a:ext cx="7416614" cy="498475"/>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E6E9FF"/>
                </a:solidFill>
                <a:latin typeface="Lexend" pitchFamily="34" charset="0"/>
                <a:ea typeface="Lexend" pitchFamily="34" charset="-122"/>
                <a:cs typeface="Lexend" pitchFamily="34" charset="-120"/>
              </a:rPr>
              <a:t>Renderizado gráfico, cálculo de colisiones y sincronización multijugador corren en hilos dedicados.</a:t>
            </a:r>
            <a:endParaRPr lang="en-US" sz="1550" dirty="0"/>
          </a:p>
        </p:txBody>
      </p:sp>
      <p:sp>
        <p:nvSpPr>
          <p:cNvPr id="11" name="Text 9"/>
          <p:cNvSpPr/>
          <p:nvPr/>
        </p:nvSpPr>
        <p:spPr>
          <a:xfrm>
            <a:off x="355591" y="5104974"/>
            <a:ext cx="7772206" cy="171549"/>
          </a:xfrm>
          <a:prstGeom prst="rect">
            <a:avLst/>
          </a:prstGeom>
          <a:noFill/>
          <a:ln/>
        </p:spPr>
        <p:txBody>
          <a:bodyPr wrap="none" lIns="0" tIns="0" rIns="0" bIns="0" rtlCol="0" anchor="t"/>
          <a:lstStyle/>
          <a:p>
            <a:pPr marL="0" indent="0" algn="l">
              <a:lnSpc>
                <a:spcPct val="100000"/>
              </a:lnSpc>
              <a:buNone/>
            </a:pPr>
            <a:r>
              <a:rPr lang="en-US" sz="1150" kern="100" spc="68" dirty="0">
                <a:solidFill>
                  <a:srgbClr val="27E0E3"/>
                </a:solidFill>
                <a:latin typeface="Martian Mono Medium" pitchFamily="34" charset="0"/>
                <a:ea typeface="Martian Mono Medium" pitchFamily="34" charset="-122"/>
                <a:cs typeface="Martian Mono Medium" pitchFamily="34" charset="-120"/>
              </a:rPr>
              <a:t>OTROS USOS</a:t>
            </a:r>
            <a:endParaRPr lang="en-US" sz="1150" dirty="0"/>
          </a:p>
        </p:txBody>
      </p:sp>
      <p:sp>
        <p:nvSpPr>
          <p:cNvPr id="12" name="Text 10"/>
          <p:cNvSpPr/>
          <p:nvPr/>
        </p:nvSpPr>
        <p:spPr>
          <a:xfrm>
            <a:off x="355591" y="5480817"/>
            <a:ext cx="7772206" cy="249238"/>
          </a:xfrm>
          <a:prstGeom prst="rect">
            <a:avLst/>
          </a:prstGeom>
          <a:noFill/>
          <a:ln/>
        </p:spPr>
        <p:txBody>
          <a:bodyPr wrap="none" lIns="0" tIns="0" rIns="0" bIns="0" rtlCol="0" anchor="t"/>
          <a:lstStyle/>
          <a:p>
            <a:pPr>
              <a:lnSpc>
                <a:spcPct val="105000"/>
              </a:lnSpc>
            </a:pPr>
            <a:r>
              <a:rPr lang="es-ES" sz="1550" dirty="0">
                <a:solidFill>
                  <a:srgbClr val="E6E9FF"/>
                </a:solidFill>
                <a:latin typeface="Lexend" pitchFamily="34" charset="0"/>
                <a:ea typeface="Lexend" pitchFamily="34" charset="-122"/>
                <a:cs typeface="Lexend" pitchFamily="34" charset="-120"/>
              </a:rPr>
              <a:t>Importación de datos, generación de documentos, sincronización en la nube y procesamiento de ficheros.</a:t>
            </a:r>
            <a:endParaRPr lang="en-US" sz="1550" dirty="0"/>
          </a:p>
        </p:txBody>
      </p:sp>
      <p:sp>
        <p:nvSpPr>
          <p:cNvPr id="13" name="Text 11"/>
          <p:cNvSpPr/>
          <p:nvPr/>
        </p:nvSpPr>
        <p:spPr>
          <a:xfrm>
            <a:off x="355591" y="5927988"/>
            <a:ext cx="7772206" cy="200124"/>
          </a:xfrm>
          <a:prstGeom prst="rect">
            <a:avLst/>
          </a:prstGeom>
          <a:noFill/>
          <a:ln/>
        </p:spPr>
        <p:txBody>
          <a:bodyPr wrap="none" lIns="0" tIns="0" rIns="0" bIns="0" rtlCol="0" anchor="t"/>
          <a:lstStyle/>
          <a:p>
            <a:pPr>
              <a:lnSpc>
                <a:spcPct val="108000"/>
              </a:lnSpc>
            </a:pPr>
            <a:r>
              <a:rPr lang="es-ES" sz="1200" kern="100" spc="12" dirty="0">
                <a:solidFill>
                  <a:srgbClr val="B9BEEA"/>
                </a:solidFill>
                <a:latin typeface="Lexend" pitchFamily="34" charset="0"/>
                <a:ea typeface="Lexend" pitchFamily="34" charset="-122"/>
                <a:cs typeface="Lexend" pitchFamily="34" charset="-120"/>
              </a:rPr>
              <a:t>En un servidor web, cada petición de un usuario puede ser atendida por un hilo diferente.</a:t>
            </a:r>
            <a:endParaRPr lang="en-US" sz="1200" dirty="0"/>
          </a:p>
        </p:txBody>
      </p:sp>
      <p:sp>
        <p:nvSpPr>
          <p:cNvPr id="14" name="Text 12"/>
          <p:cNvSpPr/>
          <p:nvPr/>
        </p:nvSpPr>
        <p:spPr>
          <a:xfrm>
            <a:off x="355591" y="6332801"/>
            <a:ext cx="3708307" cy="200124"/>
          </a:xfrm>
          <a:prstGeom prst="rect">
            <a:avLst/>
          </a:prstGeom>
          <a:noFill/>
          <a:ln/>
        </p:spPr>
        <p:txBody>
          <a:bodyPr wrap="none" lIns="0" tIns="0" rIns="0" bIns="0" rtlCol="0" anchor="t"/>
          <a:lstStyle/>
          <a:p>
            <a:pPr marL="0" indent="0" algn="l">
              <a:lnSpc>
                <a:spcPct val="108000"/>
              </a:lnSpc>
              <a:buNone/>
            </a:pPr>
            <a:r>
              <a:rPr lang="en-US" sz="1200" kern="100" spc="12" dirty="0">
                <a:solidFill>
                  <a:srgbClr val="B9BEEA"/>
                </a:solidFill>
                <a:latin typeface="Lexend" pitchFamily="34" charset="0"/>
                <a:ea typeface="Lexend" pitchFamily="34" charset="-122"/>
                <a:cs typeface="Lexend" pitchFamily="34" charset="-120"/>
              </a:rPr>
              <a:t>SERVIDOR · socket</a:t>
            </a:r>
            <a:endParaRPr lang="en-US" sz="1200" dirty="0"/>
          </a:p>
        </p:txBody>
      </p:sp>
      <p:sp>
        <p:nvSpPr>
          <p:cNvPr id="15" name="Text 13"/>
          <p:cNvSpPr/>
          <p:nvPr/>
        </p:nvSpPr>
        <p:spPr>
          <a:xfrm>
            <a:off x="4292493" y="6325691"/>
            <a:ext cx="3479713" cy="533499"/>
          </a:xfrm>
          <a:prstGeom prst="rect">
            <a:avLst/>
          </a:prstGeom>
          <a:noFill/>
          <a:ln/>
        </p:spPr>
        <p:txBody>
          <a:bodyPr wrap="square" lIns="0" tIns="0" rIns="0" bIns="0" rtlCol="0" anchor="t"/>
          <a:lstStyle/>
          <a:p>
            <a:pPr marL="0" indent="0" algn="l">
              <a:lnSpc>
                <a:spcPct val="108000"/>
              </a:lnSpc>
              <a:spcAft>
                <a:spcPts val="1000"/>
              </a:spcAft>
              <a:buNone/>
            </a:pPr>
            <a:r>
              <a:rPr lang="en-US" sz="1200" kern="100" spc="12" dirty="0">
                <a:solidFill>
                  <a:srgbClr val="B9BEEA"/>
                </a:solidFill>
                <a:latin typeface="Lexend" pitchFamily="34" charset="0"/>
                <a:ea typeface="Lexend" pitchFamily="34" charset="-122"/>
                <a:cs typeface="Lexend" pitchFamily="34" charset="-120"/>
              </a:rPr>
              <a:t>CLIENTES 1 · 2 · 3 · 4</a:t>
            </a:r>
            <a:endParaRPr lang="en-US" sz="1200" dirty="0"/>
          </a:p>
          <a:p>
            <a:pPr marL="0" indent="0" algn="l">
              <a:lnSpc>
                <a:spcPct val="108000"/>
              </a:lnSpc>
              <a:buNone/>
            </a:pPr>
            <a:r>
              <a:rPr lang="en-US" sz="1200" kern="100" spc="12" dirty="0">
                <a:solidFill>
                  <a:srgbClr val="B9BEEA"/>
                </a:solidFill>
                <a:latin typeface="Lexend" pitchFamily="34" charset="0"/>
                <a:ea typeface="Lexend" pitchFamily="34" charset="-122"/>
                <a:cs typeface="Lexend" pitchFamily="34" charset="-120"/>
              </a:rPr>
              <a:t>Cada petición → un hilo distinto</a:t>
            </a:r>
            <a:endParaRPr lang="en-US" sz="1200" dirty="0"/>
          </a:p>
        </p:txBody>
      </p:sp>
      <p:pic>
        <p:nvPicPr>
          <p:cNvPr id="16" name="Image 0" descr="preencoded.png"/>
          <p:cNvPicPr>
            <a:picLocks noChangeAspect="1"/>
          </p:cNvPicPr>
          <p:nvPr/>
        </p:nvPicPr>
        <p:blipFill>
          <a:blip r:embed="rId3"/>
          <a:stretch>
            <a:fillRect/>
          </a:stretch>
        </p:blipFill>
        <p:spPr>
          <a:xfrm>
            <a:off x="8127797" y="0"/>
            <a:ext cx="4063898" cy="6858000"/>
          </a:xfrm>
          <a:prstGeom prst="rect">
            <a:avLst/>
          </a:prstGeom>
        </p:spPr>
      </p:pic>
    </p:spTree>
    <p:extLst>
      <p:ext uri="{BB962C8B-B14F-4D97-AF65-F5344CB8AC3E}">
        <p14:creationId xmlns:p14="http://schemas.microsoft.com/office/powerpoint/2010/main" val="2489158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26745"/>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SÍNTESIS DE LA SESIÓN</a:t>
            </a:r>
            <a:endParaRPr lang="en-US" sz="1300" dirty="0"/>
          </a:p>
        </p:txBody>
      </p:sp>
      <p:sp>
        <p:nvSpPr>
          <p:cNvPr id="3" name="Text 1"/>
          <p:cNvSpPr/>
          <p:nvPr/>
        </p:nvSpPr>
        <p:spPr>
          <a:xfrm>
            <a:off x="609585" y="946375"/>
            <a:ext cx="10972526"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120"/>
              </a:rPr>
              <a:t>Resumen: ideas clave</a:t>
            </a:r>
            <a:endParaRPr lang="en-US" sz="2800" dirty="0"/>
          </a:p>
        </p:txBody>
      </p:sp>
      <p:sp>
        <p:nvSpPr>
          <p:cNvPr id="4" name="Shape 2"/>
          <p:cNvSpPr/>
          <p:nvPr/>
        </p:nvSpPr>
        <p:spPr>
          <a:xfrm>
            <a:off x="609585" y="1641971"/>
            <a:ext cx="5333867" cy="2628602"/>
          </a:xfrm>
          <a:prstGeom prst="rect">
            <a:avLst/>
          </a:prstGeom>
          <a:solidFill>
            <a:srgbClr val="1E1F66"/>
          </a:solidFill>
          <a:ln/>
        </p:spPr>
      </p:sp>
      <p:sp>
        <p:nvSpPr>
          <p:cNvPr id="5" name="Text 3"/>
          <p:cNvSpPr/>
          <p:nvPr/>
        </p:nvSpPr>
        <p:spPr>
          <a:xfrm>
            <a:off x="838179" y="1887716"/>
            <a:ext cx="5105272"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EJECUCIÓN Y EFICIENCIA</a:t>
            </a:r>
            <a:endParaRPr lang="en-US" sz="1300" dirty="0"/>
          </a:p>
        </p:txBody>
      </p:sp>
      <p:sp>
        <p:nvSpPr>
          <p:cNvPr id="6" name="Text 4"/>
          <p:cNvSpPr/>
          <p:nvPr/>
        </p:nvSpPr>
        <p:spPr>
          <a:xfrm>
            <a:off x="838179" y="2207677"/>
            <a:ext cx="4876678"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120"/>
              </a:rPr>
              <a:t>Un hilo por programa</a:t>
            </a:r>
            <a:endParaRPr lang="en-US" sz="2400" dirty="0"/>
          </a:p>
        </p:txBody>
      </p:sp>
      <p:sp>
        <p:nvSpPr>
          <p:cNvPr id="7" name="Text 5"/>
          <p:cNvSpPr/>
          <p:nvPr/>
        </p:nvSpPr>
        <p:spPr>
          <a:xfrm>
            <a:off x="838179" y="2816265"/>
            <a:ext cx="4876678" cy="925711"/>
          </a:xfrm>
          <a:prstGeom prst="rect">
            <a:avLst/>
          </a:prstGeom>
          <a:noFill/>
          <a:ln/>
        </p:spPr>
        <p:txBody>
          <a:bodyPr wrap="square" lIns="0" tIns="0" rIns="0" bIns="0" rtlCol="0" anchor="t">
            <a:normAutofit fontScale="92500"/>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Todo programa Java tiene al menos un hilo. Los hilos ejecutan varias tareas a la vez y consumen menos que varios procesos.</a:t>
            </a:r>
            <a:endParaRPr lang="en-US" sz="1800" dirty="0"/>
          </a:p>
        </p:txBody>
      </p:sp>
      <p:sp>
        <p:nvSpPr>
          <p:cNvPr id="8" name="Shape 6"/>
          <p:cNvSpPr/>
          <p:nvPr/>
        </p:nvSpPr>
        <p:spPr>
          <a:xfrm>
            <a:off x="6248244" y="1641971"/>
            <a:ext cx="5333867" cy="2628602"/>
          </a:xfrm>
          <a:prstGeom prst="rect">
            <a:avLst/>
          </a:prstGeom>
          <a:solidFill>
            <a:srgbClr val="1E1F66"/>
          </a:solidFill>
          <a:ln/>
        </p:spPr>
      </p:sp>
      <p:sp>
        <p:nvSpPr>
          <p:cNvPr id="9" name="Text 7"/>
          <p:cNvSpPr/>
          <p:nvPr/>
        </p:nvSpPr>
        <p:spPr>
          <a:xfrm>
            <a:off x="6476838" y="1887716"/>
            <a:ext cx="5105272"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MEMORIA Y SEGURIDAD</a:t>
            </a:r>
            <a:endParaRPr lang="en-US" sz="1300" dirty="0"/>
          </a:p>
        </p:txBody>
      </p:sp>
      <p:sp>
        <p:nvSpPr>
          <p:cNvPr id="10" name="Text 8"/>
          <p:cNvSpPr/>
          <p:nvPr/>
        </p:nvSpPr>
        <p:spPr>
          <a:xfrm>
            <a:off x="6476838" y="2207677"/>
            <a:ext cx="4876678"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120"/>
              </a:rPr>
              <a:t>Compartir y sincronizar</a:t>
            </a:r>
            <a:endParaRPr lang="en-US" sz="2400" dirty="0"/>
          </a:p>
        </p:txBody>
      </p:sp>
      <p:sp>
        <p:nvSpPr>
          <p:cNvPr id="11" name="Text 9"/>
          <p:cNvSpPr/>
          <p:nvPr/>
        </p:nvSpPr>
        <p:spPr>
          <a:xfrm>
            <a:off x="6476838" y="2816265"/>
            <a:ext cx="4876678" cy="1234281"/>
          </a:xfrm>
          <a:prstGeom prst="rect">
            <a:avLst/>
          </a:prstGeom>
          <a:noFill/>
          <a:ln/>
        </p:spPr>
        <p:txBody>
          <a:bodyPr wrap="square" lIns="0" tIns="0" rIns="0" bIns="0" rtlCol="0" anchor="t">
            <a:normAutofit lnSpcReduction="10000"/>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Los hilos comparten memoria dentro del mismo proceso, lo que genera problemas de concurrencia. La sincronización permite trabajar de forma segura.</a:t>
            </a:r>
            <a:endParaRPr lang="en-US" sz="1800" dirty="0"/>
          </a:p>
        </p:txBody>
      </p:sp>
      <p:sp>
        <p:nvSpPr>
          <p:cNvPr id="12" name="Text 10"/>
          <p:cNvSpPr/>
          <p:nvPr/>
        </p:nvSpPr>
        <p:spPr>
          <a:xfrm>
            <a:off x="1066773" y="4631253"/>
            <a:ext cx="10515337" cy="822920"/>
          </a:xfrm>
          <a:prstGeom prst="rect">
            <a:avLst/>
          </a:prstGeom>
          <a:noFill/>
          <a:ln/>
        </p:spPr>
        <p:txBody>
          <a:bodyPr wrap="square" lIns="0" tIns="0" rIns="0" bIns="0" rtlCol="0" anchor="t">
            <a:normAutofit lnSpcReduction="10000"/>
          </a:bodyPr>
          <a:lstStyle/>
          <a:p>
            <a:pPr>
              <a:lnSpc>
                <a:spcPct val="113000"/>
              </a:lnSpc>
            </a:pPr>
            <a:r>
              <a:rPr lang="en-US" sz="2400" dirty="0">
                <a:solidFill>
                  <a:srgbClr val="E6E9FF"/>
                </a:solidFill>
                <a:latin typeface="Lexend" pitchFamily="34" charset="0"/>
                <a:ea typeface="Lexend" pitchFamily="34" charset="-122"/>
                <a:cs typeface="Lexend" pitchFamily="34" charset="-120"/>
              </a:rPr>
              <a:t>“</a:t>
            </a:r>
            <a:r>
              <a:rPr lang="es-ES" sz="2400" dirty="0">
                <a:solidFill>
                  <a:srgbClr val="E6E9FF"/>
                </a:solidFill>
                <a:latin typeface="Lexend" pitchFamily="34" charset="0"/>
                <a:ea typeface="Lexend" pitchFamily="34" charset="-122"/>
                <a:cs typeface="Lexend" pitchFamily="34" charset="-120"/>
              </a:rPr>
              <a:t>Crear un hilo es fácil. </a:t>
            </a:r>
            <a:r>
              <a:rPr lang="es-ES" sz="2400">
                <a:solidFill>
                  <a:srgbClr val="E6E9FF"/>
                </a:solidFill>
                <a:latin typeface="Lexend" pitchFamily="34" charset="0"/>
                <a:ea typeface="Lexend" pitchFamily="34" charset="-122"/>
                <a:cs typeface="Lexend" pitchFamily="34" charset="-120"/>
              </a:rPr>
              <a:t>Evitar errores cuando varios hilos comparten datos es la parte difícil.</a:t>
            </a:r>
            <a:r>
              <a:rPr lang="en-US" sz="2400">
                <a:solidFill>
                  <a:srgbClr val="E6E9FF"/>
                </a:solidFill>
                <a:latin typeface="Lexend" pitchFamily="34" charset="0"/>
                <a:ea typeface="Lexend" pitchFamily="34" charset="-122"/>
                <a:cs typeface="Lexend" pitchFamily="34" charset="-120"/>
              </a:rPr>
              <a:t>”</a:t>
            </a:r>
            <a:endParaRPr lang="en-US" sz="2400" dirty="0"/>
          </a:p>
        </p:txBody>
      </p:sp>
      <p:sp>
        <p:nvSpPr>
          <p:cNvPr id="13" name="Shape 11"/>
          <p:cNvSpPr/>
          <p:nvPr/>
        </p:nvSpPr>
        <p:spPr>
          <a:xfrm>
            <a:off x="609585" y="4543623"/>
            <a:ext cx="38099" cy="975320"/>
          </a:xfrm>
          <a:prstGeom prst="roundRect">
            <a:avLst>
              <a:gd name="adj" fmla="val 50000"/>
            </a:avLst>
          </a:prstGeom>
          <a:solidFill>
            <a:srgbClr val="2878FF"/>
          </a:solidFill>
          <a:ln/>
          <a:effectLst>
            <a:outerShdw blurRad="125730" dist="127" dir="16200000" algn="bl" rotWithShape="0">
              <a:srgbClr val="2878FF">
                <a:alpha val="50000"/>
              </a:srgbClr>
            </a:outerShdw>
          </a:effectLst>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737" y="185836"/>
            <a:ext cx="10972526" cy="356592"/>
          </a:xfrm>
          <a:prstGeom prst="rect">
            <a:avLst/>
          </a:prstGeom>
          <a:noFill/>
          <a:ln/>
        </p:spPr>
        <p:txBody>
          <a:bodyPr wrap="none" lIns="0" tIns="0" rIns="0" bIns="0" rtlCol="0" anchor="t"/>
          <a:lstStyle/>
          <a:p>
            <a:pPr>
              <a:lnSpc>
                <a:spcPct val="105000"/>
              </a:lnSpc>
            </a:pPr>
            <a:r>
              <a:rPr lang="es-ES" sz="2800" b="1" dirty="0">
                <a:solidFill>
                  <a:srgbClr val="E6E9FF"/>
                </a:solidFill>
                <a:latin typeface="Lexend" pitchFamily="34" charset="0"/>
                <a:ea typeface="Lexend" pitchFamily="34" charset="-122"/>
                <a:cs typeface="Lexend" pitchFamily="34" charset="-120"/>
              </a:rPr>
              <a:t>Ejercicio 11. Registro de actividad multihilo</a:t>
            </a:r>
          </a:p>
        </p:txBody>
      </p:sp>
      <p:sp>
        <p:nvSpPr>
          <p:cNvPr id="4" name="Text 2"/>
          <p:cNvSpPr/>
          <p:nvPr/>
        </p:nvSpPr>
        <p:spPr>
          <a:xfrm>
            <a:off x="541219" y="1528587"/>
            <a:ext cx="10972526" cy="4567413"/>
          </a:xfrm>
          <a:prstGeom prst="rect">
            <a:avLst/>
          </a:prstGeom>
          <a:noFill/>
          <a:ln/>
        </p:spPr>
        <p:txBody>
          <a:bodyPr wrap="square" lIns="0" tIns="0" rIns="0" bIns="0" rtlCol="0" anchor="t">
            <a:normAutofit/>
          </a:bodyPr>
          <a:lstStyle/>
          <a:p>
            <a:pPr>
              <a:lnSpc>
                <a:spcPct val="105000"/>
              </a:lnSpc>
            </a:pPr>
            <a:endParaRPr lang="es-ES" sz="2100" dirty="0">
              <a:solidFill>
                <a:srgbClr val="E6E9FF"/>
              </a:solidFill>
              <a:latin typeface="Lexend" pitchFamily="34" charset="0"/>
              <a:ea typeface="Lexend" pitchFamily="34" charset="-122"/>
              <a:cs typeface="Lexend" pitchFamily="34" charset="-120"/>
            </a:endParaRPr>
          </a:p>
        </p:txBody>
      </p:sp>
      <p:sp>
        <p:nvSpPr>
          <p:cNvPr id="2" name="Rectángulo 1"/>
          <p:cNvSpPr/>
          <p:nvPr/>
        </p:nvSpPr>
        <p:spPr>
          <a:xfrm>
            <a:off x="541219" y="699361"/>
            <a:ext cx="10904160" cy="6370975"/>
          </a:xfrm>
          <a:prstGeom prst="rect">
            <a:avLst/>
          </a:prstGeom>
        </p:spPr>
        <p:txBody>
          <a:bodyPr wrap="square">
            <a:spAutoFit/>
          </a:bodyPr>
          <a:lstStyle/>
          <a:p>
            <a:pPr>
              <a:lnSpc>
                <a:spcPct val="85000"/>
              </a:lnSpc>
            </a:pPr>
            <a:r>
              <a:rPr lang="es-ES" sz="1600" dirty="0">
                <a:solidFill>
                  <a:srgbClr val="E6E9FF"/>
                </a:solidFill>
                <a:latin typeface="Lexend" pitchFamily="34" charset="0"/>
                <a:ea typeface="Lexend" pitchFamily="34" charset="-122"/>
                <a:cs typeface="Lexend" pitchFamily="34" charset="-120"/>
              </a:rPr>
              <a:t>Una aplicación debe registrar información en un fichero de texto</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smtClean="0">
                <a:solidFill>
                  <a:srgbClr val="E6E9FF"/>
                </a:solidFill>
                <a:latin typeface="Lexend" pitchFamily="34" charset="0"/>
                <a:ea typeface="Lexend" pitchFamily="34" charset="-122"/>
                <a:cs typeface="Lexend" pitchFamily="34" charset="-120"/>
              </a:rPr>
              <a:t>Crear </a:t>
            </a:r>
            <a:r>
              <a:rPr lang="es-ES" sz="1600" dirty="0">
                <a:solidFill>
                  <a:srgbClr val="E6E9FF"/>
                </a:solidFill>
                <a:latin typeface="Lexend" pitchFamily="34" charset="0"/>
                <a:ea typeface="Lexend" pitchFamily="34" charset="-122"/>
                <a:cs typeface="Lexend" pitchFamily="34" charset="-120"/>
              </a:rPr>
              <a:t>dos hilos</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r>
              <a:rPr lang="es-ES" sz="1600" dirty="0" smtClean="0">
                <a:solidFill>
                  <a:srgbClr val="E6E9FF"/>
                </a:solidFill>
                <a:latin typeface="Lexend" pitchFamily="34" charset="0"/>
                <a:ea typeface="Lexend" pitchFamily="34" charset="-122"/>
                <a:cs typeface="Lexend" pitchFamily="34" charset="-120"/>
              </a:rPr>
              <a:t>Hilo A</a:t>
            </a:r>
          </a:p>
          <a:p>
            <a:pPr>
              <a:lnSpc>
                <a:spcPct val="85000"/>
              </a:lnSpc>
            </a:pPr>
            <a:r>
              <a:rPr lang="es-ES" sz="1600" dirty="0" smtClean="0">
                <a:solidFill>
                  <a:srgbClr val="E6E9FF"/>
                </a:solidFill>
                <a:latin typeface="Lexend" pitchFamily="34" charset="0"/>
                <a:ea typeface="Lexend" pitchFamily="34" charset="-122"/>
                <a:cs typeface="Lexend" pitchFamily="34" charset="-120"/>
              </a:rPr>
              <a:t>Hilo B</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smtClean="0">
                <a:solidFill>
                  <a:srgbClr val="E6E9FF"/>
                </a:solidFill>
                <a:latin typeface="Lexend" pitchFamily="34" charset="0"/>
                <a:ea typeface="Lexend" pitchFamily="34" charset="-122"/>
                <a:cs typeface="Lexend" pitchFamily="34" charset="-120"/>
              </a:rPr>
              <a:t>Cada </a:t>
            </a:r>
            <a:r>
              <a:rPr lang="es-ES" sz="1600" dirty="0">
                <a:solidFill>
                  <a:srgbClr val="E6E9FF"/>
                </a:solidFill>
                <a:latin typeface="Lexend" pitchFamily="34" charset="0"/>
                <a:ea typeface="Lexend" pitchFamily="34" charset="-122"/>
                <a:cs typeface="Lexend" pitchFamily="34" charset="-120"/>
              </a:rPr>
              <a:t>hilo escribirá 10 mensajes en el fichero</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r>
              <a:rPr lang="es-ES" sz="1600" dirty="0" smtClean="0">
                <a:solidFill>
                  <a:srgbClr val="E6E9FF"/>
                </a:solidFill>
                <a:latin typeface="Lexend" pitchFamily="34" charset="0"/>
                <a:ea typeface="Lexend" pitchFamily="34" charset="-122"/>
                <a:cs typeface="Lexend" pitchFamily="34" charset="-120"/>
              </a:rPr>
              <a:t>Hilo </a:t>
            </a:r>
            <a:r>
              <a:rPr lang="es-ES" sz="1600" dirty="0">
                <a:solidFill>
                  <a:srgbClr val="E6E9FF"/>
                </a:solidFill>
                <a:latin typeface="Lexend" pitchFamily="34" charset="0"/>
                <a:ea typeface="Lexend" pitchFamily="34" charset="-122"/>
                <a:cs typeface="Lexend" pitchFamily="34" charset="-120"/>
              </a:rPr>
              <a:t>A - mensaje </a:t>
            </a:r>
            <a:r>
              <a:rPr lang="es-ES" sz="1600" dirty="0" smtClean="0">
                <a:solidFill>
                  <a:srgbClr val="E6E9FF"/>
                </a:solidFill>
                <a:latin typeface="Lexend" pitchFamily="34" charset="0"/>
                <a:ea typeface="Lexend" pitchFamily="34" charset="-122"/>
                <a:cs typeface="Lexend" pitchFamily="34" charset="-120"/>
              </a:rPr>
              <a:t>1</a:t>
            </a:r>
          </a:p>
          <a:p>
            <a:pPr>
              <a:lnSpc>
                <a:spcPct val="85000"/>
              </a:lnSpc>
            </a:pPr>
            <a:r>
              <a:rPr lang="es-ES" sz="1600" dirty="0" smtClean="0">
                <a:solidFill>
                  <a:srgbClr val="E6E9FF"/>
                </a:solidFill>
                <a:latin typeface="Lexend" pitchFamily="34" charset="0"/>
                <a:ea typeface="Lexend" pitchFamily="34" charset="-122"/>
                <a:cs typeface="Lexend" pitchFamily="34" charset="-120"/>
              </a:rPr>
              <a:t>Hilo </a:t>
            </a:r>
            <a:r>
              <a:rPr lang="es-ES" sz="1600" dirty="0">
                <a:solidFill>
                  <a:srgbClr val="E6E9FF"/>
                </a:solidFill>
                <a:latin typeface="Lexend" pitchFamily="34" charset="0"/>
                <a:ea typeface="Lexend" pitchFamily="34" charset="-122"/>
                <a:cs typeface="Lexend" pitchFamily="34" charset="-120"/>
              </a:rPr>
              <a:t>A - mensaje 2</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r>
              <a:rPr lang="es-ES" sz="1600" dirty="0" smtClean="0">
                <a:solidFill>
                  <a:srgbClr val="E6E9FF"/>
                </a:solidFill>
                <a:latin typeface="Lexend" pitchFamily="34" charset="0"/>
                <a:ea typeface="Lexend" pitchFamily="34" charset="-122"/>
                <a:cs typeface="Lexend" pitchFamily="34" charset="-120"/>
              </a:rPr>
              <a:t>Hilo </a:t>
            </a:r>
            <a:r>
              <a:rPr lang="es-ES" sz="1600" dirty="0">
                <a:solidFill>
                  <a:srgbClr val="E6E9FF"/>
                </a:solidFill>
                <a:latin typeface="Lexend" pitchFamily="34" charset="0"/>
                <a:ea typeface="Lexend" pitchFamily="34" charset="-122"/>
                <a:cs typeface="Lexend" pitchFamily="34" charset="-120"/>
              </a:rPr>
              <a:t>B - </a:t>
            </a:r>
            <a:r>
              <a:rPr lang="es-ES" sz="1600">
                <a:solidFill>
                  <a:srgbClr val="E6E9FF"/>
                </a:solidFill>
                <a:latin typeface="Lexend" pitchFamily="34" charset="0"/>
                <a:ea typeface="Lexend" pitchFamily="34" charset="-122"/>
                <a:cs typeface="Lexend" pitchFamily="34" charset="-120"/>
              </a:rPr>
              <a:t>mensaje </a:t>
            </a:r>
            <a:r>
              <a:rPr lang="es-ES" sz="1600" smtClean="0">
                <a:solidFill>
                  <a:srgbClr val="E6E9FF"/>
                </a:solidFill>
                <a:latin typeface="Lexend" pitchFamily="34" charset="0"/>
                <a:ea typeface="Lexend" pitchFamily="34" charset="-122"/>
                <a:cs typeface="Lexend" pitchFamily="34" charset="-120"/>
              </a:rPr>
              <a:t>1</a:t>
            </a:r>
            <a:endParaRPr lang="es-ES" sz="1600" dirty="0" smtClean="0">
              <a:solidFill>
                <a:srgbClr val="E6E9FF"/>
              </a:solidFill>
              <a:latin typeface="Lexend" pitchFamily="34" charset="0"/>
              <a:ea typeface="Lexend" pitchFamily="34" charset="-122"/>
              <a:cs typeface="Lexend" pitchFamily="34" charset="-120"/>
            </a:endParaRPr>
          </a:p>
          <a:p>
            <a:pPr>
              <a:lnSpc>
                <a:spcPct val="85000"/>
              </a:lnSpc>
            </a:pPr>
            <a:r>
              <a:rPr lang="es-ES" sz="1600" dirty="0" smtClean="0">
                <a:solidFill>
                  <a:srgbClr val="E6E9FF"/>
                </a:solidFill>
                <a:latin typeface="Lexend" pitchFamily="34" charset="0"/>
                <a:ea typeface="Lexend" pitchFamily="34" charset="-122"/>
                <a:cs typeface="Lexend" pitchFamily="34" charset="-120"/>
              </a:rPr>
              <a:t>Hilo </a:t>
            </a:r>
            <a:r>
              <a:rPr lang="es-ES" sz="1600" dirty="0">
                <a:solidFill>
                  <a:srgbClr val="E6E9FF"/>
                </a:solidFill>
                <a:latin typeface="Lexend" pitchFamily="34" charset="0"/>
                <a:ea typeface="Lexend" pitchFamily="34" charset="-122"/>
                <a:cs typeface="Lexend" pitchFamily="34" charset="-120"/>
              </a:rPr>
              <a:t>B - mensaje 2</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smtClean="0">
                <a:solidFill>
                  <a:srgbClr val="E6E9FF"/>
                </a:solidFill>
                <a:latin typeface="Lexend" pitchFamily="34" charset="0"/>
                <a:ea typeface="Lexend" pitchFamily="34" charset="-122"/>
                <a:cs typeface="Lexend" pitchFamily="34" charset="-120"/>
              </a:rPr>
              <a:t>Al </a:t>
            </a:r>
            <a:r>
              <a:rPr lang="es-ES" sz="1600" dirty="0">
                <a:solidFill>
                  <a:srgbClr val="E6E9FF"/>
                </a:solidFill>
                <a:latin typeface="Lexend" pitchFamily="34" charset="0"/>
                <a:ea typeface="Lexend" pitchFamily="34" charset="-122"/>
                <a:cs typeface="Lexend" pitchFamily="34" charset="-120"/>
              </a:rPr>
              <a:t>finalizar, el fichero deberá contener los mensajes generados por ambos hilos</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smtClean="0">
                <a:solidFill>
                  <a:srgbClr val="E6E9FF"/>
                </a:solidFill>
                <a:latin typeface="Lexend" pitchFamily="34" charset="0"/>
                <a:ea typeface="Lexend" pitchFamily="34" charset="-122"/>
                <a:cs typeface="Lexend" pitchFamily="34" charset="-120"/>
              </a:rPr>
              <a:t>Requisitos</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smtClean="0">
                <a:solidFill>
                  <a:srgbClr val="E6E9FF"/>
                </a:solidFill>
                <a:latin typeface="Lexend" pitchFamily="34" charset="0"/>
                <a:ea typeface="Lexend" pitchFamily="34" charset="-122"/>
                <a:cs typeface="Lexend" pitchFamily="34" charset="-120"/>
              </a:rPr>
              <a:t>Utilizar </a:t>
            </a:r>
            <a:r>
              <a:rPr lang="es-ES" sz="1600" dirty="0">
                <a:solidFill>
                  <a:srgbClr val="E6E9FF"/>
                </a:solidFill>
                <a:latin typeface="Lexend" pitchFamily="34" charset="0"/>
                <a:ea typeface="Lexend" pitchFamily="34" charset="-122"/>
                <a:cs typeface="Lexend" pitchFamily="34" charset="-120"/>
              </a:rPr>
              <a:t>un único fichero </a:t>
            </a:r>
            <a:r>
              <a:rPr lang="es-ES" sz="1600" dirty="0" smtClean="0">
                <a:solidFill>
                  <a:srgbClr val="E6E9FF"/>
                </a:solidFill>
                <a:latin typeface="Lexend" pitchFamily="34" charset="0"/>
                <a:ea typeface="Lexend" pitchFamily="34" charset="-122"/>
                <a:cs typeface="Lexend" pitchFamily="34" charset="-120"/>
              </a:rPr>
              <a:t>llamado: registro.txt</a:t>
            </a:r>
          </a:p>
          <a:p>
            <a:pPr>
              <a:lnSpc>
                <a:spcPct val="85000"/>
              </a:lnSpc>
            </a:pPr>
            <a:r>
              <a:rPr lang="es-ES" sz="1600" dirty="0" smtClean="0">
                <a:solidFill>
                  <a:srgbClr val="E6E9FF"/>
                </a:solidFill>
                <a:latin typeface="Lexend" pitchFamily="34" charset="0"/>
                <a:ea typeface="Lexend" pitchFamily="34" charset="-122"/>
                <a:cs typeface="Lexend" pitchFamily="34" charset="-120"/>
              </a:rPr>
              <a:t>Ambos </a:t>
            </a:r>
            <a:r>
              <a:rPr lang="es-ES" sz="1600" dirty="0">
                <a:solidFill>
                  <a:srgbClr val="E6E9FF"/>
                </a:solidFill>
                <a:latin typeface="Lexend" pitchFamily="34" charset="0"/>
                <a:ea typeface="Lexend" pitchFamily="34" charset="-122"/>
                <a:cs typeface="Lexend" pitchFamily="34" charset="-120"/>
              </a:rPr>
              <a:t>hilos deberán escribir en el mismo fichero</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smtClean="0">
                <a:solidFill>
                  <a:srgbClr val="E6E9FF"/>
                </a:solidFill>
                <a:latin typeface="Lexend" pitchFamily="34" charset="0"/>
                <a:ea typeface="Lexend" pitchFamily="34" charset="-122"/>
                <a:cs typeface="Lexend" pitchFamily="34" charset="-120"/>
              </a:rPr>
              <a:t>Cada </a:t>
            </a:r>
            <a:r>
              <a:rPr lang="es-ES" sz="1600" dirty="0">
                <a:solidFill>
                  <a:srgbClr val="E6E9FF"/>
                </a:solidFill>
                <a:latin typeface="Lexend" pitchFamily="34" charset="0"/>
                <a:ea typeface="Lexend" pitchFamily="34" charset="-122"/>
                <a:cs typeface="Lexend" pitchFamily="34" charset="-120"/>
              </a:rPr>
              <a:t>hilo escribirá 10 líneas</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smtClean="0">
                <a:solidFill>
                  <a:srgbClr val="E6E9FF"/>
                </a:solidFill>
                <a:latin typeface="Lexend" pitchFamily="34" charset="0"/>
                <a:ea typeface="Lexend" pitchFamily="34" charset="-122"/>
                <a:cs typeface="Lexend" pitchFamily="34" charset="-120"/>
              </a:rPr>
              <a:t>Mostrar </a:t>
            </a:r>
            <a:r>
              <a:rPr lang="es-ES" sz="1600" dirty="0">
                <a:solidFill>
                  <a:srgbClr val="E6E9FF"/>
                </a:solidFill>
                <a:latin typeface="Lexend" pitchFamily="34" charset="0"/>
                <a:ea typeface="Lexend" pitchFamily="34" charset="-122"/>
                <a:cs typeface="Lexend" pitchFamily="34" charset="-120"/>
              </a:rPr>
              <a:t>un mensaje cuando ambos hilos hayan finalizado</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endParaRPr lang="es-ES" sz="1600" dirty="0">
              <a:solidFill>
                <a:srgbClr val="E6E9FF"/>
              </a:solidFill>
              <a:latin typeface="Lexend" pitchFamily="34" charset="0"/>
              <a:ea typeface="Lexend" pitchFamily="34" charset="-122"/>
              <a:cs typeface="Lexend" pitchFamily="34" charset="-120"/>
            </a:endParaRPr>
          </a:p>
          <a:p>
            <a:pPr>
              <a:lnSpc>
                <a:spcPct val="85000"/>
              </a:lnSpc>
            </a:pPr>
            <a:r>
              <a:rPr lang="es-ES" sz="1600" dirty="0" smtClean="0">
                <a:solidFill>
                  <a:srgbClr val="E6E9FF"/>
                </a:solidFill>
                <a:latin typeface="Lexend" pitchFamily="34" charset="0"/>
                <a:ea typeface="Lexend" pitchFamily="34" charset="-122"/>
                <a:cs typeface="Lexend" pitchFamily="34" charset="-120"/>
              </a:rPr>
              <a:t>Cuestiones</a:t>
            </a:r>
          </a:p>
          <a:p>
            <a:pPr>
              <a:lnSpc>
                <a:spcPct val="85000"/>
              </a:lnSpc>
            </a:pPr>
            <a:endParaRPr lang="es-ES" sz="1600" dirty="0" smtClean="0">
              <a:solidFill>
                <a:srgbClr val="E6E9FF"/>
              </a:solidFill>
              <a:latin typeface="Lexend" pitchFamily="34" charset="0"/>
              <a:ea typeface="Lexend" pitchFamily="34" charset="-122"/>
              <a:cs typeface="Lexend" pitchFamily="34" charset="-120"/>
            </a:endParaRPr>
          </a:p>
          <a:p>
            <a:pPr>
              <a:lnSpc>
                <a:spcPct val="85000"/>
              </a:lnSpc>
            </a:pPr>
            <a:r>
              <a:rPr lang="es-ES" sz="1600" dirty="0" smtClean="0">
                <a:solidFill>
                  <a:srgbClr val="E6E9FF"/>
                </a:solidFill>
                <a:latin typeface="Lexend" pitchFamily="34" charset="0"/>
                <a:ea typeface="Lexend" pitchFamily="34" charset="-122"/>
                <a:cs typeface="Lexend" pitchFamily="34" charset="-120"/>
              </a:rPr>
              <a:t>¿Qué </a:t>
            </a:r>
            <a:r>
              <a:rPr lang="es-ES" sz="1600" dirty="0">
                <a:solidFill>
                  <a:srgbClr val="E6E9FF"/>
                </a:solidFill>
                <a:latin typeface="Lexend" pitchFamily="34" charset="0"/>
                <a:ea typeface="Lexend" pitchFamily="34" charset="-122"/>
                <a:cs typeface="Lexend" pitchFamily="34" charset="-120"/>
              </a:rPr>
              <a:t>recurso comparten ambos hilos</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r>
              <a:rPr lang="es-ES" sz="1600" dirty="0" smtClean="0">
                <a:solidFill>
                  <a:srgbClr val="E6E9FF"/>
                </a:solidFill>
                <a:latin typeface="Lexend" pitchFamily="34" charset="0"/>
                <a:ea typeface="Lexend" pitchFamily="34" charset="-122"/>
                <a:cs typeface="Lexend" pitchFamily="34" charset="-120"/>
              </a:rPr>
              <a:t>¿</a:t>
            </a:r>
            <a:r>
              <a:rPr lang="es-ES" sz="1600" dirty="0">
                <a:solidFill>
                  <a:srgbClr val="E6E9FF"/>
                </a:solidFill>
                <a:latin typeface="Lexend" pitchFamily="34" charset="0"/>
                <a:ea typeface="Lexend" pitchFamily="34" charset="-122"/>
                <a:cs typeface="Lexend" pitchFamily="34" charset="-120"/>
              </a:rPr>
              <a:t>Qué podría ocurrir si ambos escriben simultáneamente</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r>
              <a:rPr lang="es-ES" sz="1600" dirty="0" smtClean="0">
                <a:solidFill>
                  <a:srgbClr val="E6E9FF"/>
                </a:solidFill>
                <a:latin typeface="Lexend" pitchFamily="34" charset="0"/>
                <a:ea typeface="Lexend" pitchFamily="34" charset="-122"/>
                <a:cs typeface="Lexend" pitchFamily="34" charset="-120"/>
              </a:rPr>
              <a:t>¿</a:t>
            </a:r>
            <a:r>
              <a:rPr lang="es-ES" sz="1600" dirty="0">
                <a:solidFill>
                  <a:srgbClr val="E6E9FF"/>
                </a:solidFill>
                <a:latin typeface="Lexend" pitchFamily="34" charset="0"/>
                <a:ea typeface="Lexend" pitchFamily="34" charset="-122"/>
                <a:cs typeface="Lexend" pitchFamily="34" charset="-120"/>
              </a:rPr>
              <a:t>Tiene sentido utilizar </a:t>
            </a:r>
            <a:r>
              <a:rPr lang="es-ES" sz="1600" dirty="0" err="1">
                <a:solidFill>
                  <a:srgbClr val="E6E9FF"/>
                </a:solidFill>
                <a:latin typeface="Lexend" pitchFamily="34" charset="0"/>
                <a:ea typeface="Lexend" pitchFamily="34" charset="-122"/>
                <a:cs typeface="Lexend" pitchFamily="34" charset="-120"/>
              </a:rPr>
              <a:t>synchronized</a:t>
            </a:r>
            <a:r>
              <a:rPr lang="es-ES" sz="1600" dirty="0" smtClean="0">
                <a:solidFill>
                  <a:srgbClr val="E6E9FF"/>
                </a:solidFill>
                <a:latin typeface="Lexend" pitchFamily="34" charset="0"/>
                <a:ea typeface="Lexend" pitchFamily="34" charset="-122"/>
                <a:cs typeface="Lexend" pitchFamily="34" charset="-120"/>
              </a:rPr>
              <a:t>?</a:t>
            </a:r>
          </a:p>
          <a:p>
            <a:pPr>
              <a:lnSpc>
                <a:spcPct val="85000"/>
              </a:lnSpc>
            </a:pPr>
            <a:r>
              <a:rPr lang="es-ES" sz="1600" dirty="0" smtClean="0">
                <a:solidFill>
                  <a:srgbClr val="E6E9FF"/>
                </a:solidFill>
                <a:latin typeface="Lexend" pitchFamily="34" charset="0"/>
                <a:ea typeface="Lexend" pitchFamily="34" charset="-122"/>
                <a:cs typeface="Lexend" pitchFamily="34" charset="-120"/>
              </a:rPr>
              <a:t>¿</a:t>
            </a:r>
            <a:r>
              <a:rPr lang="es-ES" sz="1600" dirty="0">
                <a:solidFill>
                  <a:srgbClr val="E6E9FF"/>
                </a:solidFill>
                <a:latin typeface="Lexend" pitchFamily="34" charset="0"/>
                <a:ea typeface="Lexend" pitchFamily="34" charset="-122"/>
                <a:cs typeface="Lexend" pitchFamily="34" charset="-120"/>
              </a:rPr>
              <a:t>Para qué puede ser útil registrar información desde varios hilos?</a:t>
            </a:r>
          </a:p>
        </p:txBody>
      </p:sp>
    </p:spTree>
    <p:extLst>
      <p:ext uri="{BB962C8B-B14F-4D97-AF65-F5344CB8AC3E}">
        <p14:creationId xmlns:p14="http://schemas.microsoft.com/office/powerpoint/2010/main" val="2266593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TotalTime>
  <Words>2990</Words>
  <Application>Microsoft Office PowerPoint</Application>
  <PresentationFormat>Panorámica</PresentationFormat>
  <Paragraphs>547</Paragraphs>
  <Slides>28</Slides>
  <Notes>28</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28</vt:i4>
      </vt:variant>
    </vt:vector>
  </HeadingPairs>
  <TitlesOfParts>
    <vt:vector size="39" baseType="lpstr">
      <vt:lpstr>Arial</vt:lpstr>
      <vt:lpstr>Wingdings</vt:lpstr>
      <vt:lpstr>Courier New</vt:lpstr>
      <vt:lpstr>Lexend Bold</vt:lpstr>
      <vt:lpstr>Consolas</vt:lpstr>
      <vt:lpstr>Calibri</vt:lpstr>
      <vt:lpstr>Lexend Medium</vt:lpstr>
      <vt:lpstr>Krona One</vt:lpstr>
      <vt:lpstr>Martian Mono Medium</vt:lpstr>
      <vt:lpstr>Lexend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lastModifiedBy>Rubén Eguizábal</cp:lastModifiedBy>
  <cp:revision>40</cp:revision>
  <dcterms:created xsi:type="dcterms:W3CDTF">2026-10-14T11:55:19Z</dcterms:created>
  <dcterms:modified xsi:type="dcterms:W3CDTF">2026-10-20T12:11:08Z</dcterms:modified>
</cp:coreProperties>
</file>