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6" r:id="rId2"/>
    <p:sldId id="267" r:id="rId3"/>
    <p:sldId id="268" r:id="rId4"/>
    <p:sldId id="269" r:id="rId5"/>
    <p:sldId id="270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F70469-F121-4AFC-8B3D-A5C559B73B48}" type="datetimeFigureOut">
              <a:rPr lang="es-ES" smtClean="0"/>
              <a:t>19/10/2026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0552BB-17BD-4E7A-9803-5F1B3867C76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656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447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956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070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9059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68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23E005-70AF-4E38-812F-8A513159E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BFADDA-1970-4791-9CA2-69715BDFBA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1D7F29-1E02-487A-847E-2372D305A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0E1B9-EF17-4FB2-B159-14ABB07CA4D6}" type="datetimeFigureOut">
              <a:rPr lang="es-ES" smtClean="0"/>
              <a:t>19/10/2026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C66304-4E95-4D9A-A650-26AE2EE7C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1894AE-EDD4-419E-911D-6EE361920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A527C-9E95-4FEC-A434-B29812AEB6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4775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11A35C-79BF-4486-B1B1-4BE3CD7C6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5E24B4-9420-47C4-84AD-C0803302D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5BF211-01B4-4556-8E20-AB4F075C2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0E1B9-EF17-4FB2-B159-14ABB07CA4D6}" type="datetimeFigureOut">
              <a:rPr lang="es-ES" smtClean="0"/>
              <a:t>19/10/2026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CDC679-C0EF-4368-B5AD-860E3AAE4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3D5319-FB60-4236-8D3F-6A173F825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A527C-9E95-4FEC-A434-B29812AEB6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8917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6538D3-96F1-4D31-8C51-B567C54AC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26E673-6AE2-4A82-BA47-6F38FC116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D39499-A584-4790-822C-734853810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0E1B9-EF17-4FB2-B159-14ABB07CA4D6}" type="datetimeFigureOut">
              <a:rPr lang="es-ES" smtClean="0"/>
              <a:t>19/10/2026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DB7026-B72D-479D-8A0A-42D9EF950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11ED4A-87B9-4E85-B5B0-0C2B5BBB8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A527C-9E95-4FEC-A434-B29812AEB6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5311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DF5AA3-F31E-442C-BAD3-223158B80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227223-4940-4641-99D5-EEBF41115A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0897AD2-DE02-405E-BCEA-2A7E4D249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9BD01E-C432-41FE-8BB1-D0BDF20EB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0E1B9-EF17-4FB2-B159-14ABB07CA4D6}" type="datetimeFigureOut">
              <a:rPr lang="es-ES" smtClean="0"/>
              <a:t>19/10/2026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B6A9275-627B-41D3-AABB-8F9B47A9C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2EAE388-E800-4A59-8C1C-D002793BC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A527C-9E95-4FEC-A434-B29812AEB6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0814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6A1D09-5173-4614-B7F5-E1649DDB9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E699D8-537D-4993-B25A-8C6163DD9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128C004-AE2F-4E8F-9FC2-B448412EE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36B3E7E-21B3-4D28-8863-AD156A62F5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EFD6694-F0CB-4A9C-9491-0AA94AE6EA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915058B-0D23-415B-B32C-5CB84A9CE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0E1B9-EF17-4FB2-B159-14ABB07CA4D6}" type="datetimeFigureOut">
              <a:rPr lang="es-ES" smtClean="0"/>
              <a:t>19/10/2026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575178A-31DF-466D-A512-00D0842E2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E736B4A-31F0-4A9F-97A5-762B45FCF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A527C-9E95-4FEC-A434-B29812AEB6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4407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1FBFF9-7A42-42CD-A0C8-1C942AD1C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CCB6E9E-3958-48E4-A12E-41E1A7581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0E1B9-EF17-4FB2-B159-14ABB07CA4D6}" type="datetimeFigureOut">
              <a:rPr lang="es-ES" smtClean="0"/>
              <a:t>19/10/2026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B60287-DEC5-4A4B-B340-918E38B78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B8B3FDC-A8B2-45AD-98BA-B97980BC1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A527C-9E95-4FEC-A434-B29812AEB6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7486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A94D053-8358-45F2-BB32-264F10F97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0E1B9-EF17-4FB2-B159-14ABB07CA4D6}" type="datetimeFigureOut">
              <a:rPr lang="es-ES" smtClean="0"/>
              <a:t>19/10/2026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7AAD5BC-399E-4CEF-AFB0-87EF9ED0C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F76CECA-1ADF-4F52-A14E-6BD4873CF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A527C-9E95-4FEC-A434-B29812AEB6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2487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E4EE71-4471-4ECC-9EAA-893A0F314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8DEC79-6499-49A8-A202-D2F0AAFB3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C383382-EC91-46AF-AFF1-4E3461BA2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E58584-DD32-4484-8ACC-C5AC967D4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0E1B9-EF17-4FB2-B159-14ABB07CA4D6}" type="datetimeFigureOut">
              <a:rPr lang="es-ES" smtClean="0"/>
              <a:t>19/10/2026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F094E34-B150-45C9-AAC6-7EE481029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92EDDD-1D1F-41C6-B457-9AFB5D6DB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A527C-9E95-4FEC-A434-B29812AEB6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9969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678EF0-46B1-442D-BFD4-0A96343D9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ACCD91E-4235-4711-946C-38A77DA523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A36DA71-D6C3-4DF7-9BCF-7398A400E0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14D30D-0D70-4E99-BA13-434EA2EBE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0E1B9-EF17-4FB2-B159-14ABB07CA4D6}" type="datetimeFigureOut">
              <a:rPr lang="es-ES" smtClean="0"/>
              <a:t>19/10/2026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F2273B3-D8B4-451D-B364-9FE7E235A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11F8054-CDAB-40CB-8B7A-F7B5EBA53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A527C-9E95-4FEC-A434-B29812AEB6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8433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5E66EE-37C6-43A6-95AA-F9A886488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FBA051F-DD0D-436C-ADF2-8BCB96D3A6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31631A-3C72-4DEC-8208-7049D9EEC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0E1B9-EF17-4FB2-B159-14ABB07CA4D6}" type="datetimeFigureOut">
              <a:rPr lang="es-ES" smtClean="0"/>
              <a:t>19/10/2026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87A25F-3EA5-4077-A6AF-E846C89ED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900EF4-D4EA-4B9C-BA65-C6D16C3FB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A527C-9E95-4FEC-A434-B29812AEB6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1987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2F74CDB-9B80-41E7-8130-EF8066DC61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BF372D9-6FF8-4A7F-8DE4-8C26ED1BA8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689F1A-D60F-4B15-BFD5-F45B1C84A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0E1B9-EF17-4FB2-B159-14ABB07CA4D6}" type="datetimeFigureOut">
              <a:rPr lang="es-ES" smtClean="0"/>
              <a:t>19/10/2026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0A50D8-E7D0-4AD6-8D9E-1E51DDCC9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8E57D3-9A15-4A07-A21D-F6DDB4A8F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A527C-9E95-4FEC-A434-B29812AEB6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43685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2">
    <p:bg>
      <p:bgPr>
        <a:solidFill>
          <a:srgbClr val="1515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90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434D514-9D73-4BDD-A7B7-65E6DA007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FA724BD-CB10-405F-A9D3-324973634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01BF77-7B09-4882-AB14-A00046A7C0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D0E1B9-EF17-4FB2-B159-14ABB07CA4D6}" type="datetimeFigureOut">
              <a:rPr lang="es-ES" smtClean="0"/>
              <a:t>19/10/2026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B5FF45-E265-4DBC-9F38-15B96FEC13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ACA673-73F8-408F-B830-D9593979F9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EA527C-9E95-4FEC-A434-B29812AEB6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2326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585" y="886896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s-ES" sz="2800" b="1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Ejercicio 1. Identificando el hilo principal</a:t>
            </a:r>
          </a:p>
        </p:txBody>
      </p:sp>
      <p:sp>
        <p:nvSpPr>
          <p:cNvPr id="4" name="Text 2"/>
          <p:cNvSpPr/>
          <p:nvPr/>
        </p:nvSpPr>
        <p:spPr>
          <a:xfrm>
            <a:off x="541219" y="1528587"/>
            <a:ext cx="10972526" cy="4567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>
              <a:lnSpc>
                <a:spcPct val="105000"/>
              </a:lnSpc>
            </a:pPr>
            <a:endParaRPr lang="es-ES" sz="2100" dirty="0">
              <a:solidFill>
                <a:srgbClr val="E6E9FF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>
              <a:lnSpc>
                <a:spcPct val="105000"/>
              </a:lnSpc>
            </a:pPr>
            <a:r>
              <a:rPr lang="es-ES" sz="2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Todos los programas Java se ejecutan inicialmente mediante un hilo principal creado automáticamente por la JVM.</a:t>
            </a:r>
          </a:p>
          <a:p>
            <a:pPr>
              <a:lnSpc>
                <a:spcPct val="105000"/>
              </a:lnSpc>
            </a:pPr>
            <a:r>
              <a:rPr lang="es-ES" sz="2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Desarrolla una aplicación que muestre por pantalla el nombre del hilo que está ejecutando el método </a:t>
            </a:r>
            <a:r>
              <a:rPr lang="es-ES" sz="2100" dirty="0" err="1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main</a:t>
            </a:r>
            <a:r>
              <a:rPr lang="es-ES" sz="2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().</a:t>
            </a:r>
          </a:p>
          <a:p>
            <a:pPr>
              <a:lnSpc>
                <a:spcPct val="105000"/>
              </a:lnSpc>
            </a:pPr>
            <a:endParaRPr lang="es-ES" sz="2100" dirty="0">
              <a:solidFill>
                <a:srgbClr val="E6E9FF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>
              <a:lnSpc>
                <a:spcPct val="105000"/>
              </a:lnSpc>
            </a:pPr>
            <a:r>
              <a:rPr lang="es-ES" sz="2100" i="1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Requisitos</a:t>
            </a:r>
          </a:p>
          <a:p>
            <a:pPr>
              <a:lnSpc>
                <a:spcPct val="105000"/>
              </a:lnSpc>
            </a:pPr>
            <a:r>
              <a:rPr lang="es-ES" sz="2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Mostrar únicamente el nombre del hilo actual.</a:t>
            </a:r>
          </a:p>
          <a:p>
            <a:pPr>
              <a:lnSpc>
                <a:spcPct val="105000"/>
              </a:lnSpc>
            </a:pPr>
            <a:r>
              <a:rPr lang="es-ES" sz="2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Ejecutar el programa y comprobar el resultado.</a:t>
            </a:r>
          </a:p>
          <a:p>
            <a:pPr>
              <a:lnSpc>
                <a:spcPct val="105000"/>
              </a:lnSpc>
            </a:pPr>
            <a:endParaRPr lang="es-ES" sz="2100" dirty="0">
              <a:solidFill>
                <a:srgbClr val="E6E9FF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>
              <a:lnSpc>
                <a:spcPct val="105000"/>
              </a:lnSpc>
            </a:pPr>
            <a:r>
              <a:rPr lang="es-ES" sz="2100" i="1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Cuestiones</a:t>
            </a:r>
          </a:p>
          <a:p>
            <a:pPr>
              <a:lnSpc>
                <a:spcPct val="105000"/>
              </a:lnSpc>
            </a:pPr>
            <a:r>
              <a:rPr lang="es-ES" sz="2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¿Cómo se llama el hilo que ejecuta el programa al iniciarse?</a:t>
            </a:r>
          </a:p>
          <a:p>
            <a:pPr>
              <a:lnSpc>
                <a:spcPct val="105000"/>
              </a:lnSpc>
            </a:pPr>
            <a:r>
              <a:rPr lang="es-ES" sz="2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¿Has tenido que crearlo manualmente?</a:t>
            </a:r>
          </a:p>
          <a:p>
            <a:pPr>
              <a:lnSpc>
                <a:spcPct val="105000"/>
              </a:lnSpc>
            </a:pPr>
            <a:endParaRPr lang="es-ES" sz="2100" dirty="0">
              <a:solidFill>
                <a:srgbClr val="E6E9FF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>
              <a:lnSpc>
                <a:spcPct val="105000"/>
              </a:lnSpc>
            </a:pPr>
            <a:r>
              <a:rPr lang="es-ES" sz="2100" i="1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Pista</a:t>
            </a:r>
          </a:p>
          <a:p>
            <a:pPr>
              <a:lnSpc>
                <a:spcPct val="105000"/>
              </a:lnSpc>
            </a:pPr>
            <a:r>
              <a:rPr lang="es-ES" sz="2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La clase </a:t>
            </a:r>
            <a:r>
              <a:rPr lang="es-ES" sz="2100" dirty="0" err="1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Thread</a:t>
            </a:r>
            <a:r>
              <a:rPr lang="es-ES" sz="2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dispone de métodos para obtener información sobre el hilo que se está ejecutando en este momento.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200343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585" y="886896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s-ES" sz="2800" b="1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Ejercicio 2. Mi primer hilo</a:t>
            </a:r>
          </a:p>
        </p:txBody>
      </p:sp>
      <p:sp>
        <p:nvSpPr>
          <p:cNvPr id="4" name="Text 2"/>
          <p:cNvSpPr/>
          <p:nvPr/>
        </p:nvSpPr>
        <p:spPr>
          <a:xfrm>
            <a:off x="541219" y="1528587"/>
            <a:ext cx="10972526" cy="4567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5000"/>
              </a:lnSpc>
            </a:pPr>
            <a:endParaRPr lang="es-ES" sz="2100" dirty="0">
              <a:solidFill>
                <a:srgbClr val="E6E9FF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609585" y="1528587"/>
            <a:ext cx="10904160" cy="4565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Crea una clase denominada  Ejercicio2 que herede de </a:t>
            </a:r>
            <a:r>
              <a:rPr lang="es-ES" sz="1900" dirty="0" err="1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Thread</a:t>
            </a: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</a:p>
          <a:p>
            <a:pPr>
              <a:lnSpc>
                <a:spcPct val="85000"/>
              </a:lnSpc>
            </a:pPr>
            <a:endParaRPr lang="es-ES" sz="1900" dirty="0">
              <a:solidFill>
                <a:srgbClr val="E6E9FF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Cuando se ejecute deberá mostrar por pantalla el siguiente mensaje:</a:t>
            </a:r>
          </a:p>
          <a:p>
            <a:pPr>
              <a:lnSpc>
                <a:spcPct val="85000"/>
              </a:lnSpc>
            </a:pPr>
            <a:endParaRPr lang="es-ES" sz="1900" dirty="0">
              <a:solidFill>
                <a:srgbClr val="E6E9FF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Hola desde mi primer hilo</a:t>
            </a:r>
          </a:p>
          <a:p>
            <a:pPr>
              <a:lnSpc>
                <a:spcPct val="85000"/>
              </a:lnSpc>
            </a:pPr>
            <a:endParaRPr lang="es-ES" sz="1900" dirty="0">
              <a:solidFill>
                <a:srgbClr val="E6E9FF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Requisitos</a:t>
            </a: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•	Heredar de la clase </a:t>
            </a:r>
            <a:r>
              <a:rPr lang="es-ES" sz="1900" dirty="0" err="1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Thread</a:t>
            </a: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•	Definir la tarea que ejecutará el hilo. Crear la función run.</a:t>
            </a: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•	Arrancar el hilo desde el método </a:t>
            </a:r>
            <a:r>
              <a:rPr lang="es-ES" sz="1900" dirty="0" err="1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main</a:t>
            </a: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().</a:t>
            </a:r>
          </a:p>
          <a:p>
            <a:pPr>
              <a:lnSpc>
                <a:spcPct val="85000"/>
              </a:lnSpc>
            </a:pPr>
            <a:endParaRPr lang="es-ES" sz="1900" dirty="0">
              <a:solidFill>
                <a:srgbClr val="E6E9FF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Cuestiones</a:t>
            </a: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1.	¿Qué método contiene el código que ejecuta el hilo?</a:t>
            </a:r>
          </a:p>
          <a:p>
            <a:pPr marL="457200" indent="-457200">
              <a:lnSpc>
                <a:spcPct val="85000"/>
              </a:lnSpc>
              <a:buAutoNum type="arabicPeriod" startAt="2"/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¿Qué método debe utilizarse para ponerlo en marcha?</a:t>
            </a:r>
          </a:p>
          <a:p>
            <a:pPr marL="457200" indent="-457200">
              <a:lnSpc>
                <a:spcPct val="85000"/>
              </a:lnSpc>
              <a:buAutoNum type="arabicPeriod" startAt="2"/>
            </a:pPr>
            <a:endParaRPr lang="es-ES" sz="1900" dirty="0">
              <a:solidFill>
                <a:srgbClr val="E6E9FF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Pista</a:t>
            </a: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Un hilo necesita definir qué trabajo realizará y después ser iniciado desde el programa principal.</a:t>
            </a:r>
          </a:p>
        </p:txBody>
      </p:sp>
    </p:spTree>
    <p:extLst>
      <p:ext uri="{BB962C8B-B14F-4D97-AF65-F5344CB8AC3E}">
        <p14:creationId xmlns:p14="http://schemas.microsoft.com/office/powerpoint/2010/main" val="3382274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585" y="886896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s-ES" sz="2800" b="1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Ejercicio 3. Dos tareas simultáneas</a:t>
            </a:r>
          </a:p>
        </p:txBody>
      </p:sp>
      <p:sp>
        <p:nvSpPr>
          <p:cNvPr id="4" name="Text 2"/>
          <p:cNvSpPr/>
          <p:nvPr/>
        </p:nvSpPr>
        <p:spPr>
          <a:xfrm>
            <a:off x="541219" y="1528587"/>
            <a:ext cx="10972526" cy="4567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5000"/>
              </a:lnSpc>
            </a:pPr>
            <a:endParaRPr lang="es-ES" sz="2100" dirty="0">
              <a:solidFill>
                <a:srgbClr val="E6E9FF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609585" y="1528587"/>
            <a:ext cx="10904160" cy="50629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Crea dos hilos diferentes.</a:t>
            </a:r>
          </a:p>
          <a:p>
            <a:pPr>
              <a:lnSpc>
                <a:spcPct val="85000"/>
              </a:lnSpc>
            </a:pPr>
            <a:endParaRPr lang="es-ES" sz="1900" dirty="0">
              <a:solidFill>
                <a:srgbClr val="E6E9FF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Hilo A</a:t>
            </a: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Mostrará los números del 1 al 10.</a:t>
            </a:r>
          </a:p>
          <a:p>
            <a:pPr>
              <a:lnSpc>
                <a:spcPct val="85000"/>
              </a:lnSpc>
            </a:pPr>
            <a:endParaRPr lang="es-ES" sz="1900" dirty="0">
              <a:solidFill>
                <a:srgbClr val="E6E9FF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Hilo B</a:t>
            </a: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Mostrará las letras desde la A hasta la J.</a:t>
            </a:r>
          </a:p>
          <a:p>
            <a:pPr>
              <a:lnSpc>
                <a:spcPct val="85000"/>
              </a:lnSpc>
            </a:pPr>
            <a:endParaRPr lang="es-ES" sz="1900" dirty="0">
              <a:solidFill>
                <a:srgbClr val="E6E9FF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Ejecuta ambos hilos desde el método principal.</a:t>
            </a:r>
          </a:p>
          <a:p>
            <a:pPr>
              <a:lnSpc>
                <a:spcPct val="85000"/>
              </a:lnSpc>
            </a:pPr>
            <a:endParaRPr lang="es-ES" sz="1900" dirty="0">
              <a:solidFill>
                <a:srgbClr val="E6E9FF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Requisitos</a:t>
            </a: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•	Crear dos hilos independientes.</a:t>
            </a: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•	Lanzar ambos mediante </a:t>
            </a:r>
            <a:r>
              <a:rPr lang="es-ES" sz="1900" dirty="0" err="1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start</a:t>
            </a: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().</a:t>
            </a: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•	Observar la salida obtenida en consola.</a:t>
            </a:r>
          </a:p>
          <a:p>
            <a:pPr>
              <a:lnSpc>
                <a:spcPct val="85000"/>
              </a:lnSpc>
            </a:pPr>
            <a:endParaRPr lang="es-ES" sz="1900" dirty="0">
              <a:solidFill>
                <a:srgbClr val="E6E9FF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Cuestiones</a:t>
            </a: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1.	¿Aparecen siempre primero los números y después las letras?</a:t>
            </a:r>
          </a:p>
          <a:p>
            <a:pPr marL="457200" indent="-457200">
              <a:lnSpc>
                <a:spcPct val="85000"/>
              </a:lnSpc>
              <a:buAutoNum type="arabicPeriod" startAt="2"/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¿Ocurren siempre las mismas salidas?</a:t>
            </a:r>
          </a:p>
          <a:p>
            <a:pPr marL="457200" indent="-457200">
              <a:lnSpc>
                <a:spcPct val="85000"/>
              </a:lnSpc>
              <a:buAutoNum type="arabicPeriod" startAt="2"/>
            </a:pPr>
            <a:endParaRPr lang="es-ES" sz="1900" dirty="0">
              <a:solidFill>
                <a:srgbClr val="E6E9FF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Ejecuta el programa varias veces y compara el resultado.</a:t>
            </a:r>
          </a:p>
        </p:txBody>
      </p:sp>
    </p:spTree>
    <p:extLst>
      <p:ext uri="{BB962C8B-B14F-4D97-AF65-F5344CB8AC3E}">
        <p14:creationId xmlns:p14="http://schemas.microsoft.com/office/powerpoint/2010/main" val="4079131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585" y="886896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s-ES" sz="2800" b="1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Ejercicio 4. Creando hilos con </a:t>
            </a:r>
            <a:r>
              <a:rPr lang="es-ES" sz="2800" b="1" dirty="0" err="1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Runnable</a:t>
            </a:r>
            <a:endParaRPr lang="es-ES" sz="2800" b="1" dirty="0">
              <a:solidFill>
                <a:srgbClr val="E6E9FF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1219" y="1528587"/>
            <a:ext cx="10972526" cy="4567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5000"/>
              </a:lnSpc>
            </a:pPr>
            <a:endParaRPr lang="es-ES" sz="2100" dirty="0">
              <a:solidFill>
                <a:srgbClr val="E6E9FF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609585" y="1528587"/>
            <a:ext cx="10904160" cy="3323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Repite el ejercicio anterior utilizando la interfaz </a:t>
            </a:r>
            <a:r>
              <a:rPr lang="es-ES" sz="1900" dirty="0" err="1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Runnable</a:t>
            </a: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en lugar de heredar de </a:t>
            </a:r>
            <a:r>
              <a:rPr lang="es-ES" sz="1900" dirty="0" err="1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Thread</a:t>
            </a: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</a:p>
          <a:p>
            <a:pPr>
              <a:lnSpc>
                <a:spcPct val="85000"/>
              </a:lnSpc>
            </a:pPr>
            <a:endParaRPr lang="es-ES" sz="1900" dirty="0">
              <a:solidFill>
                <a:srgbClr val="E6E9FF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Requisitos</a:t>
            </a: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•	Crear una clase que implemente </a:t>
            </a:r>
            <a:r>
              <a:rPr lang="es-ES" sz="1900" dirty="0" err="1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Runnable</a:t>
            </a: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•	Asociarla a un objeto de tipo </a:t>
            </a:r>
            <a:r>
              <a:rPr lang="es-ES" sz="1900" dirty="0" err="1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Thread</a:t>
            </a: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•	Ejecutar la tarea.</a:t>
            </a:r>
          </a:p>
          <a:p>
            <a:pPr>
              <a:lnSpc>
                <a:spcPct val="85000"/>
              </a:lnSpc>
            </a:pPr>
            <a:endParaRPr lang="es-ES" sz="1900" dirty="0">
              <a:solidFill>
                <a:srgbClr val="E6E9FF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Cuestiones</a:t>
            </a: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1.	¿Qué diferencias observas respecto al ejercicio anterior?</a:t>
            </a:r>
          </a:p>
          <a:p>
            <a:pPr marL="457200" indent="-457200">
              <a:lnSpc>
                <a:spcPct val="85000"/>
              </a:lnSpc>
              <a:buAutoNum type="arabicPeriod" startAt="2"/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¿Qué solución te parece más flexible?</a:t>
            </a:r>
          </a:p>
          <a:p>
            <a:pPr marL="457200" indent="-457200">
              <a:lnSpc>
                <a:spcPct val="85000"/>
              </a:lnSpc>
              <a:buAutoNum type="arabicPeriod" startAt="2"/>
            </a:pPr>
            <a:endParaRPr lang="es-ES" sz="1900" dirty="0">
              <a:solidFill>
                <a:srgbClr val="E6E9FF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Pista</a:t>
            </a: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Implementar </a:t>
            </a:r>
            <a:r>
              <a:rPr lang="es-ES" sz="1900" dirty="0" err="1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Runnable</a:t>
            </a: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no crea un hilo por sí mismo.</a:t>
            </a:r>
          </a:p>
        </p:txBody>
      </p:sp>
    </p:spTree>
    <p:extLst>
      <p:ext uri="{BB962C8B-B14F-4D97-AF65-F5344CB8AC3E}">
        <p14:creationId xmlns:p14="http://schemas.microsoft.com/office/powerpoint/2010/main" val="661310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585" y="134295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s-ES" sz="2800" b="1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Ejercicio 5. ¿run() o </a:t>
            </a:r>
            <a:r>
              <a:rPr lang="es-ES" sz="2800" b="1" dirty="0" err="1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start</a:t>
            </a:r>
            <a:r>
              <a:rPr lang="es-ES" sz="2800" b="1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()?</a:t>
            </a:r>
          </a:p>
        </p:txBody>
      </p:sp>
      <p:sp>
        <p:nvSpPr>
          <p:cNvPr id="4" name="Text 2"/>
          <p:cNvSpPr/>
          <p:nvPr/>
        </p:nvSpPr>
        <p:spPr>
          <a:xfrm>
            <a:off x="541219" y="1528587"/>
            <a:ext cx="10972526" cy="4567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5000"/>
              </a:lnSpc>
            </a:pPr>
            <a:endParaRPr lang="es-ES" sz="2100" dirty="0">
              <a:solidFill>
                <a:srgbClr val="E6E9FF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609585" y="711829"/>
            <a:ext cx="10904160" cy="6200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Crea una clase cuyo hilo muestre 10 veces el mensaje "Hola desde el hilo" indicando también el nombre del hilo que lo ejecuta.</a:t>
            </a:r>
          </a:p>
          <a:p>
            <a:pPr>
              <a:lnSpc>
                <a:spcPct val="85000"/>
              </a:lnSpc>
            </a:pPr>
            <a:endParaRPr lang="es-ES" sz="1900" dirty="0">
              <a:solidFill>
                <a:srgbClr val="E6E9FF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Realiza dos pruebas distintas:</a:t>
            </a:r>
          </a:p>
          <a:p>
            <a:pPr>
              <a:lnSpc>
                <a:spcPct val="85000"/>
              </a:lnSpc>
            </a:pPr>
            <a:endParaRPr lang="es-ES" sz="1900" dirty="0">
              <a:solidFill>
                <a:srgbClr val="E6E9FF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>
              <a:lnSpc>
                <a:spcPct val="85000"/>
              </a:lnSpc>
            </a:pPr>
            <a:r>
              <a:rPr lang="es-E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Prueba 1</a:t>
            </a:r>
          </a:p>
          <a:p>
            <a:pPr>
              <a:lnSpc>
                <a:spcPct val="85000"/>
              </a:lnSpc>
            </a:pPr>
            <a:r>
              <a:rPr lang="es-E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Llama al método:</a:t>
            </a:r>
          </a:p>
          <a:p>
            <a:pPr>
              <a:lnSpc>
                <a:spcPct val="85000"/>
              </a:lnSpc>
            </a:pPr>
            <a:r>
              <a:rPr lang="es-E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Java</a:t>
            </a:r>
          </a:p>
          <a:p>
            <a:pPr>
              <a:lnSpc>
                <a:spcPct val="85000"/>
              </a:lnSpc>
            </a:pPr>
            <a:r>
              <a:rPr lang="es-E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run()</a:t>
            </a:r>
          </a:p>
          <a:p>
            <a:pPr>
              <a:lnSpc>
                <a:spcPct val="85000"/>
              </a:lnSpc>
            </a:pPr>
            <a:endParaRPr lang="es-ES" sz="1600" dirty="0">
              <a:solidFill>
                <a:srgbClr val="E6E9FF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>
              <a:lnSpc>
                <a:spcPct val="85000"/>
              </a:lnSpc>
            </a:pPr>
            <a:r>
              <a:rPr lang="es-E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Prueba 2</a:t>
            </a:r>
          </a:p>
          <a:p>
            <a:pPr>
              <a:lnSpc>
                <a:spcPct val="85000"/>
              </a:lnSpc>
            </a:pPr>
            <a:r>
              <a:rPr lang="es-E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Llama al método:</a:t>
            </a:r>
          </a:p>
          <a:p>
            <a:pPr>
              <a:lnSpc>
                <a:spcPct val="85000"/>
              </a:lnSpc>
            </a:pPr>
            <a:r>
              <a:rPr lang="es-E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Java</a:t>
            </a:r>
          </a:p>
          <a:p>
            <a:pPr>
              <a:lnSpc>
                <a:spcPct val="85000"/>
              </a:lnSpc>
            </a:pPr>
            <a:r>
              <a:rPr lang="es-ES" sz="1600" dirty="0" err="1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start</a:t>
            </a:r>
            <a:r>
              <a:rPr lang="es-E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()</a:t>
            </a:r>
          </a:p>
          <a:p>
            <a:pPr>
              <a:lnSpc>
                <a:spcPct val="85000"/>
              </a:lnSpc>
            </a:pPr>
            <a:endParaRPr lang="es-ES" sz="1900" dirty="0">
              <a:solidFill>
                <a:srgbClr val="E6E9FF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Requisitos</a:t>
            </a: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•	Comparar ambos comportamientos.</a:t>
            </a: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•	Anotar las diferencias observadas.</a:t>
            </a:r>
          </a:p>
          <a:p>
            <a:pPr>
              <a:lnSpc>
                <a:spcPct val="85000"/>
              </a:lnSpc>
            </a:pPr>
            <a:endParaRPr lang="es-ES" sz="1900" dirty="0">
              <a:solidFill>
                <a:srgbClr val="E6E9FF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Cuestiones</a:t>
            </a: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1.	¿Se crea realmente un nuevo hilo en los dos casos?</a:t>
            </a:r>
          </a:p>
          <a:p>
            <a:pPr marL="457200" indent="-457200">
              <a:lnSpc>
                <a:spcPct val="85000"/>
              </a:lnSpc>
              <a:buAutoNum type="arabicPeriod" startAt="2"/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¿Cuál es la forma correcta de iniciar un hilo?</a:t>
            </a:r>
          </a:p>
          <a:p>
            <a:pPr marL="457200" indent="-457200">
              <a:lnSpc>
                <a:spcPct val="85000"/>
              </a:lnSpc>
              <a:buAutoNum type="arabicPeriod" startAt="2"/>
            </a:pPr>
            <a:endParaRPr lang="es-ES" sz="1900" dirty="0">
              <a:solidFill>
                <a:srgbClr val="E6E9FF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Pista</a:t>
            </a:r>
          </a:p>
          <a:p>
            <a:pPr>
              <a:lnSpc>
                <a:spcPct val="85000"/>
              </a:lnSpc>
            </a:pPr>
            <a:r>
              <a:rPr lang="es-ES" sz="19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Piensa qué ocurre si llamas a run() igual que llamarías a cualquier otro método de una clase.</a:t>
            </a:r>
          </a:p>
        </p:txBody>
      </p:sp>
    </p:spTree>
    <p:extLst>
      <p:ext uri="{BB962C8B-B14F-4D97-AF65-F5344CB8AC3E}">
        <p14:creationId xmlns:p14="http://schemas.microsoft.com/office/powerpoint/2010/main" val="27491430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</Words>
  <Application>Microsoft Office PowerPoint</Application>
  <PresentationFormat>Panorámica</PresentationFormat>
  <Paragraphs>98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Lexend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ProfVespertino</dc:creator>
  <cp:lastModifiedBy>ProfVespertino</cp:lastModifiedBy>
  <cp:revision>1</cp:revision>
  <dcterms:created xsi:type="dcterms:W3CDTF">2026-10-19T16:25:43Z</dcterms:created>
  <dcterms:modified xsi:type="dcterms:W3CDTF">2026-10-19T16:25:54Z</dcterms:modified>
</cp:coreProperties>
</file>