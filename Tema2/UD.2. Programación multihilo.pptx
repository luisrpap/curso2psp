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37"/>
  </p:notesMasterIdLst>
  <p:sldIdLst>
    <p:sldId id="256" r:id="rId2"/>
    <p:sldId id="257" r:id="rId3"/>
    <p:sldId id="283" r:id="rId4"/>
    <p:sldId id="294" r:id="rId5"/>
    <p:sldId id="282" r:id="rId6"/>
    <p:sldId id="281" r:id="rId7"/>
    <p:sldId id="285" r:id="rId8"/>
    <p:sldId id="286" r:id="rId9"/>
    <p:sldId id="288" r:id="rId10"/>
    <p:sldId id="296" r:id="rId11"/>
    <p:sldId id="297" r:id="rId12"/>
    <p:sldId id="261" r:id="rId13"/>
    <p:sldId id="269" r:id="rId14"/>
    <p:sldId id="262" r:id="rId15"/>
    <p:sldId id="263" r:id="rId16"/>
    <p:sldId id="264" r:id="rId17"/>
    <p:sldId id="265" r:id="rId18"/>
    <p:sldId id="267" r:id="rId19"/>
    <p:sldId id="278" r:id="rId20"/>
    <p:sldId id="293" r:id="rId21"/>
    <p:sldId id="295" r:id="rId22"/>
    <p:sldId id="291" r:id="rId23"/>
    <p:sldId id="292" r:id="rId24"/>
    <p:sldId id="280" r:id="rId25"/>
    <p:sldId id="275" r:id="rId26"/>
    <p:sldId id="277" r:id="rId27"/>
    <p:sldId id="276" r:id="rId28"/>
    <p:sldId id="298" r:id="rId29"/>
    <p:sldId id="300" r:id="rId30"/>
    <p:sldId id="299" r:id="rId31"/>
    <p:sldId id="301" r:id="rId32"/>
    <p:sldId id="274" r:id="rId33"/>
    <p:sldId id="271" r:id="rId34"/>
    <p:sldId id="279" r:id="rId35"/>
    <p:sldId id="272" r:id="rId3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712954-B789-4A3E-AE55-782BE9F0DFE6}" type="datetimeFigureOut">
              <a:rPr lang="es-ES" smtClean="0"/>
              <a:t>14/10/2025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D6B223-8669-4A67-B0F0-48AF097AF76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161351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D6B223-8669-4A67-B0F0-48AF097AF768}" type="slidenum">
              <a:rPr lang="es-ES" smtClean="0"/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962131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s-ES"/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5FB1E-82B5-46F3-B88C-C868EE6E6AD7}" type="datetimeFigureOut">
              <a:rPr lang="es-ES" smtClean="0"/>
              <a:t>14/10/2025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96CEEBDD-F169-4E8A-B579-38F5944FB55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054414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5FB1E-82B5-46F3-B88C-C868EE6E6AD7}" type="datetimeFigureOut">
              <a:rPr lang="es-ES" smtClean="0"/>
              <a:t>14/10/2025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EEBDD-F169-4E8A-B579-38F5944FB55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76003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49B5FB1E-82B5-46F3-B88C-C868EE6E6AD7}" type="datetimeFigureOut">
              <a:rPr lang="es-ES" smtClean="0"/>
              <a:t>14/10/2025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s-E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96CEEBDD-F169-4E8A-B579-38F5944FB55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22528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5FB1E-82B5-46F3-B88C-C868EE6E6AD7}" type="datetimeFigureOut">
              <a:rPr lang="es-ES" smtClean="0"/>
              <a:t>14/10/2025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EEBDD-F169-4E8A-B579-38F5944FB55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448486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5FB1E-82B5-46F3-B88C-C868EE6E6AD7}" type="datetimeFigureOut">
              <a:rPr lang="es-ES" smtClean="0"/>
              <a:t>14/10/2025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EEBDD-F169-4E8A-B579-38F5944FB55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400218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5FB1E-82B5-46F3-B88C-C868EE6E6AD7}" type="datetimeFigureOut">
              <a:rPr lang="es-ES" smtClean="0"/>
              <a:t>14/10/2025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EEBDD-F169-4E8A-B579-38F5944FB55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04813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5FB1E-82B5-46F3-B88C-C868EE6E6AD7}" type="datetimeFigureOut">
              <a:rPr lang="es-ES" smtClean="0"/>
              <a:t>14/10/2025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EEBDD-F169-4E8A-B579-38F5944FB55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174562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5FB1E-82B5-46F3-B88C-C868EE6E6AD7}" type="datetimeFigureOut">
              <a:rPr lang="es-ES" smtClean="0"/>
              <a:t>14/10/2025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EEBDD-F169-4E8A-B579-38F5944FB55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21942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5FB1E-82B5-46F3-B88C-C868EE6E6AD7}" type="datetimeFigureOut">
              <a:rPr lang="es-ES" smtClean="0"/>
              <a:t>14/10/2025</a:t>
            </a:fld>
            <a:endParaRPr lang="es-E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EEBDD-F169-4E8A-B579-38F5944FB55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174738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5FB1E-82B5-46F3-B88C-C868EE6E6AD7}" type="datetimeFigureOut">
              <a:rPr lang="es-ES" smtClean="0"/>
              <a:t>14/10/2025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EEBDD-F169-4E8A-B579-38F5944FB55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22404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5FB1E-82B5-46F3-B88C-C868EE6E6AD7}" type="datetimeFigureOut">
              <a:rPr lang="es-ES" smtClean="0"/>
              <a:t>14/10/2025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EEBDD-F169-4E8A-B579-38F5944FB55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692170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49B5FB1E-82B5-46F3-B88C-C868EE6E6AD7}" type="datetimeFigureOut">
              <a:rPr lang="es-ES" smtClean="0"/>
              <a:t>14/10/2025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s-E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s-ES"/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96CEEBDD-F169-4E8A-B579-38F5944FB55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22206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racle.com/javase/7/docs/api/java/util/concurrent/locks/Lock.html" TargetMode="Externa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6CC8F6-47C8-FA21-27FC-9E4D4A9ABC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UD.2 Programación multihilo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0393C01-BA27-947D-CB5D-24F50ACB07B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PSP</a:t>
            </a:r>
          </a:p>
          <a:p>
            <a:r>
              <a:rPr lang="es-ES" dirty="0"/>
              <a:t>2º DAM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479629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E901C-4D24-4F6A-5A33-F07FB0AF4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Programación concurrente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A4A8206-D7D3-CC15-DBFE-AB1E414F0F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6831" y="1869459"/>
            <a:ext cx="8596668" cy="4319243"/>
          </a:xfrm>
        </p:spPr>
        <p:txBody>
          <a:bodyPr>
            <a:normAutofit/>
          </a:bodyPr>
          <a:lstStyle/>
          <a:p>
            <a:r>
              <a:rPr lang="es-ES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¿Qué quiere decir concurrencia?</a:t>
            </a:r>
          </a:p>
          <a:p>
            <a:pPr lvl="1"/>
            <a:r>
              <a:rPr lang="es-ES" dirty="0">
                <a:solidFill>
                  <a:srgbClr val="202122"/>
                </a:solidFill>
                <a:latin typeface="Arial" panose="020B0604020202020204" pitchFamily="34" charset="0"/>
              </a:rPr>
              <a:t>La programación concurrente permite tener en ejecución varias tareas interactivas al mismo tiempo.</a:t>
            </a:r>
          </a:p>
          <a:p>
            <a:pPr lvl="1"/>
            <a:r>
              <a:rPr lang="es-ES" dirty="0">
                <a:solidFill>
                  <a:srgbClr val="202122"/>
                </a:solidFill>
                <a:latin typeface="Arial" panose="020B0604020202020204" pitchFamily="34" charset="0"/>
              </a:rPr>
              <a:t> En otras palabras, dividir un programa en diferentes partes para así mejorar su velocidad de ejecución.</a:t>
            </a:r>
          </a:p>
          <a:p>
            <a:r>
              <a:rPr lang="es-ES" b="1" dirty="0">
                <a:solidFill>
                  <a:srgbClr val="202122"/>
                </a:solidFill>
                <a:latin typeface="Arial" panose="020B0604020202020204" pitchFamily="34" charset="0"/>
              </a:rPr>
              <a:t>¿Cuándo se realiza la concurrencia?</a:t>
            </a:r>
          </a:p>
          <a:p>
            <a:pPr marL="457200" lvl="1" indent="0">
              <a:buNone/>
            </a:pPr>
            <a:r>
              <a:rPr lang="es-ES" dirty="0"/>
              <a:t>➢ Escuchar música.</a:t>
            </a:r>
          </a:p>
          <a:p>
            <a:pPr marL="457200" lvl="1" indent="0">
              <a:buNone/>
            </a:pPr>
            <a:r>
              <a:rPr lang="es-ES" dirty="0"/>
              <a:t>➢ Imprimir un documento.</a:t>
            </a:r>
          </a:p>
          <a:p>
            <a:pPr marL="457200" lvl="1" indent="0">
              <a:buNone/>
            </a:pPr>
            <a:r>
              <a:rPr lang="es-ES" dirty="0"/>
              <a:t>➢ Ver un vídeo en </a:t>
            </a:r>
            <a:r>
              <a:rPr lang="es-ES" dirty="0" err="1"/>
              <a:t>Youtube</a:t>
            </a:r>
            <a:r>
              <a:rPr lang="es-ES" dirty="0"/>
              <a:t>.</a:t>
            </a:r>
          </a:p>
          <a:p>
            <a:pPr marL="457200" lvl="1" indent="0">
              <a:buNone/>
            </a:pPr>
            <a:r>
              <a:rPr lang="es-ES" dirty="0"/>
              <a:t>➢ Descargar un fichero. </a:t>
            </a:r>
          </a:p>
          <a:p>
            <a:pPr marL="457200" lvl="1" indent="0">
              <a:buNone/>
            </a:pPr>
            <a:r>
              <a:rPr lang="es-ES" dirty="0"/>
              <a:t>➢ Tener abierta une ventana de Chrome con 5 pestañas.</a:t>
            </a:r>
          </a:p>
          <a:p>
            <a:pPr marL="457200" lvl="1" indent="0">
              <a:buNone/>
            </a:pPr>
            <a:r>
              <a:rPr lang="es-ES" dirty="0"/>
              <a:t>➢ Recibir notificaciones de actualizaciones.</a:t>
            </a:r>
          </a:p>
        </p:txBody>
      </p:sp>
      <p:pic>
        <p:nvPicPr>
          <p:cNvPr id="1026" name="Picture 2" descr="Imágenes de Nino Pensando - Descarga gratuita en Freepik">
            <a:extLst>
              <a:ext uri="{FF2B5EF4-FFF2-40B4-BE49-F238E27FC236}">
                <a16:creationId xmlns:a16="http://schemas.microsoft.com/office/drawing/2014/main" id="{CB410769-745E-6A84-2D0D-04F2C4D7CE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0453" y="4093066"/>
            <a:ext cx="1868282" cy="18682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Bocadillo: rectángulo con esquinas redondeadas 5">
            <a:extLst>
              <a:ext uri="{FF2B5EF4-FFF2-40B4-BE49-F238E27FC236}">
                <a16:creationId xmlns:a16="http://schemas.microsoft.com/office/drawing/2014/main" id="{D1C93FE9-7913-EEDE-B2E2-AE824F81C039}"/>
              </a:ext>
            </a:extLst>
          </p:cNvPr>
          <p:cNvSpPr/>
          <p:nvPr/>
        </p:nvSpPr>
        <p:spPr>
          <a:xfrm>
            <a:off x="9394721" y="2493185"/>
            <a:ext cx="2256503" cy="1582598"/>
          </a:xfrm>
          <a:prstGeom prst="wedgeRoundRect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400" dirty="0"/>
              <a:t>¿Cuánto tardaríamos en hacer todo esto sin concurrencia?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4C2AF28-0EA4-6B4C-ED2E-20162E9D11D3}"/>
              </a:ext>
            </a:extLst>
          </p:cNvPr>
          <p:cNvSpPr txBox="1"/>
          <p:nvPr/>
        </p:nvSpPr>
        <p:spPr>
          <a:xfrm>
            <a:off x="2957327" y="6188702"/>
            <a:ext cx="3394312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s-ES" sz="1800" b="1" dirty="0"/>
              <a:t>Concurrencia = a la vez</a:t>
            </a:r>
            <a:endParaRPr lang="es-ES" b="1" dirty="0"/>
          </a:p>
        </p:txBody>
      </p:sp>
    </p:spTree>
    <p:extLst>
      <p:ext uri="{BB962C8B-B14F-4D97-AF65-F5344CB8AC3E}">
        <p14:creationId xmlns:p14="http://schemas.microsoft.com/office/powerpoint/2010/main" val="703630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E901C-4D24-4F6A-5A33-F07FB0AF4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Programación concurrente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D9DC6CC-3877-FDBB-C0B1-EAAF200618B5}"/>
              </a:ext>
            </a:extLst>
          </p:cNvPr>
          <p:cNvSpPr txBox="1"/>
          <p:nvPr/>
        </p:nvSpPr>
        <p:spPr>
          <a:xfrm>
            <a:off x="628173" y="1784956"/>
            <a:ext cx="10058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La programación concurrente es la que se encarga de ejecutar las tareas simultáneamente.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95F32CA-9243-CF89-8D99-642E9C9A1D1E}"/>
              </a:ext>
            </a:extLst>
          </p:cNvPr>
          <p:cNvSpPr txBox="1"/>
          <p:nvPr/>
        </p:nvSpPr>
        <p:spPr>
          <a:xfrm>
            <a:off x="2183990" y="2583932"/>
            <a:ext cx="6098458" cy="369332"/>
          </a:xfrm>
          <a:prstGeom prst="rect">
            <a:avLst/>
          </a:prstGeom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s-ES" dirty="0"/>
              <a:t>Una aplicación concurrente no garantiza menor tiempo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6F435325-7637-4902-78B7-CA8AC039F5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2718" y="3630550"/>
            <a:ext cx="7429500" cy="2266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3577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F9B9E4D0-CCEA-24AE-4986-C0E2B9A320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4490" y="3253412"/>
            <a:ext cx="5498844" cy="3005475"/>
          </a:xfrm>
          <a:prstGeom prst="rect">
            <a:avLst/>
          </a:prstGeom>
          <a:ln w="57150">
            <a:solidFill>
              <a:schemeClr val="accent6">
                <a:lumMod val="75000"/>
              </a:schemeClr>
            </a:solidFill>
          </a:ln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FE0C34B4-B7A5-7A72-1C41-DCF3163CF3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0262" y="956955"/>
            <a:ext cx="7991475" cy="1876425"/>
          </a:xfrm>
          <a:prstGeom prst="rect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A451FBD0-9BDC-149A-48D1-85BEF26F0E8B}"/>
              </a:ext>
            </a:extLst>
          </p:cNvPr>
          <p:cNvSpPr txBox="1"/>
          <p:nvPr/>
        </p:nvSpPr>
        <p:spPr>
          <a:xfrm>
            <a:off x="114300" y="1304921"/>
            <a:ext cx="16555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/>
              <a:t>Secuencial</a:t>
            </a:r>
            <a:r>
              <a:rPr lang="es-ES" dirty="0"/>
              <a:t>: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5BEEE5F-2E24-60AE-E3C5-D093489125DA}"/>
              </a:ext>
            </a:extLst>
          </p:cNvPr>
          <p:cNvSpPr txBox="1"/>
          <p:nvPr/>
        </p:nvSpPr>
        <p:spPr>
          <a:xfrm>
            <a:off x="444756" y="4756149"/>
            <a:ext cx="16555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/>
              <a:t>Con hilos:</a:t>
            </a:r>
          </a:p>
        </p:txBody>
      </p:sp>
    </p:spTree>
    <p:extLst>
      <p:ext uri="{BB962C8B-B14F-4D97-AF65-F5344CB8AC3E}">
        <p14:creationId xmlns:p14="http://schemas.microsoft.com/office/powerpoint/2010/main" val="18444818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E87E1899-A34B-5E98-6E96-F230CD54ED95}"/>
              </a:ext>
            </a:extLst>
          </p:cNvPr>
          <p:cNvSpPr/>
          <p:nvPr/>
        </p:nvSpPr>
        <p:spPr>
          <a:xfrm>
            <a:off x="1288022" y="3942283"/>
            <a:ext cx="2814485" cy="2227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4096444-DCA2-7644-8BA2-0B157D3D9AEA}"/>
              </a:ext>
            </a:extLst>
          </p:cNvPr>
          <p:cNvSpPr/>
          <p:nvPr/>
        </p:nvSpPr>
        <p:spPr>
          <a:xfrm>
            <a:off x="1358078" y="5150743"/>
            <a:ext cx="1189090" cy="92333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Core 3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FE9EF73-64F0-C3EF-27AE-EC1C4A083E83}"/>
              </a:ext>
            </a:extLst>
          </p:cNvPr>
          <p:cNvSpPr/>
          <p:nvPr/>
        </p:nvSpPr>
        <p:spPr>
          <a:xfrm>
            <a:off x="2684510" y="5150743"/>
            <a:ext cx="1203839" cy="92333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Core 4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5598729-880A-54F8-4D64-7C7A7E79DFFE}"/>
              </a:ext>
            </a:extLst>
          </p:cNvPr>
          <p:cNvSpPr/>
          <p:nvPr/>
        </p:nvSpPr>
        <p:spPr>
          <a:xfrm>
            <a:off x="1358077" y="4084848"/>
            <a:ext cx="1189091" cy="92333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Core 1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B1BBD1E-ED22-C552-F005-490684EA63C3}"/>
              </a:ext>
            </a:extLst>
          </p:cNvPr>
          <p:cNvSpPr/>
          <p:nvPr/>
        </p:nvSpPr>
        <p:spPr>
          <a:xfrm>
            <a:off x="2695264" y="4107162"/>
            <a:ext cx="1203839" cy="92333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Core 2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9829C9CA-5A74-0A90-0529-AC094D5A5F39}"/>
              </a:ext>
            </a:extLst>
          </p:cNvPr>
          <p:cNvSpPr txBox="1"/>
          <p:nvPr/>
        </p:nvSpPr>
        <p:spPr>
          <a:xfrm>
            <a:off x="574567" y="1037051"/>
            <a:ext cx="86314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Los </a:t>
            </a:r>
            <a:r>
              <a:rPr lang="es-ES" dirty="0" err="1"/>
              <a:t>cores</a:t>
            </a:r>
            <a:r>
              <a:rPr lang="es-ES" dirty="0"/>
              <a:t> (núcleos) son divisiones dentro de un procesador para poder repartir la carga que se le administra al procesador.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1AE52D25-B394-B91A-DE7D-8161090B8C0A}"/>
              </a:ext>
            </a:extLst>
          </p:cNvPr>
          <p:cNvSpPr txBox="1"/>
          <p:nvPr/>
        </p:nvSpPr>
        <p:spPr>
          <a:xfrm>
            <a:off x="1375281" y="2645197"/>
            <a:ext cx="9273054" cy="369332"/>
          </a:xfrm>
          <a:prstGeom prst="rect">
            <a:avLst/>
          </a:prstGeom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s-ES" b="1" dirty="0">
                <a:solidFill>
                  <a:schemeClr val="accent2"/>
                </a:solidFill>
              </a:rPr>
              <a:t>Cada uno de los </a:t>
            </a:r>
            <a:r>
              <a:rPr lang="es-ES" b="1" dirty="0" err="1">
                <a:solidFill>
                  <a:schemeClr val="accent2"/>
                </a:solidFill>
              </a:rPr>
              <a:t>cores</a:t>
            </a:r>
            <a:r>
              <a:rPr lang="es-ES" b="1" dirty="0">
                <a:solidFill>
                  <a:schemeClr val="accent2"/>
                </a:solidFill>
              </a:rPr>
              <a:t> funciona como una unidad independiente de proceso.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F91E0E96-6F0A-E550-D264-D04F0D59FABA}"/>
              </a:ext>
            </a:extLst>
          </p:cNvPr>
          <p:cNvSpPr txBox="1"/>
          <p:nvPr/>
        </p:nvSpPr>
        <p:spPr>
          <a:xfrm>
            <a:off x="4701047" y="3480618"/>
            <a:ext cx="437720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/>
              <a:t>Ejemplo: </a:t>
            </a:r>
            <a:r>
              <a:rPr lang="es-ES" dirty="0"/>
              <a:t>Procesador Intel i7 6500U</a:t>
            </a:r>
          </a:p>
          <a:p>
            <a:r>
              <a:rPr lang="es-ES" dirty="0"/>
              <a:t>Cantidad de núcleos: 4 </a:t>
            </a:r>
          </a:p>
          <a:p>
            <a:r>
              <a:rPr lang="es-ES" dirty="0"/>
              <a:t>Cantidad de subprocesos: 4 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22CF6757-C212-E29B-1230-9A7F40AB9772}"/>
              </a:ext>
            </a:extLst>
          </p:cNvPr>
          <p:cNvSpPr txBox="1"/>
          <p:nvPr/>
        </p:nvSpPr>
        <p:spPr>
          <a:xfrm>
            <a:off x="4494570" y="4568827"/>
            <a:ext cx="677319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Cada </a:t>
            </a:r>
            <a:r>
              <a:rPr lang="es-ES" dirty="0" err="1"/>
              <a:t>core</a:t>
            </a:r>
            <a:r>
              <a:rPr lang="es-ES" dirty="0"/>
              <a:t> = 4 procesos concurrentes.</a:t>
            </a:r>
          </a:p>
          <a:p>
            <a:r>
              <a:rPr lang="es-ES" dirty="0"/>
              <a:t>• Cuando un subproceso solicita E/S (más lentas)</a:t>
            </a:r>
          </a:p>
          <a:p>
            <a:pPr lvl="1"/>
            <a:r>
              <a:rPr lang="es-ES" dirty="0"/>
              <a:t>• Expulsa el proceso que se está ejecutando BLOQUEADO</a:t>
            </a:r>
          </a:p>
          <a:p>
            <a:pPr lvl="1"/>
            <a:r>
              <a:rPr lang="es-ES" dirty="0"/>
              <a:t>• Carga uno nuevo</a:t>
            </a:r>
          </a:p>
          <a:p>
            <a:pPr lvl="1"/>
            <a:r>
              <a:rPr lang="es-ES" dirty="0"/>
              <a:t>• Al recibir la respuesta el proceso que lo estaba esperando, vuelve a LISTO</a:t>
            </a:r>
          </a:p>
        </p:txBody>
      </p:sp>
    </p:spTree>
    <p:extLst>
      <p:ext uri="{BB962C8B-B14F-4D97-AF65-F5344CB8AC3E}">
        <p14:creationId xmlns:p14="http://schemas.microsoft.com/office/powerpoint/2010/main" val="37884185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4FECA9CA-D56B-8FA2-C328-B48566276B39}"/>
              </a:ext>
            </a:extLst>
          </p:cNvPr>
          <p:cNvSpPr txBox="1"/>
          <p:nvPr/>
        </p:nvSpPr>
        <p:spPr>
          <a:xfrm>
            <a:off x="500353" y="1334110"/>
            <a:ext cx="6098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Las tareas se pueden ejecutar de tres formas diferentes: 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BDC643F-6E8D-F31F-C90C-75483568C819}"/>
              </a:ext>
            </a:extLst>
          </p:cNvPr>
          <p:cNvSpPr/>
          <p:nvPr/>
        </p:nvSpPr>
        <p:spPr>
          <a:xfrm>
            <a:off x="323481" y="2447904"/>
            <a:ext cx="3628104" cy="18140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u="sng" dirty="0"/>
              <a:t>Único procesador</a:t>
            </a:r>
          </a:p>
          <a:p>
            <a:pPr algn="ctr"/>
            <a:r>
              <a:rPr lang="es-ES" dirty="0"/>
              <a:t>Sólo un proceso en ejecución en un momento determinado.</a:t>
            </a:r>
          </a:p>
          <a:p>
            <a:pPr algn="ctr"/>
            <a:r>
              <a:rPr lang="es-ES" dirty="0"/>
              <a:t>El usuario cree que todos se ejecutan a la vez.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72D588CF-ADB8-E640-F8AB-2985E66867E7}"/>
              </a:ext>
            </a:extLst>
          </p:cNvPr>
          <p:cNvSpPr/>
          <p:nvPr/>
        </p:nvSpPr>
        <p:spPr>
          <a:xfrm>
            <a:off x="4281948" y="2447904"/>
            <a:ext cx="3628104" cy="18140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u="sng" dirty="0"/>
              <a:t>Varios núcleos</a:t>
            </a:r>
          </a:p>
          <a:p>
            <a:pPr algn="ctr"/>
            <a:r>
              <a:rPr lang="es-ES" dirty="0"/>
              <a:t>Cada núcleo ejecuta un proceso al mismo tiempo.</a:t>
            </a:r>
          </a:p>
          <a:p>
            <a:pPr algn="ctr"/>
            <a:r>
              <a:rPr lang="es-ES" dirty="0"/>
              <a:t>El SO planifica los trabajos por ejecutar en cada núcleo.</a:t>
            </a:r>
          </a:p>
          <a:p>
            <a:pPr algn="ctr"/>
            <a:r>
              <a:rPr lang="es-ES" dirty="0"/>
              <a:t>Todos los núcleos comparten memoria.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DFAEEE5-C79B-B099-312A-E226C273DC9A}"/>
              </a:ext>
            </a:extLst>
          </p:cNvPr>
          <p:cNvSpPr/>
          <p:nvPr/>
        </p:nvSpPr>
        <p:spPr>
          <a:xfrm>
            <a:off x="8240415" y="2447904"/>
            <a:ext cx="3628104" cy="18140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u="sng" dirty="0"/>
              <a:t>Ordenadores en red</a:t>
            </a:r>
          </a:p>
          <a:p>
            <a:pPr algn="ctr"/>
            <a:r>
              <a:rPr lang="es-ES" dirty="0"/>
              <a:t>Gestión de ordenadores en paralelo.</a:t>
            </a:r>
          </a:p>
          <a:p>
            <a:pPr algn="ctr"/>
            <a:r>
              <a:rPr lang="es-ES" dirty="0"/>
              <a:t>Cada uno con su memoria y procesadores.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1996728-716E-2D5A-8812-929CD1D3B787}"/>
              </a:ext>
            </a:extLst>
          </p:cNvPr>
          <p:cNvSpPr/>
          <p:nvPr/>
        </p:nvSpPr>
        <p:spPr>
          <a:xfrm>
            <a:off x="323481" y="4454013"/>
            <a:ext cx="3628104" cy="1069877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Programación concurrente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18812FB4-0682-7E8C-57B5-71938A938EDD}"/>
              </a:ext>
            </a:extLst>
          </p:cNvPr>
          <p:cNvSpPr/>
          <p:nvPr/>
        </p:nvSpPr>
        <p:spPr>
          <a:xfrm>
            <a:off x="4281948" y="4454012"/>
            <a:ext cx="3628104" cy="1069877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Programación paralela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020B232-EB54-FE73-7067-D95909DB236F}"/>
              </a:ext>
            </a:extLst>
          </p:cNvPr>
          <p:cNvSpPr/>
          <p:nvPr/>
        </p:nvSpPr>
        <p:spPr>
          <a:xfrm>
            <a:off x="8240415" y="4454012"/>
            <a:ext cx="3628104" cy="1069877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Programación distribuida</a:t>
            </a:r>
          </a:p>
        </p:txBody>
      </p:sp>
    </p:spTree>
    <p:extLst>
      <p:ext uri="{BB962C8B-B14F-4D97-AF65-F5344CB8AC3E}">
        <p14:creationId xmlns:p14="http://schemas.microsoft.com/office/powerpoint/2010/main" val="33640633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F18A37-8B14-DD8C-6791-4B79D3462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97974"/>
          </a:xfrm>
        </p:spPr>
        <p:txBody>
          <a:bodyPr>
            <a:normAutofit fontScale="90000"/>
          </a:bodyPr>
          <a:lstStyle/>
          <a:p>
            <a:r>
              <a:rPr lang="es-ES" dirty="0"/>
              <a:t>Problemas programación concurrente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A657FCB-9BAC-68C6-AB9F-89EEADB4AF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718139"/>
            <a:ext cx="10639595" cy="1600250"/>
          </a:xfrm>
        </p:spPr>
        <p:txBody>
          <a:bodyPr>
            <a:normAutofit/>
          </a:bodyPr>
          <a:lstStyle/>
          <a:p>
            <a:r>
              <a:rPr lang="es-ES" sz="2000" b="1" dirty="0"/>
              <a:t>Exclusión mutua: </a:t>
            </a:r>
            <a:r>
              <a:rPr lang="es-ES" sz="2000" dirty="0"/>
              <a:t>Dos procesos intentar acceder al mismo recurso.</a:t>
            </a:r>
          </a:p>
          <a:p>
            <a:pPr marL="0" indent="0">
              <a:buNone/>
            </a:pPr>
            <a:r>
              <a:rPr lang="es-ES" sz="2000" dirty="0"/>
              <a:t>Esto puede producir inconsistencia puesto que un proceso puede estar actualizando una variable, mientras que otro proceso está leyendo la misma.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F2EFF70-B0AC-A335-37F5-DE1415D94C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2507" y="4000500"/>
            <a:ext cx="5857875" cy="2247900"/>
          </a:xfrm>
          <a:prstGeom prst="rect">
            <a:avLst/>
          </a:prstGeom>
        </p:spPr>
      </p:pic>
      <p:sp>
        <p:nvSpPr>
          <p:cNvPr id="7" name="Bocadillo: rectángulo con esquinas redondeadas 6">
            <a:extLst>
              <a:ext uri="{FF2B5EF4-FFF2-40B4-BE49-F238E27FC236}">
                <a16:creationId xmlns:a16="http://schemas.microsoft.com/office/drawing/2014/main" id="{DA743DE5-ED06-6634-CC9E-BF659EA72083}"/>
              </a:ext>
            </a:extLst>
          </p:cNvPr>
          <p:cNvSpPr/>
          <p:nvPr/>
        </p:nvSpPr>
        <p:spPr>
          <a:xfrm>
            <a:off x="7860891" y="3288276"/>
            <a:ext cx="2109019" cy="1836174"/>
          </a:xfrm>
          <a:prstGeom prst="wedgeRoundRect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Si uno lee y otro escribe a la vez en el mismo sitio…</a:t>
            </a:r>
          </a:p>
        </p:txBody>
      </p:sp>
    </p:spTree>
    <p:extLst>
      <p:ext uri="{BB962C8B-B14F-4D97-AF65-F5344CB8AC3E}">
        <p14:creationId xmlns:p14="http://schemas.microsoft.com/office/powerpoint/2010/main" val="9225025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F18A37-8B14-DD8C-6791-4B79D3462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019277"/>
          </a:xfrm>
        </p:spPr>
        <p:txBody>
          <a:bodyPr>
            <a:normAutofit fontScale="90000"/>
          </a:bodyPr>
          <a:lstStyle/>
          <a:p>
            <a:r>
              <a:rPr lang="es-ES" dirty="0"/>
              <a:t>Problemas programación concurrente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A657FCB-9BAC-68C6-AB9F-89EEADB4AF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68041"/>
            <a:ext cx="8596668" cy="1181636"/>
          </a:xfrm>
        </p:spPr>
        <p:txBody>
          <a:bodyPr>
            <a:normAutofit/>
          </a:bodyPr>
          <a:lstStyle/>
          <a:p>
            <a:r>
              <a:rPr lang="es-ES" sz="2000" b="1" dirty="0"/>
              <a:t>Interbloqueo o abrazo mortal</a:t>
            </a:r>
            <a:r>
              <a:rPr lang="es-ES" sz="2000" dirty="0"/>
              <a:t>: es el otro de los problemas más graves. Es aquel en el que un hilo está esperando por un recurso compartido que está asociado a un hilo cuyo estado es bloqueado. 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0D4F7F7-C3CA-7B66-16CC-AC3D0FE862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4039" y="3088841"/>
            <a:ext cx="6934200" cy="283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4204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F18A37-8B14-DD8C-6791-4B79D3462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042219"/>
          </a:xfrm>
        </p:spPr>
        <p:txBody>
          <a:bodyPr>
            <a:normAutofit fontScale="90000"/>
          </a:bodyPr>
          <a:lstStyle/>
          <a:p>
            <a:r>
              <a:rPr lang="es-ES" dirty="0"/>
              <a:t>Problemas programación concurrente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A657FCB-9BAC-68C6-AB9F-89EEADB4AF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68041"/>
            <a:ext cx="8596668" cy="1181636"/>
          </a:xfrm>
        </p:spPr>
        <p:txBody>
          <a:bodyPr>
            <a:normAutofit/>
          </a:bodyPr>
          <a:lstStyle/>
          <a:p>
            <a:r>
              <a:rPr lang="es-ES" sz="2000" b="1" dirty="0"/>
              <a:t>Inanición: </a:t>
            </a:r>
            <a:r>
              <a:rPr lang="es-ES" sz="2000" dirty="0"/>
              <a:t>es uno de los problemas más graves. Consiste en que se deniegue siempre el acceso a un recurso compartido al mismo hilo, de forma que quede bloqueado a la espera del mismo. 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5C1A5D7-362B-7F3E-6370-2612EE3304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176" y="3365091"/>
            <a:ext cx="4922983" cy="2883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1088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286C9-F24C-9CD5-3DA2-78A691558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ECD9E-85D6-CFAE-BDE2-3198899FD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24232"/>
          </a:xfrm>
        </p:spPr>
        <p:txBody>
          <a:bodyPr/>
          <a:lstStyle/>
          <a:p>
            <a:r>
              <a:rPr lang="es-ES" dirty="0"/>
              <a:t>Estados de un hilo</a:t>
            </a: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C8954017-AE9C-48B9-5BDF-24142BED3E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2765349"/>
              </p:ext>
            </p:extLst>
          </p:nvPr>
        </p:nvGraphicFramePr>
        <p:xfrm>
          <a:off x="353961" y="1622000"/>
          <a:ext cx="10962966" cy="5039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4322">
                  <a:extLst>
                    <a:ext uri="{9D8B030D-6E8A-4147-A177-3AD203B41FA5}">
                      <a16:colId xmlns:a16="http://schemas.microsoft.com/office/drawing/2014/main" val="1833129729"/>
                    </a:ext>
                  </a:extLst>
                </a:gridCol>
                <a:gridCol w="3654322">
                  <a:extLst>
                    <a:ext uri="{9D8B030D-6E8A-4147-A177-3AD203B41FA5}">
                      <a16:colId xmlns:a16="http://schemas.microsoft.com/office/drawing/2014/main" val="3629871977"/>
                    </a:ext>
                  </a:extLst>
                </a:gridCol>
                <a:gridCol w="3654322">
                  <a:extLst>
                    <a:ext uri="{9D8B030D-6E8A-4147-A177-3AD203B41FA5}">
                      <a16:colId xmlns:a16="http://schemas.microsoft.com/office/drawing/2014/main" val="17555448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Estado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Valor en </a:t>
                      </a:r>
                      <a:r>
                        <a:rPr lang="es-ES" dirty="0" err="1"/>
                        <a:t>Thread.State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Descripción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3387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Nuevo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NEW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El hilo está creado, pero aún no se ha arrancado.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59598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Ejecutable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RUNNABLE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El hilo está arrancado y podría estar en ejecución o pendiente de ejecución.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53408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Bloqueado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BLOCKED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Bloqueado por un monitor.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97999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Esperando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WAITING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El hilo está esperando a que otro hilo realice una acción determinada.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6280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Esperando un tiempo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dirty="0"/>
                        <a:t>TIME_WAITING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El hilo está esperando a que otro hilo realice una acción determinada en un período de tiempo concreto.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81302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Finalizado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TERMINATED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El hilo ha terminado su ejecución.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34611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97220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E68B75-3ECA-0006-A817-ECAA7E746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5C9D39-5BA8-36F1-0C4A-76E69B882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24232"/>
          </a:xfrm>
        </p:spPr>
        <p:txBody>
          <a:bodyPr/>
          <a:lstStyle/>
          <a:p>
            <a:r>
              <a:rPr lang="es-ES" dirty="0"/>
              <a:t>Estados de un hilo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63AA0CF-C483-912E-7798-62941BC9BB71}"/>
              </a:ext>
            </a:extLst>
          </p:cNvPr>
          <p:cNvSpPr txBox="1"/>
          <p:nvPr/>
        </p:nvSpPr>
        <p:spPr>
          <a:xfrm>
            <a:off x="2084439" y="1533832"/>
            <a:ext cx="6872748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 err="1">
                <a:solidFill>
                  <a:srgbClr val="7030A0"/>
                </a:solidFill>
              </a:rPr>
              <a:t>public</a:t>
            </a:r>
            <a:r>
              <a:rPr lang="es-ES" dirty="0">
                <a:solidFill>
                  <a:srgbClr val="7030A0"/>
                </a:solidFill>
              </a:rPr>
              <a:t> </a:t>
            </a:r>
            <a:r>
              <a:rPr lang="es-ES" dirty="0" err="1">
                <a:solidFill>
                  <a:srgbClr val="7030A0"/>
                </a:solidFill>
              </a:rPr>
              <a:t>static</a:t>
            </a:r>
            <a:r>
              <a:rPr lang="es-ES" dirty="0">
                <a:solidFill>
                  <a:srgbClr val="7030A0"/>
                </a:solidFill>
              </a:rPr>
              <a:t> </a:t>
            </a:r>
            <a:r>
              <a:rPr lang="es-ES" dirty="0" err="1">
                <a:solidFill>
                  <a:srgbClr val="7030A0"/>
                </a:solidFill>
              </a:rPr>
              <a:t>void</a:t>
            </a:r>
            <a:r>
              <a:rPr lang="es-ES" dirty="0">
                <a:solidFill>
                  <a:srgbClr val="7030A0"/>
                </a:solidFill>
              </a:rPr>
              <a:t> </a:t>
            </a:r>
            <a:r>
              <a:rPr lang="es-ES" dirty="0" err="1">
                <a:solidFill>
                  <a:schemeClr val="accent2"/>
                </a:solidFill>
              </a:rPr>
              <a:t>main</a:t>
            </a:r>
            <a:r>
              <a:rPr lang="es-ES" dirty="0"/>
              <a:t>(</a:t>
            </a:r>
            <a:r>
              <a:rPr lang="es-ES" dirty="0" err="1"/>
              <a:t>String</a:t>
            </a:r>
            <a:r>
              <a:rPr lang="es-ES" dirty="0"/>
              <a:t>[] </a:t>
            </a:r>
            <a:r>
              <a:rPr lang="es-ES" dirty="0" err="1"/>
              <a:t>args</a:t>
            </a:r>
            <a:r>
              <a:rPr lang="es-ES" dirty="0"/>
              <a:t>) {</a:t>
            </a:r>
          </a:p>
          <a:p>
            <a:r>
              <a:rPr lang="es-ES" dirty="0"/>
              <a:t>    </a:t>
            </a:r>
            <a:r>
              <a:rPr lang="es-ES" dirty="0" err="1">
                <a:solidFill>
                  <a:srgbClr val="FFC000"/>
                </a:solidFill>
              </a:rPr>
              <a:t>Raton</a:t>
            </a:r>
            <a:r>
              <a:rPr lang="es-ES" dirty="0">
                <a:solidFill>
                  <a:srgbClr val="FFC000"/>
                </a:solidFill>
              </a:rPr>
              <a:t> </a:t>
            </a:r>
            <a:r>
              <a:rPr lang="es-ES" dirty="0" err="1">
                <a:solidFill>
                  <a:srgbClr val="FFC000"/>
                </a:solidFill>
              </a:rPr>
              <a:t>mickey</a:t>
            </a:r>
            <a:r>
              <a:rPr lang="es-ES" dirty="0">
                <a:solidFill>
                  <a:srgbClr val="FFC000"/>
                </a:solidFill>
              </a:rPr>
              <a:t> </a:t>
            </a:r>
            <a:r>
              <a:rPr lang="es-ES" dirty="0"/>
              <a:t>= </a:t>
            </a:r>
            <a:r>
              <a:rPr lang="es-ES" dirty="0">
                <a:solidFill>
                  <a:srgbClr val="7030A0"/>
                </a:solidFill>
              </a:rPr>
              <a:t>new</a:t>
            </a:r>
            <a:r>
              <a:rPr lang="es-ES" dirty="0"/>
              <a:t> </a:t>
            </a:r>
            <a:r>
              <a:rPr lang="es-ES" dirty="0" err="1"/>
              <a:t>Raton</a:t>
            </a:r>
            <a:r>
              <a:rPr lang="es-ES" dirty="0"/>
              <a:t>("Mickey", 6);</a:t>
            </a:r>
          </a:p>
          <a:p>
            <a:r>
              <a:rPr lang="es-ES" dirty="0"/>
              <a:t>    </a:t>
            </a:r>
            <a:r>
              <a:rPr lang="es-ES" dirty="0" err="1"/>
              <a:t>ArrayList</a:t>
            </a:r>
            <a:r>
              <a:rPr lang="es-ES" dirty="0"/>
              <a:t>&lt;</a:t>
            </a:r>
            <a:r>
              <a:rPr lang="es-ES" dirty="0" err="1"/>
              <a:t>Thread.State</a:t>
            </a:r>
            <a:r>
              <a:rPr lang="es-ES" dirty="0"/>
              <a:t>&gt; </a:t>
            </a:r>
            <a:r>
              <a:rPr lang="es-ES" dirty="0" err="1"/>
              <a:t>estadosHilo</a:t>
            </a:r>
            <a:r>
              <a:rPr lang="es-ES" dirty="0"/>
              <a:t> = new </a:t>
            </a:r>
            <a:r>
              <a:rPr lang="es-ES" dirty="0" err="1">
                <a:solidFill>
                  <a:schemeClr val="accent2"/>
                </a:solidFill>
              </a:rPr>
              <a:t>ArrayList</a:t>
            </a:r>
            <a:r>
              <a:rPr lang="es-ES" dirty="0"/>
              <a:t>();</a:t>
            </a:r>
          </a:p>
          <a:p>
            <a:r>
              <a:rPr lang="es-ES" dirty="0"/>
              <a:t>    </a:t>
            </a:r>
            <a:r>
              <a:rPr lang="es-ES" dirty="0" err="1">
                <a:solidFill>
                  <a:srgbClr val="FFC000"/>
                </a:solidFill>
              </a:rPr>
              <a:t>Thread</a:t>
            </a:r>
            <a:r>
              <a:rPr lang="es-ES" dirty="0">
                <a:solidFill>
                  <a:srgbClr val="FFC000"/>
                </a:solidFill>
              </a:rPr>
              <a:t> h </a:t>
            </a:r>
            <a:r>
              <a:rPr lang="es-ES" dirty="0"/>
              <a:t>= </a:t>
            </a:r>
            <a:r>
              <a:rPr lang="es-ES" dirty="0">
                <a:solidFill>
                  <a:srgbClr val="7030A0"/>
                </a:solidFill>
              </a:rPr>
              <a:t>new</a:t>
            </a:r>
            <a:r>
              <a:rPr lang="es-ES" dirty="0"/>
              <a:t> </a:t>
            </a:r>
            <a:r>
              <a:rPr lang="es-ES" dirty="0" err="1"/>
              <a:t>Thread</a:t>
            </a:r>
            <a:r>
              <a:rPr lang="es-ES" dirty="0"/>
              <a:t>(</a:t>
            </a:r>
            <a:r>
              <a:rPr lang="es-ES" dirty="0" err="1"/>
              <a:t>mickey</a:t>
            </a:r>
            <a:r>
              <a:rPr lang="es-ES" dirty="0"/>
              <a:t>);</a:t>
            </a:r>
          </a:p>
          <a:p>
            <a:r>
              <a:rPr lang="es-ES" dirty="0"/>
              <a:t>    </a:t>
            </a:r>
            <a:r>
              <a:rPr lang="es-ES" dirty="0" err="1"/>
              <a:t>estadosHilo.add</a:t>
            </a:r>
            <a:r>
              <a:rPr lang="es-ES" dirty="0"/>
              <a:t>(</a:t>
            </a:r>
            <a:r>
              <a:rPr lang="es-ES" dirty="0" err="1"/>
              <a:t>h.getState</a:t>
            </a:r>
            <a:r>
              <a:rPr lang="es-ES" dirty="0"/>
              <a:t>());</a:t>
            </a:r>
          </a:p>
          <a:p>
            <a:r>
              <a:rPr lang="es-ES" dirty="0"/>
              <a:t>    </a:t>
            </a:r>
            <a:r>
              <a:rPr lang="es-ES" dirty="0" err="1"/>
              <a:t>h.start</a:t>
            </a:r>
            <a:r>
              <a:rPr lang="es-ES" dirty="0"/>
              <a:t>();</a:t>
            </a:r>
          </a:p>
          <a:p>
            <a:endParaRPr lang="es-ES" dirty="0"/>
          </a:p>
          <a:p>
            <a:r>
              <a:rPr lang="es-ES" dirty="0"/>
              <a:t>    </a:t>
            </a:r>
            <a:r>
              <a:rPr lang="es-ES" dirty="0" err="1">
                <a:solidFill>
                  <a:srgbClr val="7030A0"/>
                </a:solidFill>
              </a:rPr>
              <a:t>while</a:t>
            </a:r>
            <a:r>
              <a:rPr lang="es-ES" dirty="0"/>
              <a:t> (</a:t>
            </a:r>
            <a:r>
              <a:rPr lang="es-ES" dirty="0" err="1"/>
              <a:t>h.getState</a:t>
            </a:r>
            <a:r>
              <a:rPr lang="es-ES" dirty="0"/>
              <a:t>() != </a:t>
            </a:r>
            <a:r>
              <a:rPr lang="es-ES" dirty="0" err="1"/>
              <a:t>Thread.State.TERMINATED</a:t>
            </a:r>
            <a:r>
              <a:rPr lang="es-ES" dirty="0"/>
              <a:t>) {</a:t>
            </a:r>
          </a:p>
          <a:p>
            <a:r>
              <a:rPr lang="es-ES" dirty="0"/>
              <a:t>        </a:t>
            </a:r>
            <a:r>
              <a:rPr lang="es-ES" dirty="0" err="1">
                <a:solidFill>
                  <a:srgbClr val="7030A0"/>
                </a:solidFill>
              </a:rPr>
              <a:t>if</a:t>
            </a:r>
            <a:r>
              <a:rPr lang="es-ES" dirty="0"/>
              <a:t> (!</a:t>
            </a:r>
            <a:r>
              <a:rPr lang="es-ES" dirty="0" err="1"/>
              <a:t>estadosHilo.contains</a:t>
            </a:r>
            <a:r>
              <a:rPr lang="es-ES" dirty="0"/>
              <a:t>(</a:t>
            </a:r>
            <a:r>
              <a:rPr lang="es-ES" dirty="0" err="1"/>
              <a:t>h.getState</a:t>
            </a:r>
            <a:r>
              <a:rPr lang="es-ES" dirty="0"/>
              <a:t>())) {</a:t>
            </a:r>
          </a:p>
          <a:p>
            <a:r>
              <a:rPr lang="es-ES" dirty="0"/>
              <a:t>            </a:t>
            </a:r>
            <a:r>
              <a:rPr lang="es-ES" dirty="0" err="1"/>
              <a:t>estadosHilo.add</a:t>
            </a:r>
            <a:r>
              <a:rPr lang="es-ES" dirty="0"/>
              <a:t>(</a:t>
            </a:r>
            <a:r>
              <a:rPr lang="es-ES" dirty="0" err="1"/>
              <a:t>h.getState</a:t>
            </a:r>
            <a:r>
              <a:rPr lang="es-ES" dirty="0"/>
              <a:t>());</a:t>
            </a:r>
          </a:p>
          <a:p>
            <a:r>
              <a:rPr lang="es-ES" dirty="0"/>
              <a:t>        }</a:t>
            </a:r>
          </a:p>
          <a:p>
            <a:r>
              <a:rPr lang="es-ES" dirty="0"/>
              <a:t>    }</a:t>
            </a:r>
          </a:p>
          <a:p>
            <a:endParaRPr lang="es-ES" dirty="0"/>
          </a:p>
          <a:p>
            <a:r>
              <a:rPr lang="es-ES" dirty="0"/>
              <a:t>    </a:t>
            </a:r>
            <a:r>
              <a:rPr lang="es-ES" dirty="0" err="1">
                <a:solidFill>
                  <a:srgbClr val="7030A0"/>
                </a:solidFill>
              </a:rPr>
              <a:t>for</a:t>
            </a:r>
            <a:r>
              <a:rPr lang="es-ES" dirty="0"/>
              <a:t> (</a:t>
            </a:r>
            <a:r>
              <a:rPr lang="es-ES" dirty="0" err="1"/>
              <a:t>Thread.State</a:t>
            </a:r>
            <a:r>
              <a:rPr lang="es-ES" dirty="0"/>
              <a:t> estado : </a:t>
            </a:r>
            <a:r>
              <a:rPr lang="es-ES" dirty="0" err="1"/>
              <a:t>estadosHilo</a:t>
            </a:r>
            <a:r>
              <a:rPr lang="es-ES" dirty="0"/>
              <a:t>) {</a:t>
            </a:r>
          </a:p>
          <a:p>
            <a:r>
              <a:rPr lang="es-ES" dirty="0"/>
              <a:t>        </a:t>
            </a:r>
            <a:r>
              <a:rPr lang="es-ES" dirty="0" err="1"/>
              <a:t>System.out.println</a:t>
            </a:r>
            <a:r>
              <a:rPr lang="es-ES" dirty="0"/>
              <a:t>(estado);</a:t>
            </a:r>
          </a:p>
          <a:p>
            <a:r>
              <a:rPr lang="es-ES" dirty="0"/>
              <a:t>    }</a:t>
            </a:r>
          </a:p>
          <a:p>
            <a:r>
              <a:rPr lang="es-ES" dirty="0"/>
              <a:t>}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CF1D432-6615-BD54-27DB-9EDA62875E72}"/>
              </a:ext>
            </a:extLst>
          </p:cNvPr>
          <p:cNvSpPr txBox="1"/>
          <p:nvPr/>
        </p:nvSpPr>
        <p:spPr>
          <a:xfrm>
            <a:off x="8450825" y="5324168"/>
            <a:ext cx="30971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/>
              <a:t>IMPRIME LOS ESTADOS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90097DE-D8AD-65FD-863E-CF9F12C3E312}"/>
              </a:ext>
            </a:extLst>
          </p:cNvPr>
          <p:cNvSpPr txBox="1"/>
          <p:nvPr/>
        </p:nvSpPr>
        <p:spPr>
          <a:xfrm>
            <a:off x="8558980" y="3710717"/>
            <a:ext cx="309716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/>
              <a:t>AÑADE EL ESTADO DEL HILO EN ESE MOMENTO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1CF77F2-7BF9-63B4-5367-FDCE7EDF8C26}"/>
              </a:ext>
            </a:extLst>
          </p:cNvPr>
          <p:cNvSpPr txBox="1"/>
          <p:nvPr/>
        </p:nvSpPr>
        <p:spPr>
          <a:xfrm>
            <a:off x="8815711" y="2223987"/>
            <a:ext cx="309716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/>
              <a:t>CREA UN HILO Y AÑADE SU ESTADO</a:t>
            </a:r>
          </a:p>
        </p:txBody>
      </p:sp>
      <p:sp>
        <p:nvSpPr>
          <p:cNvPr id="10" name="Flecha: a la derecha 9">
            <a:extLst>
              <a:ext uri="{FF2B5EF4-FFF2-40B4-BE49-F238E27FC236}">
                <a16:creationId xmlns:a16="http://schemas.microsoft.com/office/drawing/2014/main" id="{66BA2DF6-443D-4134-B70E-88B5A4901740}"/>
              </a:ext>
            </a:extLst>
          </p:cNvPr>
          <p:cNvSpPr/>
          <p:nvPr/>
        </p:nvSpPr>
        <p:spPr>
          <a:xfrm>
            <a:off x="7826477" y="2554179"/>
            <a:ext cx="799914" cy="30654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Flecha: a la derecha 10">
            <a:extLst>
              <a:ext uri="{FF2B5EF4-FFF2-40B4-BE49-F238E27FC236}">
                <a16:creationId xmlns:a16="http://schemas.microsoft.com/office/drawing/2014/main" id="{AF59C185-984A-32BF-A016-93297F9973FE}"/>
              </a:ext>
            </a:extLst>
          </p:cNvPr>
          <p:cNvSpPr/>
          <p:nvPr/>
        </p:nvSpPr>
        <p:spPr>
          <a:xfrm>
            <a:off x="7334097" y="3880610"/>
            <a:ext cx="799914" cy="30654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Flecha: a la derecha 11">
            <a:extLst>
              <a:ext uri="{FF2B5EF4-FFF2-40B4-BE49-F238E27FC236}">
                <a16:creationId xmlns:a16="http://schemas.microsoft.com/office/drawing/2014/main" id="{4FDD9F00-A379-0A78-45CB-B564086440C4}"/>
              </a:ext>
            </a:extLst>
          </p:cNvPr>
          <p:cNvSpPr/>
          <p:nvPr/>
        </p:nvSpPr>
        <p:spPr>
          <a:xfrm>
            <a:off x="6934140" y="5459611"/>
            <a:ext cx="799914" cy="30654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CA618EC-05CA-75DD-5C60-CA21CF7DD128}"/>
              </a:ext>
            </a:extLst>
          </p:cNvPr>
          <p:cNvSpPr txBox="1"/>
          <p:nvPr/>
        </p:nvSpPr>
        <p:spPr>
          <a:xfrm>
            <a:off x="8957187" y="5693500"/>
            <a:ext cx="177963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400" dirty="0">
                <a:solidFill>
                  <a:schemeClr val="accent3"/>
                </a:solidFill>
              </a:rPr>
              <a:t>NEW</a:t>
            </a:r>
          </a:p>
          <a:p>
            <a:pPr algn="ctr"/>
            <a:r>
              <a:rPr lang="es-ES" sz="1400" dirty="0">
                <a:solidFill>
                  <a:schemeClr val="accent3"/>
                </a:solidFill>
              </a:rPr>
              <a:t>RUNNABLE</a:t>
            </a:r>
          </a:p>
          <a:p>
            <a:pPr algn="ctr"/>
            <a:r>
              <a:rPr lang="es-ES" sz="1400" dirty="0">
                <a:solidFill>
                  <a:schemeClr val="accent3"/>
                </a:solidFill>
              </a:rPr>
              <a:t>TERMINATED</a:t>
            </a:r>
          </a:p>
        </p:txBody>
      </p:sp>
    </p:spTree>
    <p:extLst>
      <p:ext uri="{BB962C8B-B14F-4D97-AF65-F5344CB8AC3E}">
        <p14:creationId xmlns:p14="http://schemas.microsoft.com/office/powerpoint/2010/main" val="13024365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1667F7-0C16-F5AE-59D5-C84C037F8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56593"/>
          </a:xfrm>
        </p:spPr>
        <p:txBody>
          <a:bodyPr/>
          <a:lstStyle/>
          <a:p>
            <a:r>
              <a:rPr lang="es-ES" dirty="0"/>
              <a:t>Concurrencia en JAVA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AE225A5C-A899-70B1-8331-2F81F8E4C8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466193"/>
            <a:ext cx="10634679" cy="38807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dirty="0"/>
              <a:t>Para crear hilos (flujos de ejecución) independientes en Java existen tres maneras diferentes</a:t>
            </a:r>
          </a:p>
          <a:p>
            <a:pPr lvl="1"/>
            <a:r>
              <a:rPr lang="es-ES_tradnl" dirty="0"/>
              <a:t>Extendiendo la clase Thread</a:t>
            </a:r>
          </a:p>
          <a:p>
            <a:pPr lvl="1"/>
            <a:r>
              <a:rPr lang="es-ES_tradnl" dirty="0"/>
              <a:t>Implementado la interfaz Runnable</a:t>
            </a:r>
          </a:p>
          <a:p>
            <a:pPr lvl="1"/>
            <a:r>
              <a:rPr lang="es-ES_tradnl" dirty="0"/>
              <a:t>Crear un objeto de tipo Thread</a:t>
            </a:r>
          </a:p>
          <a:p>
            <a:pPr lvl="2"/>
            <a:r>
              <a:rPr lang="es-ES_tradnl" dirty="0"/>
              <a:t>También se puede crear un objeto que implemente la interfaz Runnable y posteriormente pasárselo a un objeto de tipo Thread</a:t>
            </a:r>
          </a:p>
          <a:p>
            <a:r>
              <a:rPr lang="es-ES_tradnl" dirty="0"/>
              <a:t>En todas ellas se debe de sobrescribir el método </a:t>
            </a:r>
            <a:r>
              <a:rPr lang="es-ES_tradnl" b="1" dirty="0"/>
              <a:t>run()</a:t>
            </a:r>
            <a:r>
              <a:rPr lang="es-ES_tradnl" dirty="0"/>
              <a:t>, ya que será el invocado de forma automática para realizar la acción de forma concurrente.</a:t>
            </a:r>
          </a:p>
        </p:txBody>
      </p:sp>
    </p:spTree>
    <p:extLst>
      <p:ext uri="{BB962C8B-B14F-4D97-AF65-F5344CB8AC3E}">
        <p14:creationId xmlns:p14="http://schemas.microsoft.com/office/powerpoint/2010/main" val="21564686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D1B3F2-DC44-D6ED-2B95-C63A28A0A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4337" y="1265314"/>
            <a:ext cx="4299666" cy="324913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Ejemplo</a:t>
            </a:r>
            <a:br>
              <a:rPr lang="en-US" sz="5400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</a:br>
            <a:r>
              <a:rPr lang="en-US" sz="5400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Creación multihilo</a:t>
            </a:r>
          </a:p>
        </p:txBody>
      </p:sp>
      <p:pic>
        <p:nvPicPr>
          <p:cNvPr id="33" name="Graphic 32" descr="Documento">
            <a:extLst>
              <a:ext uri="{FF2B5EF4-FFF2-40B4-BE49-F238E27FC236}">
                <a16:creationId xmlns:a16="http://schemas.microsoft.com/office/drawing/2014/main" id="{35FE2D3A-F79F-F040-C2DF-251DC82483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8604" y="1550139"/>
            <a:ext cx="3765692" cy="3765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2494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45F74C-9D6A-6189-0E9E-02B11B51C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Ejemplo clase THREAD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B0E3603-A144-A242-63E4-4D9679169ABB}"/>
              </a:ext>
            </a:extLst>
          </p:cNvPr>
          <p:cNvSpPr txBox="1"/>
          <p:nvPr/>
        </p:nvSpPr>
        <p:spPr>
          <a:xfrm>
            <a:off x="677334" y="1674674"/>
            <a:ext cx="100584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dirty="0"/>
              <a:t>Para entender la concurrencia de forma correcta, vamos a realizar una carrera de coches.</a:t>
            </a:r>
          </a:p>
          <a:p>
            <a:endParaRPr lang="es-ES_tradnl" dirty="0"/>
          </a:p>
          <a:p>
            <a:r>
              <a:rPr lang="es-ES_tradnl" dirty="0"/>
              <a:t>Requisitos: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_tradnl" dirty="0"/>
              <a:t>Deben existir 5 coches diferentes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_tradnl" dirty="0"/>
              <a:t>Cada coche debe recorrer una distancia de 50m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_tradnl" dirty="0"/>
              <a:t>Solo puede haber un ganador, el primer hilo que complete los 50m</a:t>
            </a:r>
          </a:p>
        </p:txBody>
      </p:sp>
      <p:pic>
        <p:nvPicPr>
          <p:cNvPr id="1026" name="Picture 2" descr="Pack plano de coches de carreras | Vector Premium">
            <a:extLst>
              <a:ext uri="{FF2B5EF4-FFF2-40B4-BE49-F238E27FC236}">
                <a16:creationId xmlns:a16="http://schemas.microsoft.com/office/drawing/2014/main" id="{94263F79-A4A2-25B3-BA90-C73F081B8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9416" y="3941816"/>
            <a:ext cx="2306584" cy="2306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23478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8DAA14-DBFC-2216-1BBD-966DA257B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77766"/>
          </a:xfrm>
        </p:spPr>
        <p:txBody>
          <a:bodyPr>
            <a:normAutofit fontScale="90000"/>
          </a:bodyPr>
          <a:lstStyle/>
          <a:p>
            <a:r>
              <a:rPr lang="es-ES" dirty="0"/>
              <a:t>Comunicación entre hilos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95EF4E5-0A4B-BF8E-89B6-7B2E0E03AA8D}"/>
              </a:ext>
            </a:extLst>
          </p:cNvPr>
          <p:cNvSpPr txBox="1"/>
          <p:nvPr/>
        </p:nvSpPr>
        <p:spPr>
          <a:xfrm>
            <a:off x="930166" y="1687021"/>
            <a:ext cx="8596668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s-ES_tradnl" dirty="0"/>
              <a:t>Un hilo se ejecuta en un entorno único para su cometido.</a:t>
            </a:r>
          </a:p>
          <a:p>
            <a:endParaRPr lang="es-ES_tradnl" dirty="0"/>
          </a:p>
          <a:p>
            <a:pPr lvl="1"/>
            <a:r>
              <a:rPr lang="es-ES_tradnl" sz="1600" dirty="0"/>
              <a:t>¿Qué pasa si desean compartir información?</a:t>
            </a:r>
          </a:p>
          <a:p>
            <a:pPr lvl="1"/>
            <a:endParaRPr lang="es-ES_tradnl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s-ES_tradnl" dirty="0"/>
              <a:t>Para realizar compartición de información los hilos </a:t>
            </a:r>
            <a:r>
              <a:rPr lang="es-ES_tradnl" b="1" dirty="0"/>
              <a:t>comparten un objeto externo </a:t>
            </a:r>
            <a:r>
              <a:rPr lang="es-ES_tradnl" dirty="0"/>
              <a:t>al mismo en el que guardar la información a compartir.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s-ES_tradnl" dirty="0"/>
          </a:p>
          <a:p>
            <a:pPr lvl="1"/>
            <a:r>
              <a:rPr lang="es-ES_tradnl" dirty="0"/>
              <a:t>Por ejemplo, ¿Quién ha ganado la carrera?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s-ES_tradnl" dirty="0"/>
              <a:t>Coche1 </a:t>
            </a:r>
            <a:r>
              <a:rPr lang="es-ES_tradnl" dirty="0">
                <a:sym typeface="Wingdings" pitchFamily="2" charset="2"/>
              </a:rPr>
              <a:t></a:t>
            </a:r>
            <a:r>
              <a:rPr lang="es-ES_tradnl" dirty="0"/>
              <a:t> Thread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s-ES_tradnl" dirty="0"/>
              <a:t>Coche2 </a:t>
            </a:r>
            <a:r>
              <a:rPr lang="es-ES_tradnl" dirty="0">
                <a:sym typeface="Wingdings" pitchFamily="2" charset="2"/>
              </a:rPr>
              <a:t></a:t>
            </a:r>
            <a:r>
              <a:rPr lang="es-ES_tradnl" dirty="0"/>
              <a:t> Thread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s-ES_tradnl" dirty="0"/>
              <a:t>Finalización Objeto compartido</a:t>
            </a:r>
          </a:p>
        </p:txBody>
      </p:sp>
    </p:spTree>
    <p:extLst>
      <p:ext uri="{BB962C8B-B14F-4D97-AF65-F5344CB8AC3E}">
        <p14:creationId xmlns:p14="http://schemas.microsoft.com/office/powerpoint/2010/main" val="30609191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8DAA14-DBFC-2216-1BBD-966DA257B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77766"/>
          </a:xfrm>
        </p:spPr>
        <p:txBody>
          <a:bodyPr>
            <a:normAutofit fontScale="90000"/>
          </a:bodyPr>
          <a:lstStyle/>
          <a:p>
            <a:r>
              <a:rPr lang="es-ES" dirty="0"/>
              <a:t>Problemas de sincronización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C5C6367-028C-46B7-0785-424E8D3465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807" y="2246093"/>
            <a:ext cx="7175559" cy="33821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8CA3D00E-CD56-BC43-1EF9-3204576678D6}"/>
              </a:ext>
            </a:extLst>
          </p:cNvPr>
          <p:cNvSpPr/>
          <p:nvPr/>
        </p:nvSpPr>
        <p:spPr>
          <a:xfrm>
            <a:off x="8714326" y="3204341"/>
            <a:ext cx="1119351" cy="4493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Coche 1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7078A8F3-5CC4-8B43-DC9E-9DC9F8AABD12}"/>
              </a:ext>
            </a:extLst>
          </p:cNvPr>
          <p:cNvSpPr/>
          <p:nvPr/>
        </p:nvSpPr>
        <p:spPr>
          <a:xfrm>
            <a:off x="8714326" y="3937191"/>
            <a:ext cx="1119351" cy="4493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Coche 1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7921594-2B22-31E3-5E42-68343A6D678E}"/>
              </a:ext>
            </a:extLst>
          </p:cNvPr>
          <p:cNvSpPr/>
          <p:nvPr/>
        </p:nvSpPr>
        <p:spPr>
          <a:xfrm>
            <a:off x="8714326" y="4725219"/>
            <a:ext cx="1119351" cy="449317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Coche 2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66E3E3A9-E482-9E90-12EC-54C8E368B536}"/>
              </a:ext>
            </a:extLst>
          </p:cNvPr>
          <p:cNvCxnSpPr/>
          <p:nvPr/>
        </p:nvCxnSpPr>
        <p:spPr>
          <a:xfrm flipH="1">
            <a:off x="4837033" y="4161849"/>
            <a:ext cx="340833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DE35D21B-E721-3B92-3422-D90C2F013E6C}"/>
              </a:ext>
            </a:extLst>
          </p:cNvPr>
          <p:cNvCxnSpPr/>
          <p:nvPr/>
        </p:nvCxnSpPr>
        <p:spPr>
          <a:xfrm flipH="1">
            <a:off x="5099792" y="4725219"/>
            <a:ext cx="340833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42958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78CE37-7863-D569-3969-BC804FCE5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899" y="538999"/>
            <a:ext cx="8596668" cy="793531"/>
          </a:xfrm>
        </p:spPr>
        <p:txBody>
          <a:bodyPr>
            <a:normAutofit fontScale="90000"/>
          </a:bodyPr>
          <a:lstStyle/>
          <a:p>
            <a:pPr algn="ctr"/>
            <a:r>
              <a:rPr lang="es-ES" dirty="0"/>
              <a:t>Bloque synchronized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9447298-F99C-937E-98AA-638276A52F7A}"/>
              </a:ext>
            </a:extLst>
          </p:cNvPr>
          <p:cNvSpPr txBox="1"/>
          <p:nvPr/>
        </p:nvSpPr>
        <p:spPr>
          <a:xfrm>
            <a:off x="1040525" y="1669781"/>
            <a:ext cx="9961772" cy="8402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s-ES_tradnl" dirty="0"/>
              <a:t>Los bloques </a:t>
            </a:r>
            <a:r>
              <a:rPr lang="es-ES_tradnl" b="1" dirty="0"/>
              <a:t>synchronized </a:t>
            </a:r>
            <a:r>
              <a:rPr lang="es-ES_tradnl" dirty="0"/>
              <a:t>nos permiten ejecutar un bloque de código de forma atómica, una vez un hilo de ejecución se encuentra en dicho bloque </a:t>
            </a:r>
            <a:r>
              <a:rPr lang="es-ES_tradnl" b="1" dirty="0"/>
              <a:t>ningún otro hilo podrá acceder al bloque </a:t>
            </a:r>
            <a:r>
              <a:rPr lang="es-ES_tradnl" dirty="0"/>
              <a:t>aunque el hilo inicial pierda el focus en el procesador.</a:t>
            </a: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8AA89820-D350-19D0-453A-ABB14903AC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6394" y="3296264"/>
            <a:ext cx="7701548" cy="2589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00073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78CE37-7863-D569-3969-BC804FCE5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899" y="538999"/>
            <a:ext cx="8596668" cy="793531"/>
          </a:xfrm>
        </p:spPr>
        <p:txBody>
          <a:bodyPr>
            <a:normAutofit fontScale="90000"/>
          </a:bodyPr>
          <a:lstStyle/>
          <a:p>
            <a:pPr algn="ctr"/>
            <a:r>
              <a:rPr lang="es-ES" dirty="0"/>
              <a:t>Finalización de hilos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634E3FD-4FEE-F6EA-1061-AF8D27D7D90D}"/>
              </a:ext>
            </a:extLst>
          </p:cNvPr>
          <p:cNvSpPr txBox="1"/>
          <p:nvPr/>
        </p:nvSpPr>
        <p:spPr>
          <a:xfrm>
            <a:off x="583324" y="1740245"/>
            <a:ext cx="4682360" cy="333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s-ES_tradnl" dirty="0"/>
              <a:t>Para esperar a la finalización de un hilo llamaremos a su método </a:t>
            </a:r>
            <a:r>
              <a:rPr lang="es-ES_tradnl" b="1" dirty="0"/>
              <a:t>join</a:t>
            </a:r>
            <a:r>
              <a:rPr lang="es-ES_tradnl" dirty="0"/>
              <a:t>. Esto bloqueará la ejecución del hilo principal hasta que dicho hilo termine.</a:t>
            </a:r>
          </a:p>
          <a:p>
            <a:pPr>
              <a:lnSpc>
                <a:spcPct val="90000"/>
              </a:lnSpc>
            </a:pPr>
            <a:endParaRPr lang="es-ES_tradnl" dirty="0"/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s-ES_tradnl" dirty="0"/>
              <a:t>Este bloqueo nos permite comprobar los resultados en el momento correcto. Cuando todos los hilos han finalizado.</a:t>
            </a:r>
          </a:p>
          <a:p>
            <a:pPr>
              <a:lnSpc>
                <a:spcPct val="90000"/>
              </a:lnSpc>
            </a:pPr>
            <a:endParaRPr lang="es-ES_tradnl" dirty="0"/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s-ES_tradnl" dirty="0"/>
              <a:t>Al realizar un join, hay que realizar el correspondiente try/catch ya que está función puede lanzar la Exception </a:t>
            </a:r>
            <a:r>
              <a:rPr lang="es-ES_tradnl" b="1" dirty="0"/>
              <a:t>InterruptedException</a:t>
            </a:r>
            <a:r>
              <a:rPr lang="es-ES_tradnl" dirty="0"/>
              <a:t>.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57220E11-A3EB-05F9-3A94-7C41D4371D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6260" y="2371725"/>
            <a:ext cx="4067175" cy="211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4313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D060CC-E899-4F9F-8538-5D0F24492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Comunicación de subprocesos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4514060-3129-F617-EF15-E106475D6A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1497011"/>
          </a:xfrm>
        </p:spPr>
        <p:txBody>
          <a:bodyPr/>
          <a:lstStyle/>
          <a:p>
            <a:r>
              <a:rPr lang="es-ES" b="1" dirty="0"/>
              <a:t>Wait () </a:t>
            </a:r>
            <a:r>
              <a:rPr lang="es-ES" dirty="0">
                <a:sym typeface="Wingdings" panose="05000000000000000000" pitchFamily="2" charset="2"/>
              </a:rPr>
              <a:t> Deja bloqueado al hilo.</a:t>
            </a:r>
          </a:p>
          <a:p>
            <a:r>
              <a:rPr lang="es-ES" b="1" dirty="0">
                <a:sym typeface="Wingdings" panose="05000000000000000000" pitchFamily="2" charset="2"/>
              </a:rPr>
              <a:t>NotifyAll() </a:t>
            </a:r>
            <a:r>
              <a:rPr lang="es-ES" dirty="0">
                <a:sym typeface="Wingdings" panose="05000000000000000000" pitchFamily="2" charset="2"/>
              </a:rPr>
              <a:t> Desbloquea a los hilos bloqueados por wait().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54960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RODUCTOR CONSUMIDOR. | Gabriel Fernando Chiriboga Rogel">
            <a:extLst>
              <a:ext uri="{FF2B5EF4-FFF2-40B4-BE49-F238E27FC236}">
                <a16:creationId xmlns:a16="http://schemas.microsoft.com/office/drawing/2014/main" id="{DC58E95B-0E26-FF8B-0EB3-E98357A539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44" r="7420" b="4849"/>
          <a:stretch/>
        </p:blipFill>
        <p:spPr bwMode="auto">
          <a:xfrm>
            <a:off x="4269854" y="-1"/>
            <a:ext cx="7922146" cy="685800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0F67A85-6B82-1227-D34B-B6F185B43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867" y="1678666"/>
            <a:ext cx="4088190" cy="236909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US" sz="4100" dirty="0"/>
              <a:t>El </a:t>
            </a:r>
            <a:r>
              <a:rPr lang="en-US" sz="4100" dirty="0" err="1"/>
              <a:t>problema</a:t>
            </a:r>
            <a:r>
              <a:rPr lang="en-US" sz="4100" dirty="0"/>
              <a:t> del PRODUCTOR - CONSUMIDOR</a:t>
            </a:r>
          </a:p>
        </p:txBody>
      </p:sp>
    </p:spTree>
    <p:extLst>
      <p:ext uri="{BB962C8B-B14F-4D97-AF65-F5344CB8AC3E}">
        <p14:creationId xmlns:p14="http://schemas.microsoft.com/office/powerpoint/2010/main" val="53637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EEB774-D5BE-B5A2-761D-29883545E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32503"/>
          </a:xfrm>
        </p:spPr>
        <p:txBody>
          <a:bodyPr>
            <a:normAutofit fontScale="90000"/>
          </a:bodyPr>
          <a:lstStyle/>
          <a:p>
            <a:r>
              <a:rPr lang="es-ES" dirty="0"/>
              <a:t>Prioridad de hilos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425500C-4B78-F82B-DE16-2601FB5DF5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88613"/>
            <a:ext cx="9853014" cy="1564303"/>
          </a:xfrm>
        </p:spPr>
        <p:txBody>
          <a:bodyPr>
            <a:normAutofit/>
          </a:bodyPr>
          <a:lstStyle/>
          <a:p>
            <a:r>
              <a:rPr lang="es-E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Cuando nos interesa que un determinado proceso acabe lo antes posible sus cálculos, le otorgamos más recursos (más tiempo de CPU).</a:t>
            </a:r>
          </a:p>
          <a:p>
            <a:r>
              <a:rPr lang="es-E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Esto no significa que el resto de procesos no requieran tiempo de CPU, sino que necesitarán menos.</a:t>
            </a:r>
            <a:endParaRPr lang="es-E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F452CE3-9FB0-A3EB-323E-A7CEEE613404}"/>
              </a:ext>
            </a:extLst>
          </p:cNvPr>
          <p:cNvSpPr txBox="1"/>
          <p:nvPr/>
        </p:nvSpPr>
        <p:spPr>
          <a:xfrm>
            <a:off x="677333" y="3105834"/>
            <a:ext cx="9666201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s-ES" dirty="0">
                <a:solidFill>
                  <a:srgbClr val="000000"/>
                </a:solidFill>
                <a:latin typeface="verdana" panose="020B0604030504040204" pitchFamily="34" charset="0"/>
              </a:rPr>
              <a:t>¿Pero qué pasa si hay más de un hilo esperando? ¿A cuál de ellos le otorgamos el control del procesador?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A295CD6-03F3-6C3F-F650-A96FFBEB9291}"/>
              </a:ext>
            </a:extLst>
          </p:cNvPr>
          <p:cNvSpPr txBox="1"/>
          <p:nvPr/>
        </p:nvSpPr>
        <p:spPr>
          <a:xfrm>
            <a:off x="677334" y="4272567"/>
            <a:ext cx="244932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800" b="0" i="0" u="none" strike="noStrike" cap="none" normalizeH="0" baseline="0" dirty="0">
                <a:ln>
                  <a:noFill/>
                </a:ln>
                <a:solidFill>
                  <a:srgbClr val="548DD4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MIN_PRIORITY = 1</a:t>
            </a:r>
            <a:endParaRPr kumimoji="0" lang="en-US" altLang="es-E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800" b="0" i="0" u="none" strike="noStrike" cap="none" normalizeH="0" baseline="0" dirty="0">
                <a:ln>
                  <a:noFill/>
                </a:ln>
                <a:solidFill>
                  <a:srgbClr val="548DD4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NORM_PRIORITY = 5</a:t>
            </a:r>
            <a:endParaRPr lang="en-US" altLang="es-ES" sz="24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800" b="0" i="0" u="none" strike="noStrike" cap="none" normalizeH="0" baseline="0" dirty="0">
                <a:ln>
                  <a:noFill/>
                </a:ln>
                <a:solidFill>
                  <a:srgbClr val="548DD4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MAX_PRIORITY = 10</a:t>
            </a:r>
            <a:endParaRPr kumimoji="0" lang="en-US" altLang="es-E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AAD3443-364C-C149-1DC0-82BE1FA3BB15}"/>
              </a:ext>
            </a:extLst>
          </p:cNvPr>
          <p:cNvSpPr txBox="1"/>
          <p:nvPr/>
        </p:nvSpPr>
        <p:spPr>
          <a:xfrm>
            <a:off x="677334" y="5603367"/>
            <a:ext cx="20306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h1.setPriority(10);</a:t>
            </a:r>
            <a:endParaRPr kumimoji="0" lang="es-ES" altLang="es-ES" sz="2400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h1.setPriority(1);</a:t>
            </a:r>
            <a:endParaRPr kumimoji="0" lang="es-ES" altLang="es-ES" sz="4000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9" name="Picture 5" descr="prioridades threads java">
            <a:extLst>
              <a:ext uri="{FF2B5EF4-FFF2-40B4-BE49-F238E27FC236}">
                <a16:creationId xmlns:a16="http://schemas.microsoft.com/office/drawing/2014/main" id="{C0C146EB-F056-11D6-8E90-DF667DE509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5434" y="4033848"/>
            <a:ext cx="3873379" cy="2470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96016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DE2CDC-7BFC-37D0-E3F1-CC055B9EC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452323"/>
          </a:xfrm>
        </p:spPr>
        <p:txBody>
          <a:bodyPr/>
          <a:lstStyle/>
          <a:p>
            <a:r>
              <a:rPr lang="es-ES" dirty="0"/>
              <a:t>Funciones DE SINCRONIZACIÓN</a:t>
            </a:r>
          </a:p>
        </p:txBody>
      </p:sp>
      <p:graphicFrame>
        <p:nvGraphicFramePr>
          <p:cNvPr id="4" name="Tabla 4">
            <a:extLst>
              <a:ext uri="{FF2B5EF4-FFF2-40B4-BE49-F238E27FC236}">
                <a16:creationId xmlns:a16="http://schemas.microsoft.com/office/drawing/2014/main" id="{E161D590-16E3-BC52-723D-0677DF7075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1412445"/>
              </p:ext>
            </p:extLst>
          </p:nvPr>
        </p:nvGraphicFramePr>
        <p:xfrm>
          <a:off x="1599926" y="2990917"/>
          <a:ext cx="8596668" cy="3175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0745">
                  <a:extLst>
                    <a:ext uri="{9D8B030D-6E8A-4147-A177-3AD203B41FA5}">
                      <a16:colId xmlns:a16="http://schemas.microsoft.com/office/drawing/2014/main" val="1141681325"/>
                    </a:ext>
                  </a:extLst>
                </a:gridCol>
                <a:gridCol w="6425923">
                  <a:extLst>
                    <a:ext uri="{9D8B030D-6E8A-4147-A177-3AD203B41FA5}">
                      <a16:colId xmlns:a16="http://schemas.microsoft.com/office/drawing/2014/main" val="2452326664"/>
                    </a:ext>
                  </a:extLst>
                </a:gridCol>
              </a:tblGrid>
              <a:tr h="387651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Método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Descripción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7644890"/>
                  </a:ext>
                </a:extLst>
              </a:tr>
              <a:tr h="387651">
                <a:tc>
                  <a:txBody>
                    <a:bodyPr/>
                    <a:lstStyle/>
                    <a:p>
                      <a:pPr algn="ctr"/>
                      <a:r>
                        <a:rPr lang="es-ES" dirty="0" err="1"/>
                        <a:t>Join</a:t>
                      </a:r>
                      <a:r>
                        <a:rPr lang="es-E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Espera a que finalice el </a:t>
                      </a:r>
                      <a:r>
                        <a:rPr lang="es-ES" dirty="0" err="1"/>
                        <a:t>Thread</a:t>
                      </a:r>
                      <a:r>
                        <a:rPr lang="es-ES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804877"/>
                  </a:ext>
                </a:extLst>
              </a:tr>
              <a:tr h="387651">
                <a:tc>
                  <a:txBody>
                    <a:bodyPr/>
                    <a:lstStyle/>
                    <a:p>
                      <a:pPr algn="ctr"/>
                      <a:r>
                        <a:rPr lang="es-ES" dirty="0" err="1"/>
                        <a:t>Wait</a:t>
                      </a:r>
                      <a:r>
                        <a:rPr lang="es-E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Pausa la ejecución del </a:t>
                      </a:r>
                      <a:r>
                        <a:rPr lang="es-ES" dirty="0" err="1"/>
                        <a:t>Thread</a:t>
                      </a:r>
                      <a:r>
                        <a:rPr lang="es-ES" dirty="0"/>
                        <a:t>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3822564"/>
                  </a:ext>
                </a:extLst>
              </a:tr>
              <a:tr h="669095">
                <a:tc>
                  <a:txBody>
                    <a:bodyPr/>
                    <a:lstStyle/>
                    <a:p>
                      <a:pPr algn="ctr"/>
                      <a:r>
                        <a:rPr lang="es-ES" dirty="0" err="1"/>
                        <a:t>Notify</a:t>
                      </a:r>
                      <a:r>
                        <a:rPr lang="es-E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Despierta al </a:t>
                      </a:r>
                      <a:r>
                        <a:rPr lang="es-ES" dirty="0" err="1"/>
                        <a:t>Thread</a:t>
                      </a:r>
                      <a:r>
                        <a:rPr lang="es-ES" dirty="0"/>
                        <a:t>, lo libera del </a:t>
                      </a:r>
                      <a:r>
                        <a:rPr lang="es-ES" dirty="0" err="1"/>
                        <a:t>wait</a:t>
                      </a:r>
                      <a:r>
                        <a:rPr lang="es-ES" dirty="0"/>
                        <a:t>()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2864138"/>
                  </a:ext>
                </a:extLst>
              </a:tr>
              <a:tr h="387651">
                <a:tc>
                  <a:txBody>
                    <a:bodyPr/>
                    <a:lstStyle/>
                    <a:p>
                      <a:pPr algn="ctr"/>
                      <a:r>
                        <a:rPr lang="es-ES" dirty="0" err="1"/>
                        <a:t>NotifyAll</a:t>
                      </a:r>
                      <a:r>
                        <a:rPr lang="es-E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Despierta a todos los nodos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716476"/>
                  </a:ext>
                </a:extLst>
              </a:tr>
              <a:tr h="955851">
                <a:tc>
                  <a:txBody>
                    <a:bodyPr/>
                    <a:lstStyle/>
                    <a:p>
                      <a:pPr algn="ctr"/>
                      <a:r>
                        <a:rPr lang="es-ES" dirty="0" err="1"/>
                        <a:t>Synchronized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Evita que se pueda ejecutar concurrentemente una porción de código.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95420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65092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DE2CDC-7BFC-37D0-E3F1-CC055B9EC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314632"/>
            <a:ext cx="8596668" cy="806245"/>
          </a:xfrm>
        </p:spPr>
        <p:txBody>
          <a:bodyPr>
            <a:normAutofit fontScale="90000"/>
          </a:bodyPr>
          <a:lstStyle/>
          <a:p>
            <a:r>
              <a:rPr lang="es-ES" dirty="0"/>
              <a:t>MÉTODOS PRINCIPALES (THREAD=</a:t>
            </a:r>
          </a:p>
        </p:txBody>
      </p:sp>
      <p:graphicFrame>
        <p:nvGraphicFramePr>
          <p:cNvPr id="4" name="Tabla 4">
            <a:extLst>
              <a:ext uri="{FF2B5EF4-FFF2-40B4-BE49-F238E27FC236}">
                <a16:creationId xmlns:a16="http://schemas.microsoft.com/office/drawing/2014/main" id="{E161D590-16E3-BC52-723D-0677DF7075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7672514"/>
              </p:ext>
            </p:extLst>
          </p:nvPr>
        </p:nvGraphicFramePr>
        <p:xfrm>
          <a:off x="1622321" y="1087896"/>
          <a:ext cx="9409473" cy="60844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53986">
                  <a:extLst>
                    <a:ext uri="{9D8B030D-6E8A-4147-A177-3AD203B41FA5}">
                      <a16:colId xmlns:a16="http://schemas.microsoft.com/office/drawing/2014/main" val="1141681325"/>
                    </a:ext>
                  </a:extLst>
                </a:gridCol>
                <a:gridCol w="6355487">
                  <a:extLst>
                    <a:ext uri="{9D8B030D-6E8A-4147-A177-3AD203B41FA5}">
                      <a16:colId xmlns:a16="http://schemas.microsoft.com/office/drawing/2014/main" val="2452326664"/>
                    </a:ext>
                  </a:extLst>
                </a:gridCol>
              </a:tblGrid>
              <a:tr h="455287">
                <a:tc>
                  <a:txBody>
                    <a:bodyPr/>
                    <a:lstStyle/>
                    <a:p>
                      <a:pPr algn="ctr"/>
                      <a:r>
                        <a:rPr lang="es-ES" sz="1700" dirty="0"/>
                        <a:t>Método</a:t>
                      </a:r>
                    </a:p>
                  </a:txBody>
                  <a:tcPr marL="85116" marR="85116" marT="42558" marB="4255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700" dirty="0"/>
                        <a:t>Descripción</a:t>
                      </a:r>
                    </a:p>
                  </a:txBody>
                  <a:tcPr marL="85116" marR="85116" marT="42558" marB="42558"/>
                </a:tc>
                <a:extLst>
                  <a:ext uri="{0D108BD9-81ED-4DB2-BD59-A6C34878D82A}">
                    <a16:rowId xmlns:a16="http://schemas.microsoft.com/office/drawing/2014/main" val="1297644890"/>
                  </a:ext>
                </a:extLst>
              </a:tr>
              <a:tr h="340464">
                <a:tc>
                  <a:txBody>
                    <a:bodyPr/>
                    <a:lstStyle/>
                    <a:p>
                      <a:pPr algn="ctr"/>
                      <a:r>
                        <a:rPr lang="es-ES" sz="1700" dirty="0" err="1"/>
                        <a:t>Int</a:t>
                      </a:r>
                      <a:r>
                        <a:rPr lang="es-ES" sz="1700" dirty="0"/>
                        <a:t> </a:t>
                      </a:r>
                      <a:r>
                        <a:rPr lang="es-ES" sz="1700" dirty="0" err="1"/>
                        <a:t>getPriority</a:t>
                      </a:r>
                      <a:r>
                        <a:rPr lang="es-ES" sz="1700" dirty="0"/>
                        <a:t>()</a:t>
                      </a:r>
                    </a:p>
                  </a:txBody>
                  <a:tcPr marL="85116" marR="85116" marT="42558" marB="42558"/>
                </a:tc>
                <a:tc>
                  <a:txBody>
                    <a:bodyPr/>
                    <a:lstStyle/>
                    <a:p>
                      <a:r>
                        <a:rPr lang="es-ES" sz="1700" dirty="0"/>
                        <a:t>Devuelve la prioridad.</a:t>
                      </a:r>
                    </a:p>
                  </a:txBody>
                  <a:tcPr marL="85116" marR="85116" marT="42558" marB="42558"/>
                </a:tc>
                <a:extLst>
                  <a:ext uri="{0D108BD9-81ED-4DB2-BD59-A6C34878D82A}">
                    <a16:rowId xmlns:a16="http://schemas.microsoft.com/office/drawing/2014/main" val="266804877"/>
                  </a:ext>
                </a:extLst>
              </a:tr>
              <a:tr h="340464">
                <a:tc>
                  <a:txBody>
                    <a:bodyPr/>
                    <a:lstStyle/>
                    <a:p>
                      <a:pPr algn="ctr"/>
                      <a:r>
                        <a:rPr lang="es-ES" sz="1700" dirty="0" err="1"/>
                        <a:t>setPriority</a:t>
                      </a:r>
                      <a:r>
                        <a:rPr lang="es-ES" sz="1700" dirty="0"/>
                        <a:t>(</a:t>
                      </a:r>
                      <a:r>
                        <a:rPr lang="es-ES" sz="1700" dirty="0" err="1"/>
                        <a:t>int</a:t>
                      </a:r>
                      <a:r>
                        <a:rPr lang="es-ES" sz="1700" dirty="0"/>
                        <a:t> p)</a:t>
                      </a:r>
                    </a:p>
                  </a:txBody>
                  <a:tcPr marL="85116" marR="85116" marT="42558" marB="42558"/>
                </a:tc>
                <a:tc>
                  <a:txBody>
                    <a:bodyPr/>
                    <a:lstStyle/>
                    <a:p>
                      <a:r>
                        <a:rPr lang="es-ES" sz="1700" dirty="0"/>
                        <a:t>Cambia la prioridad.</a:t>
                      </a:r>
                    </a:p>
                  </a:txBody>
                  <a:tcPr marL="85116" marR="85116" marT="42558" marB="42558"/>
                </a:tc>
                <a:extLst>
                  <a:ext uri="{0D108BD9-81ED-4DB2-BD59-A6C34878D82A}">
                    <a16:rowId xmlns:a16="http://schemas.microsoft.com/office/drawing/2014/main" val="3993822564"/>
                  </a:ext>
                </a:extLst>
              </a:tr>
              <a:tr h="448240">
                <a:tc>
                  <a:txBody>
                    <a:bodyPr/>
                    <a:lstStyle/>
                    <a:p>
                      <a:pPr algn="ctr"/>
                      <a:r>
                        <a:rPr lang="es-ES" sz="1700" dirty="0" err="1"/>
                        <a:t>Void</a:t>
                      </a:r>
                      <a:r>
                        <a:rPr lang="es-ES" sz="1700" dirty="0"/>
                        <a:t> </a:t>
                      </a:r>
                      <a:r>
                        <a:rPr lang="es-ES" sz="1700" dirty="0" err="1"/>
                        <a:t>interrupt</a:t>
                      </a:r>
                      <a:r>
                        <a:rPr lang="es-ES" sz="1700" dirty="0"/>
                        <a:t>()</a:t>
                      </a:r>
                    </a:p>
                  </a:txBody>
                  <a:tcPr marL="85116" marR="85116" marT="42558" marB="42558"/>
                </a:tc>
                <a:tc>
                  <a:txBody>
                    <a:bodyPr/>
                    <a:lstStyle/>
                    <a:p>
                      <a:r>
                        <a:rPr lang="es-ES" sz="1700" dirty="0"/>
                        <a:t>Interrumpe el hilo.</a:t>
                      </a:r>
                    </a:p>
                  </a:txBody>
                  <a:tcPr marL="85116" marR="85116" marT="42558" marB="42558"/>
                </a:tc>
                <a:extLst>
                  <a:ext uri="{0D108BD9-81ED-4DB2-BD59-A6C34878D82A}">
                    <a16:rowId xmlns:a16="http://schemas.microsoft.com/office/drawing/2014/main" val="2932864138"/>
                  </a:ext>
                </a:extLst>
              </a:tr>
              <a:tr h="340464">
                <a:tc>
                  <a:txBody>
                    <a:bodyPr/>
                    <a:lstStyle/>
                    <a:p>
                      <a:pPr algn="ctr"/>
                      <a:r>
                        <a:rPr lang="es-ES" sz="1700" dirty="0" err="1"/>
                        <a:t>Boolean</a:t>
                      </a:r>
                      <a:r>
                        <a:rPr lang="es-ES" sz="1700" dirty="0"/>
                        <a:t> </a:t>
                      </a:r>
                      <a:r>
                        <a:rPr lang="es-ES" sz="1700" dirty="0" err="1"/>
                        <a:t>interrupted</a:t>
                      </a:r>
                      <a:r>
                        <a:rPr lang="es-ES" sz="1700" dirty="0"/>
                        <a:t>()</a:t>
                      </a:r>
                    </a:p>
                  </a:txBody>
                  <a:tcPr marL="85116" marR="85116" marT="42558" marB="42558"/>
                </a:tc>
                <a:tc>
                  <a:txBody>
                    <a:bodyPr/>
                    <a:lstStyle/>
                    <a:p>
                      <a:r>
                        <a:rPr lang="es-ES" sz="1700" dirty="0"/>
                        <a:t>Comprueba si un hilo ha sido interrumpido.</a:t>
                      </a:r>
                    </a:p>
                  </a:txBody>
                  <a:tcPr marL="85116" marR="85116" marT="42558" marB="42558"/>
                </a:tc>
                <a:extLst>
                  <a:ext uri="{0D108BD9-81ED-4DB2-BD59-A6C34878D82A}">
                    <a16:rowId xmlns:a16="http://schemas.microsoft.com/office/drawing/2014/main" val="355716476"/>
                  </a:ext>
                </a:extLst>
              </a:tr>
              <a:tr h="595812">
                <a:tc>
                  <a:txBody>
                    <a:bodyPr/>
                    <a:lstStyle/>
                    <a:p>
                      <a:pPr algn="ctr"/>
                      <a:r>
                        <a:rPr lang="es-ES" sz="1700" dirty="0" err="1"/>
                        <a:t>Thread</a:t>
                      </a:r>
                      <a:r>
                        <a:rPr lang="es-ES" sz="1700" dirty="0"/>
                        <a:t> </a:t>
                      </a:r>
                      <a:r>
                        <a:rPr lang="es-ES" sz="1700" dirty="0" err="1"/>
                        <a:t>currentThread</a:t>
                      </a:r>
                      <a:r>
                        <a:rPr lang="es-ES" sz="1700" dirty="0"/>
                        <a:t>()</a:t>
                      </a:r>
                    </a:p>
                  </a:txBody>
                  <a:tcPr marL="85116" marR="85116" marT="42558" marB="42558"/>
                </a:tc>
                <a:tc>
                  <a:txBody>
                    <a:bodyPr/>
                    <a:lstStyle/>
                    <a:p>
                      <a:r>
                        <a:rPr lang="es-ES" sz="1700" dirty="0"/>
                        <a:t>Devuelve la referencia del hilo que se está ejecutando.</a:t>
                      </a:r>
                    </a:p>
                  </a:txBody>
                  <a:tcPr marL="85116" marR="85116" marT="42558" marB="42558"/>
                </a:tc>
                <a:extLst>
                  <a:ext uri="{0D108BD9-81ED-4DB2-BD59-A6C34878D82A}">
                    <a16:rowId xmlns:a16="http://schemas.microsoft.com/office/drawing/2014/main" val="4129542033"/>
                  </a:ext>
                </a:extLst>
              </a:tr>
              <a:tr h="595812">
                <a:tc>
                  <a:txBody>
                    <a:bodyPr/>
                    <a:lstStyle/>
                    <a:p>
                      <a:pPr algn="ctr"/>
                      <a:r>
                        <a:rPr lang="es-ES" sz="1700" dirty="0" err="1"/>
                        <a:t>Start</a:t>
                      </a:r>
                      <a:r>
                        <a:rPr lang="es-ES" sz="1700" dirty="0"/>
                        <a:t>()</a:t>
                      </a:r>
                    </a:p>
                  </a:txBody>
                  <a:tcPr marL="85116" marR="85116" marT="42558" marB="42558"/>
                </a:tc>
                <a:tc>
                  <a:txBody>
                    <a:bodyPr/>
                    <a:lstStyle/>
                    <a:p>
                      <a:r>
                        <a:rPr lang="es-ES" sz="1700" dirty="0"/>
                        <a:t>Comienza la ejecución del hilo y se invoca el método run()</a:t>
                      </a:r>
                    </a:p>
                  </a:txBody>
                  <a:tcPr marL="85116" marR="85116" marT="42558" marB="42558"/>
                </a:tc>
                <a:extLst>
                  <a:ext uri="{0D108BD9-81ED-4DB2-BD59-A6C34878D82A}">
                    <a16:rowId xmlns:a16="http://schemas.microsoft.com/office/drawing/2014/main" val="1194033514"/>
                  </a:ext>
                </a:extLst>
              </a:tr>
              <a:tr h="595812">
                <a:tc>
                  <a:txBody>
                    <a:bodyPr/>
                    <a:lstStyle/>
                    <a:p>
                      <a:pPr algn="ctr"/>
                      <a:r>
                        <a:rPr lang="es-ES" sz="1700" dirty="0" err="1"/>
                        <a:t>Sleep</a:t>
                      </a:r>
                      <a:r>
                        <a:rPr lang="es-ES" sz="1700" dirty="0"/>
                        <a:t>()</a:t>
                      </a:r>
                    </a:p>
                  </a:txBody>
                  <a:tcPr marL="85116" marR="85116" marT="42558" marB="42558"/>
                </a:tc>
                <a:tc>
                  <a:txBody>
                    <a:bodyPr/>
                    <a:lstStyle/>
                    <a:p>
                      <a:r>
                        <a:rPr lang="es-ES" sz="1700" dirty="0"/>
                        <a:t>Método que detiene temporalmente la ejecución </a:t>
                      </a:r>
                      <a:r>
                        <a:rPr lang="es-ES" sz="1700"/>
                        <a:t>del hilo.</a:t>
                      </a:r>
                      <a:endParaRPr lang="es-ES" sz="1700" dirty="0"/>
                    </a:p>
                  </a:txBody>
                  <a:tcPr marL="85116" marR="85116" marT="42558" marB="42558"/>
                </a:tc>
                <a:extLst>
                  <a:ext uri="{0D108BD9-81ED-4DB2-BD59-A6C34878D82A}">
                    <a16:rowId xmlns:a16="http://schemas.microsoft.com/office/drawing/2014/main" val="3254873518"/>
                  </a:ext>
                </a:extLst>
              </a:tr>
              <a:tr h="365569">
                <a:tc>
                  <a:txBody>
                    <a:bodyPr/>
                    <a:lstStyle/>
                    <a:p>
                      <a:pPr algn="ctr"/>
                      <a:r>
                        <a:rPr lang="es-ES" sz="1700" dirty="0" err="1"/>
                        <a:t>Boolean</a:t>
                      </a:r>
                      <a:r>
                        <a:rPr lang="es-ES" sz="1700" dirty="0"/>
                        <a:t> </a:t>
                      </a:r>
                      <a:r>
                        <a:rPr lang="es-ES" sz="1700" dirty="0" err="1"/>
                        <a:t>isAlive</a:t>
                      </a:r>
                      <a:r>
                        <a:rPr lang="es-ES" sz="1700" dirty="0"/>
                        <a:t>()</a:t>
                      </a:r>
                    </a:p>
                  </a:txBody>
                  <a:tcPr marL="85116" marR="85116" marT="42558" marB="42558"/>
                </a:tc>
                <a:tc>
                  <a:txBody>
                    <a:bodyPr/>
                    <a:lstStyle/>
                    <a:p>
                      <a:r>
                        <a:rPr lang="es-ES" sz="1700" dirty="0"/>
                        <a:t>Comprueba si el hilo sigue vivo.</a:t>
                      </a:r>
                    </a:p>
                  </a:txBody>
                  <a:tcPr marL="85116" marR="85116" marT="42558" marB="42558"/>
                </a:tc>
                <a:extLst>
                  <a:ext uri="{0D108BD9-81ED-4DB2-BD59-A6C34878D82A}">
                    <a16:rowId xmlns:a16="http://schemas.microsoft.com/office/drawing/2014/main" val="1342103956"/>
                  </a:ext>
                </a:extLst>
              </a:tr>
              <a:tr h="595812">
                <a:tc>
                  <a:txBody>
                    <a:bodyPr/>
                    <a:lstStyle/>
                    <a:p>
                      <a:pPr algn="ctr"/>
                      <a:r>
                        <a:rPr lang="es-ES" sz="1700" dirty="0" err="1"/>
                        <a:t>Sleep</a:t>
                      </a:r>
                      <a:r>
                        <a:rPr lang="es-ES" sz="1700" dirty="0"/>
                        <a:t>(Long mil)</a:t>
                      </a:r>
                    </a:p>
                  </a:txBody>
                  <a:tcPr marL="85116" marR="85116" marT="42558" marB="42558"/>
                </a:tc>
                <a:tc>
                  <a:txBody>
                    <a:bodyPr/>
                    <a:lstStyle/>
                    <a:p>
                      <a:r>
                        <a:rPr lang="es-ES" sz="1700" dirty="0"/>
                        <a:t>Hilo en ejecución pasa a bloqueado x milisegundos.</a:t>
                      </a:r>
                    </a:p>
                  </a:txBody>
                  <a:tcPr marL="85116" marR="85116" marT="42558" marB="42558"/>
                </a:tc>
                <a:extLst>
                  <a:ext uri="{0D108BD9-81ED-4DB2-BD59-A6C34878D82A}">
                    <a16:rowId xmlns:a16="http://schemas.microsoft.com/office/drawing/2014/main" val="3552036239"/>
                  </a:ext>
                </a:extLst>
              </a:tr>
              <a:tr h="340464">
                <a:tc>
                  <a:txBody>
                    <a:bodyPr/>
                    <a:lstStyle/>
                    <a:p>
                      <a:pPr algn="ctr"/>
                      <a:r>
                        <a:rPr lang="es-ES" sz="1700" dirty="0"/>
                        <a:t>Run()</a:t>
                      </a:r>
                    </a:p>
                  </a:txBody>
                  <a:tcPr marL="85116" marR="85116" marT="42558" marB="42558"/>
                </a:tc>
                <a:tc>
                  <a:txBody>
                    <a:bodyPr/>
                    <a:lstStyle/>
                    <a:p>
                      <a:r>
                        <a:rPr lang="es-ES" sz="1700" dirty="0"/>
                        <a:t>Construye hilo.</a:t>
                      </a:r>
                    </a:p>
                  </a:txBody>
                  <a:tcPr marL="85116" marR="85116" marT="42558" marB="42558"/>
                </a:tc>
                <a:extLst>
                  <a:ext uri="{0D108BD9-81ED-4DB2-BD59-A6C34878D82A}">
                    <a16:rowId xmlns:a16="http://schemas.microsoft.com/office/drawing/2014/main" val="3917313955"/>
                  </a:ext>
                </a:extLst>
              </a:tr>
              <a:tr h="414971">
                <a:tc>
                  <a:txBody>
                    <a:bodyPr/>
                    <a:lstStyle/>
                    <a:p>
                      <a:pPr algn="ctr"/>
                      <a:r>
                        <a:rPr lang="es-ES" sz="1700" dirty="0"/>
                        <a:t>Long </a:t>
                      </a:r>
                      <a:r>
                        <a:rPr lang="es-ES" sz="1700" dirty="0" err="1"/>
                        <a:t>getId</a:t>
                      </a:r>
                      <a:r>
                        <a:rPr lang="es-ES" sz="1700" dirty="0"/>
                        <a:t>()</a:t>
                      </a:r>
                    </a:p>
                  </a:txBody>
                  <a:tcPr marL="85116" marR="85116" marT="42558" marB="42558"/>
                </a:tc>
                <a:tc>
                  <a:txBody>
                    <a:bodyPr/>
                    <a:lstStyle/>
                    <a:p>
                      <a:r>
                        <a:rPr lang="es-ES" sz="1700" dirty="0"/>
                        <a:t>Devuelve el identificador del hilo.</a:t>
                      </a:r>
                    </a:p>
                  </a:txBody>
                  <a:tcPr marL="85116" marR="85116" marT="42558" marB="42558"/>
                </a:tc>
                <a:extLst>
                  <a:ext uri="{0D108BD9-81ED-4DB2-BD59-A6C34878D82A}">
                    <a16:rowId xmlns:a16="http://schemas.microsoft.com/office/drawing/2014/main" val="2987998614"/>
                  </a:ext>
                </a:extLst>
              </a:tr>
              <a:tr h="640345">
                <a:tc>
                  <a:txBody>
                    <a:bodyPr/>
                    <a:lstStyle/>
                    <a:p>
                      <a:pPr algn="ctr"/>
                      <a:r>
                        <a:rPr lang="es-ES" sz="1700" dirty="0"/>
                        <a:t>Long </a:t>
                      </a:r>
                      <a:r>
                        <a:rPr lang="es-ES" sz="1700" dirty="0" err="1"/>
                        <a:t>getName</a:t>
                      </a:r>
                      <a:r>
                        <a:rPr lang="es-ES" sz="1700" dirty="0"/>
                        <a:t>()</a:t>
                      </a:r>
                    </a:p>
                  </a:txBody>
                  <a:tcPr marL="85116" marR="85116" marT="42558" marB="42558"/>
                </a:tc>
                <a:tc>
                  <a:txBody>
                    <a:bodyPr/>
                    <a:lstStyle/>
                    <a:p>
                      <a:r>
                        <a:rPr lang="es-ES" sz="1700" dirty="0"/>
                        <a:t>Devuelve el nombre del hilo.</a:t>
                      </a:r>
                    </a:p>
                  </a:txBody>
                  <a:tcPr marL="85116" marR="85116" marT="42558" marB="42558"/>
                </a:tc>
                <a:extLst>
                  <a:ext uri="{0D108BD9-81ED-4DB2-BD59-A6C34878D82A}">
                    <a16:rowId xmlns:a16="http://schemas.microsoft.com/office/drawing/2014/main" val="9610132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73111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27D6E4-81FD-695B-D923-F64F42499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2" y="609600"/>
            <a:ext cx="11072216" cy="1123950"/>
          </a:xfrm>
        </p:spPr>
        <p:txBody>
          <a:bodyPr>
            <a:normAutofit fontScale="90000"/>
          </a:bodyPr>
          <a:lstStyle/>
          <a:p>
            <a:r>
              <a:rPr lang="es-ES" dirty="0"/>
              <a:t>Alternativa de comunicación de subprocesos:</a:t>
            </a:r>
            <a:br>
              <a:rPr lang="es-ES" dirty="0"/>
            </a:br>
            <a:r>
              <a:rPr lang="es-ES" dirty="0"/>
              <a:t>Lock() /</a:t>
            </a:r>
            <a:r>
              <a:rPr lang="es-ES" dirty="0" err="1"/>
              <a:t>unlock</a:t>
            </a:r>
            <a:r>
              <a:rPr lang="es-ES" dirty="0"/>
              <a:t>()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FD41CCE-0745-9F72-2B14-4A39F074E9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480" y="2080391"/>
            <a:ext cx="8982075" cy="3390900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C972DEDD-26CB-1DB4-BFEE-1F167F5EFC18}"/>
              </a:ext>
            </a:extLst>
          </p:cNvPr>
          <p:cNvSpPr txBox="1"/>
          <p:nvPr/>
        </p:nvSpPr>
        <p:spPr>
          <a:xfrm>
            <a:off x="677334" y="5925234"/>
            <a:ext cx="90342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hlinkClick r:id="rId3"/>
              </a:rPr>
              <a:t>https://docs.oracle.com/javase/7/docs/api/java/util/concurrent/locks/Lock.html</a:t>
            </a:r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716443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C272BC-40E0-AAD3-C1BE-C2EC1C120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46234"/>
          </a:xfrm>
        </p:spPr>
        <p:txBody>
          <a:bodyPr>
            <a:normAutofit fontScale="90000"/>
          </a:bodyPr>
          <a:lstStyle/>
          <a:p>
            <a:r>
              <a:rPr lang="es-ES" dirty="0"/>
              <a:t>Thread pool </a:t>
            </a:r>
            <a:r>
              <a:rPr lang="es-ES" dirty="0">
                <a:sym typeface="Wingdings" panose="05000000000000000000" pitchFamily="2" charset="2"/>
              </a:rPr>
              <a:t> Piscina de hilos</a:t>
            </a:r>
            <a:endParaRPr lang="es-ES" dirty="0"/>
          </a:p>
        </p:txBody>
      </p:sp>
      <p:pic>
        <p:nvPicPr>
          <p:cNvPr id="1027" name="Picture 3" descr="java executor service">
            <a:extLst>
              <a:ext uri="{FF2B5EF4-FFF2-40B4-BE49-F238E27FC236}">
                <a16:creationId xmlns:a16="http://schemas.microsoft.com/office/drawing/2014/main" id="{55705CCC-E0DE-2F37-9DF2-7B7E6D9111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943" y="3742134"/>
            <a:ext cx="3981450" cy="2419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A8AEB0C1-0765-7BB4-4F76-9BD8E529CF9B}"/>
              </a:ext>
            </a:extLst>
          </p:cNvPr>
          <p:cNvSpPr txBox="1"/>
          <p:nvPr/>
        </p:nvSpPr>
        <p:spPr>
          <a:xfrm>
            <a:off x="677333" y="1638539"/>
            <a:ext cx="1013815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i="0" dirty="0">
                <a:solidFill>
                  <a:srgbClr val="000000"/>
                </a:solidFill>
                <a:effectLst/>
                <a:latin typeface="Trebuchet MS (Cuerpo)"/>
              </a:rPr>
              <a:t>Java Executor Service </a:t>
            </a:r>
            <a:r>
              <a:rPr lang="es-ES" i="0" dirty="0">
                <a:solidFill>
                  <a:srgbClr val="000000"/>
                </a:solidFill>
                <a:effectLst/>
                <a:latin typeface="Trebuchet MS (Cuerpo)"/>
              </a:rPr>
              <a:t>es una de las clases que nos permite gestionar la programación concurrente de una forma más sencilla y optima.</a:t>
            </a:r>
          </a:p>
          <a:p>
            <a:endParaRPr lang="es-ES" dirty="0">
              <a:solidFill>
                <a:srgbClr val="000000"/>
              </a:solidFill>
              <a:latin typeface="Trebuchet MS (Cuerpo)"/>
            </a:endParaRPr>
          </a:p>
          <a:p>
            <a:r>
              <a:rPr lang="es-ES" b="1" i="0" dirty="0">
                <a:solidFill>
                  <a:srgbClr val="000000"/>
                </a:solidFill>
                <a:effectLst/>
                <a:latin typeface="Lora" pitchFamily="2" charset="0"/>
              </a:rPr>
              <a:t>Executor Service </a:t>
            </a:r>
            <a:r>
              <a:rPr lang="es-ES" b="0" i="0" dirty="0">
                <a:solidFill>
                  <a:srgbClr val="000000"/>
                </a:solidFill>
                <a:effectLst/>
                <a:latin typeface="Lora" pitchFamily="2" charset="0"/>
              </a:rPr>
              <a:t>que se encarga de </a:t>
            </a:r>
            <a:r>
              <a:rPr lang="es-ES" b="1" i="0" dirty="0">
                <a:solidFill>
                  <a:srgbClr val="000000"/>
                </a:solidFill>
                <a:effectLst/>
                <a:latin typeface="Lora" pitchFamily="2" charset="0"/>
              </a:rPr>
              <a:t>automatizar</a:t>
            </a:r>
            <a:r>
              <a:rPr lang="es-ES" b="0" i="0" dirty="0">
                <a:solidFill>
                  <a:srgbClr val="000000"/>
                </a:solidFill>
                <a:effectLst/>
                <a:latin typeface="Lora" pitchFamily="2" charset="0"/>
              </a:rPr>
              <a:t> la ejecución de cualquier objeto Runnable.</a:t>
            </a:r>
            <a:endParaRPr lang="es-ES" dirty="0">
              <a:latin typeface="Trebuchet MS (Cuerpo)"/>
            </a:endParaRPr>
          </a:p>
        </p:txBody>
      </p:sp>
    </p:spTree>
    <p:extLst>
      <p:ext uri="{BB962C8B-B14F-4D97-AF65-F5344CB8AC3E}">
        <p14:creationId xmlns:p14="http://schemas.microsoft.com/office/powerpoint/2010/main" val="24644443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84F9FB-E435-87BD-0EE9-D1078FFC6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Thread pool </a:t>
            </a:r>
            <a:r>
              <a:rPr lang="es-ES" dirty="0">
                <a:sym typeface="Wingdings" panose="05000000000000000000" pitchFamily="2" charset="2"/>
              </a:rPr>
              <a:t> Piscina de hilos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F54B270-7325-DA41-EC32-943B5EE9F0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b="1" dirty="0"/>
              <a:t>Ventajas</a:t>
            </a:r>
            <a:r>
              <a:rPr lang="es-ES" dirty="0"/>
              <a:t>:</a:t>
            </a:r>
          </a:p>
          <a:p>
            <a:pPr marL="0" indent="0">
              <a:buNone/>
            </a:pPr>
            <a:endParaRPr lang="es-ES" dirty="0"/>
          </a:p>
          <a:p>
            <a:pPr lvl="1"/>
            <a:r>
              <a:rPr lang="es-ES" sz="1800" dirty="0"/>
              <a:t>Reducción de código.</a:t>
            </a:r>
          </a:p>
          <a:p>
            <a:pPr lvl="1"/>
            <a:r>
              <a:rPr lang="es-ES" sz="1800" dirty="0"/>
              <a:t>Flexibilidad si utilizamos un bucle infinito a la hora de instanciar.</a:t>
            </a:r>
          </a:p>
          <a:p>
            <a:pPr lvl="1"/>
            <a:r>
              <a:rPr lang="es-ES" sz="1800" dirty="0"/>
              <a:t>No tenemos que inicializar los Threads, lo hace la API de Java de la forma más correcta.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767660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C272BC-40E0-AAD3-C1BE-C2EC1C120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86293"/>
          </a:xfrm>
        </p:spPr>
        <p:txBody>
          <a:bodyPr>
            <a:normAutofit fontScale="90000"/>
          </a:bodyPr>
          <a:lstStyle/>
          <a:p>
            <a:r>
              <a:rPr lang="es-ES" dirty="0"/>
              <a:t>Thread pool </a:t>
            </a:r>
            <a:r>
              <a:rPr lang="es-ES" dirty="0">
                <a:sym typeface="Wingdings" panose="05000000000000000000" pitchFamily="2" charset="2"/>
              </a:rPr>
              <a:t> Piscina de hilos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0512BF5-44E1-FE11-51D7-3E53889EE2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647363"/>
            <a:ext cx="8892335" cy="614141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s-ES" b="1" i="0" dirty="0">
                <a:solidFill>
                  <a:srgbClr val="4F4F4F"/>
                </a:solidFill>
                <a:effectLst/>
                <a:latin typeface="Trebuchet MS (Cuerpo)"/>
              </a:rPr>
              <a:t>newFixedThreadPool: crea un grupo de subprocesos de longitud fija.</a:t>
            </a:r>
          </a:p>
          <a:p>
            <a:pPr marL="0" indent="0">
              <a:buNone/>
            </a:pPr>
            <a:endParaRPr lang="es-ES" dirty="0">
              <a:solidFill>
                <a:srgbClr val="4F4F4F"/>
              </a:solidFill>
              <a:latin typeface="-apple-system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E45461F-2233-433E-C6FF-E3D35C33767C}"/>
              </a:ext>
            </a:extLst>
          </p:cNvPr>
          <p:cNvSpPr txBox="1"/>
          <p:nvPr/>
        </p:nvSpPr>
        <p:spPr>
          <a:xfrm>
            <a:off x="803457" y="3114601"/>
            <a:ext cx="80443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i="0" dirty="0">
                <a:solidFill>
                  <a:srgbClr val="4F4F4F"/>
                </a:solidFill>
                <a:effectLst/>
                <a:latin typeface="Trebuchet MS (Cuerpo)"/>
              </a:rPr>
              <a:t>newSingleThreadExecutor: </a:t>
            </a:r>
            <a:r>
              <a:rPr lang="es-ES" b="0" i="0" dirty="0">
                <a:solidFill>
                  <a:srgbClr val="4F4F4F"/>
                </a:solidFill>
                <a:effectLst/>
                <a:latin typeface="Trebuchet MS (Cuerpo)"/>
              </a:rPr>
              <a:t>es un ejecutor de un solo subproceso.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A1E871F-E9FC-19E7-D65C-DA0AD5BD619D}"/>
              </a:ext>
            </a:extLst>
          </p:cNvPr>
          <p:cNvSpPr txBox="1"/>
          <p:nvPr/>
        </p:nvSpPr>
        <p:spPr>
          <a:xfrm>
            <a:off x="1788833" y="2312974"/>
            <a:ext cx="6669333" cy="461665"/>
          </a:xfrm>
          <a:prstGeom prst="rect">
            <a:avLst/>
          </a:prstGeom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indent="0">
              <a:buNone/>
            </a:pP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nlo"/>
              </a:rPr>
              <a:t>ExecutorService executor = Executors.newSingleThreadExecutor();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s-ES" altLang="es-E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F0DE1F5-9E48-3E0C-2E1C-35B837958181}"/>
              </a:ext>
            </a:extLst>
          </p:cNvPr>
          <p:cNvSpPr txBox="1"/>
          <p:nvPr/>
        </p:nvSpPr>
        <p:spPr>
          <a:xfrm>
            <a:off x="1006437" y="3790594"/>
            <a:ext cx="8580382" cy="369332"/>
          </a:xfrm>
          <a:prstGeom prst="rect">
            <a:avLst/>
          </a:prstGeom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4E9359"/>
                </a:solidFill>
                <a:effectLst/>
                <a:latin typeface="Source Code Pro" panose="020B0509030403020204" pitchFamily="49" charset="0"/>
              </a:rPr>
              <a:t>ExecutorService</a:t>
            </a:r>
            <a:r>
              <a:rPr lang="en-US" b="0" i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</a:t>
            </a:r>
            <a:r>
              <a:rPr lang="en-US" b="0" i="0" dirty="0">
                <a:solidFill>
                  <a:srgbClr val="BC6060"/>
                </a:solidFill>
                <a:effectLst/>
                <a:latin typeface="Source Code Pro" panose="020B0509030403020204" pitchFamily="49" charset="0"/>
              </a:rPr>
              <a:t>executor</a:t>
            </a:r>
            <a:r>
              <a:rPr lang="en-US" b="0" i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= Executors.newFixedThreadPool(</a:t>
            </a:r>
            <a:r>
              <a:rPr lang="en-US" b="0" i="0" dirty="0">
                <a:solidFill>
                  <a:srgbClr val="4E9359"/>
                </a:solidFill>
                <a:effectLst/>
                <a:latin typeface="Source Code Pro" panose="020B0509030403020204" pitchFamily="49" charset="0"/>
              </a:rPr>
              <a:t>10</a:t>
            </a:r>
            <a:r>
              <a:rPr lang="en-US" b="0" i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);</a:t>
            </a:r>
            <a:endParaRPr lang="es-ES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BA7203F-96F2-B84F-35CA-B53D9F6EAC42}"/>
              </a:ext>
            </a:extLst>
          </p:cNvPr>
          <p:cNvSpPr txBox="1"/>
          <p:nvPr/>
        </p:nvSpPr>
        <p:spPr>
          <a:xfrm>
            <a:off x="3072675" y="5175881"/>
            <a:ext cx="3805986" cy="369332"/>
          </a:xfrm>
          <a:prstGeom prst="rect">
            <a:avLst/>
          </a:prstGeom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BC6060"/>
                </a:solidFill>
                <a:effectLst/>
                <a:latin typeface="Source Code Pro" panose="020B0509030403020204" pitchFamily="49" charset="0"/>
              </a:rPr>
              <a:t>Executor</a:t>
            </a:r>
            <a:r>
              <a:rPr lang="en-US" dirty="0">
                <a:solidFill>
                  <a:srgbClr val="000000"/>
                </a:solidFill>
                <a:latin typeface="Source Code Pro" panose="020B0509030403020204" pitchFamily="49" charset="0"/>
              </a:rPr>
              <a:t>.execute (hilo1)</a:t>
            </a:r>
            <a:r>
              <a:rPr lang="en-US" b="0" i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;</a:t>
            </a:r>
            <a:endParaRPr lang="es-ES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94447A6-7FF8-245D-6D45-CAB170324E0D}"/>
              </a:ext>
            </a:extLst>
          </p:cNvPr>
          <p:cNvSpPr txBox="1"/>
          <p:nvPr/>
        </p:nvSpPr>
        <p:spPr>
          <a:xfrm>
            <a:off x="803457" y="4516640"/>
            <a:ext cx="87662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i="0" dirty="0">
                <a:solidFill>
                  <a:srgbClr val="4F4F4F"/>
                </a:solidFill>
                <a:effectLst/>
                <a:latin typeface="Trebuchet MS (Cuerpo)"/>
              </a:rPr>
              <a:t>Execute (): </a:t>
            </a:r>
            <a:r>
              <a:rPr lang="es-ES" dirty="0">
                <a:solidFill>
                  <a:srgbClr val="404040"/>
                </a:solidFill>
                <a:latin typeface="Trebuchet MS (Cuerpo)"/>
              </a:rPr>
              <a:t>E</a:t>
            </a:r>
            <a:r>
              <a:rPr lang="es-ES" b="0" i="0" dirty="0">
                <a:solidFill>
                  <a:srgbClr val="404040"/>
                </a:solidFill>
                <a:effectLst/>
                <a:latin typeface="Trebuchet MS (Cuerpo)"/>
              </a:rPr>
              <a:t>jecuta cualquier implementación de Runnable.</a:t>
            </a:r>
            <a:endParaRPr lang="es-ES" b="0" i="0" dirty="0">
              <a:solidFill>
                <a:srgbClr val="4F4F4F"/>
              </a:solidFill>
              <a:effectLst/>
              <a:latin typeface="Trebuchet MS (Cuerpo)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F41536D4-1A16-4B5D-AF51-7E29936BE70B}"/>
              </a:ext>
            </a:extLst>
          </p:cNvPr>
          <p:cNvSpPr txBox="1"/>
          <p:nvPr/>
        </p:nvSpPr>
        <p:spPr>
          <a:xfrm>
            <a:off x="3041431" y="6271259"/>
            <a:ext cx="3805986" cy="369332"/>
          </a:xfrm>
          <a:prstGeom prst="rect">
            <a:avLst/>
          </a:prstGeom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BC6060"/>
                </a:solidFill>
                <a:effectLst/>
                <a:latin typeface="Source Code Pro" panose="020B0509030403020204" pitchFamily="49" charset="0"/>
              </a:rPr>
              <a:t>Executor</a:t>
            </a:r>
            <a:r>
              <a:rPr lang="en-US" dirty="0">
                <a:solidFill>
                  <a:srgbClr val="000000"/>
                </a:solidFill>
                <a:latin typeface="Source Code Pro" panose="020B0509030403020204" pitchFamily="49" charset="0"/>
              </a:rPr>
              <a:t>.shutdown()</a:t>
            </a:r>
            <a:r>
              <a:rPr lang="en-US" b="0" i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;</a:t>
            </a:r>
            <a:endParaRPr lang="es-ES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23276A94-E5EB-66EF-ECB3-332E3A16063B}"/>
              </a:ext>
            </a:extLst>
          </p:cNvPr>
          <p:cNvSpPr txBox="1"/>
          <p:nvPr/>
        </p:nvSpPr>
        <p:spPr>
          <a:xfrm>
            <a:off x="803457" y="5708858"/>
            <a:ext cx="89081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i="0" dirty="0">
                <a:solidFill>
                  <a:srgbClr val="4F4F4F"/>
                </a:solidFill>
                <a:effectLst/>
                <a:latin typeface="Trebuchet MS (Cuerpo)"/>
              </a:rPr>
              <a:t>shutdown (): </a:t>
            </a:r>
            <a:r>
              <a:rPr lang="es-ES" dirty="0">
                <a:solidFill>
                  <a:srgbClr val="404040"/>
                </a:solidFill>
                <a:latin typeface="Trebuchet MS (Cuerpo)"/>
              </a:rPr>
              <a:t>Apaga todas las tareas enviadas</a:t>
            </a:r>
            <a:r>
              <a:rPr lang="es-ES" b="0" i="0" dirty="0">
                <a:solidFill>
                  <a:srgbClr val="404040"/>
                </a:solidFill>
                <a:effectLst/>
                <a:latin typeface="Trebuchet MS (Cuerpo)"/>
              </a:rPr>
              <a:t>.</a:t>
            </a:r>
            <a:endParaRPr lang="es-ES" b="0" i="0" dirty="0">
              <a:solidFill>
                <a:srgbClr val="4F4F4F"/>
              </a:solidFill>
              <a:effectLst/>
              <a:latin typeface="Trebuchet MS (Cuerpo)"/>
            </a:endParaRPr>
          </a:p>
        </p:txBody>
      </p:sp>
    </p:spTree>
    <p:extLst>
      <p:ext uri="{BB962C8B-B14F-4D97-AF65-F5344CB8AC3E}">
        <p14:creationId xmlns:p14="http://schemas.microsoft.com/office/powerpoint/2010/main" val="39868705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AA327-FF1A-8E8A-E39C-ACF6CAC67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13746D-8356-0B46-B2D9-00EE4FBAE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86293"/>
          </a:xfrm>
        </p:spPr>
        <p:txBody>
          <a:bodyPr>
            <a:normAutofit/>
          </a:bodyPr>
          <a:lstStyle/>
          <a:p>
            <a:r>
              <a:rPr lang="es-ES" dirty="0"/>
              <a:t>SEMÁFOROS. MÉTODOS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D4C38A1F-152F-E1AB-C51E-D8BE86C05FF4}"/>
              </a:ext>
            </a:extLst>
          </p:cNvPr>
          <p:cNvSpPr txBox="1"/>
          <p:nvPr/>
        </p:nvSpPr>
        <p:spPr>
          <a:xfrm>
            <a:off x="1263151" y="1793116"/>
            <a:ext cx="792148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dirty="0"/>
              <a:t>Un </a:t>
            </a:r>
            <a:r>
              <a:rPr lang="es-ES" b="1" dirty="0"/>
              <a:t>semáforo</a:t>
            </a:r>
            <a:r>
              <a:rPr lang="es-ES" dirty="0"/>
              <a:t> es un </a:t>
            </a:r>
            <a:r>
              <a:rPr lang="es-ES" b="1" dirty="0"/>
              <a:t>mecanismo de sincronización</a:t>
            </a:r>
            <a:r>
              <a:rPr lang="es-ES" dirty="0"/>
              <a:t> que permite </a:t>
            </a:r>
            <a:r>
              <a:rPr lang="es-ES" b="1" dirty="0"/>
              <a:t>controlar el acceso concurrente</a:t>
            </a:r>
            <a:r>
              <a:rPr lang="es-ES" dirty="0"/>
              <a:t> de varios hilos a un recurso compartido.</a:t>
            </a:r>
          </a:p>
          <a:p>
            <a:pPr>
              <a:buNone/>
            </a:pPr>
            <a:endParaRPr lang="es-ES" dirty="0"/>
          </a:p>
          <a:p>
            <a:pPr>
              <a:buNone/>
            </a:pPr>
            <a:r>
              <a:rPr lang="es-ES" dirty="0"/>
              <a:t>Piensa en él como un </a:t>
            </a:r>
            <a:r>
              <a:rPr lang="es-ES" b="1" dirty="0"/>
              <a:t>contador de permisos</a:t>
            </a:r>
            <a:r>
              <a:rPr lang="es-E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Cada hilo necesita un </a:t>
            </a:r>
            <a:r>
              <a:rPr lang="es-ES" b="1" dirty="0"/>
              <a:t>permiso</a:t>
            </a:r>
            <a:r>
              <a:rPr lang="es-ES" dirty="0"/>
              <a:t> para entrar en una zona crítica.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Si hay permisos disponibles, el hilo entra y </a:t>
            </a:r>
            <a:r>
              <a:rPr lang="es-ES" b="1" dirty="0"/>
              <a:t>consume uno</a:t>
            </a:r>
            <a:r>
              <a:rPr lang="es-E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Si no hay permisos, el hilo </a:t>
            </a:r>
            <a:r>
              <a:rPr lang="es-ES" b="1" dirty="0"/>
              <a:t>espera (bloquea)</a:t>
            </a:r>
            <a:r>
              <a:rPr lang="es-ES" dirty="0"/>
              <a:t> hasta que otro hilo libere uno.</a:t>
            </a:r>
          </a:p>
        </p:txBody>
      </p:sp>
      <p:pic>
        <p:nvPicPr>
          <p:cNvPr id="1028" name="Picture 4" descr="Semáforo - Wikipedia, la enciclopedia libre">
            <a:extLst>
              <a:ext uri="{FF2B5EF4-FFF2-40B4-BE49-F238E27FC236}">
                <a16:creationId xmlns:a16="http://schemas.microsoft.com/office/drawing/2014/main" id="{8F37CF93-7FB6-D200-E469-6FB3BA34FEA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299" r="23411"/>
          <a:stretch>
            <a:fillRect/>
          </a:stretch>
        </p:blipFill>
        <p:spPr bwMode="auto">
          <a:xfrm>
            <a:off x="9184640" y="1793116"/>
            <a:ext cx="1869440" cy="3575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28277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B13EEF-8745-C053-8836-B33BA72DA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6763F7-44D4-1DDF-F64E-737BA8716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86293"/>
          </a:xfrm>
        </p:spPr>
        <p:txBody>
          <a:bodyPr>
            <a:normAutofit/>
          </a:bodyPr>
          <a:lstStyle/>
          <a:p>
            <a:r>
              <a:rPr lang="es-ES" dirty="0"/>
              <a:t>SEMÁFOROS. USOS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41EE1C82-37DF-5906-F87C-D92599617EB0}"/>
              </a:ext>
            </a:extLst>
          </p:cNvPr>
          <p:cNvSpPr txBox="1"/>
          <p:nvPr/>
        </p:nvSpPr>
        <p:spPr>
          <a:xfrm>
            <a:off x="1263151" y="1793116"/>
            <a:ext cx="792148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Los semáforos se usan para:</a:t>
            </a:r>
          </a:p>
          <a:p>
            <a:r>
              <a:rPr lang="es-ES" b="1" dirty="0"/>
              <a:t>Coordinar hilos</a:t>
            </a:r>
            <a:r>
              <a:rPr lang="es-ES" dirty="0"/>
              <a:t> (por ejemplo, que uno espere a otro).</a:t>
            </a:r>
            <a:br>
              <a:rPr lang="es-ES" dirty="0"/>
            </a:br>
            <a:r>
              <a:rPr lang="es-ES" b="1" dirty="0"/>
              <a:t>Controlar el acceso a recursos limitados</a:t>
            </a:r>
            <a:r>
              <a:rPr lang="es-ES" dirty="0"/>
              <a:t>, como: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conexiones a base de datos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impresoras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archivos compartidos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zonas críticas</a:t>
            </a:r>
          </a:p>
          <a:p>
            <a:r>
              <a:rPr lang="es-ES" b="1" dirty="0"/>
              <a:t>Sincronizar el orden de ejecución</a:t>
            </a:r>
            <a:r>
              <a:rPr lang="es-ES" dirty="0"/>
              <a:t> entre hilos (asegurar secuencias concretas).</a:t>
            </a:r>
          </a:p>
        </p:txBody>
      </p:sp>
      <p:pic>
        <p:nvPicPr>
          <p:cNvPr id="1028" name="Picture 4" descr="Semáforo - Wikipedia, la enciclopedia libre">
            <a:extLst>
              <a:ext uri="{FF2B5EF4-FFF2-40B4-BE49-F238E27FC236}">
                <a16:creationId xmlns:a16="http://schemas.microsoft.com/office/drawing/2014/main" id="{31FE6FA5-7BF2-BE46-B3AD-49C56B2BE2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299" r="23411"/>
          <a:stretch>
            <a:fillRect/>
          </a:stretch>
        </p:blipFill>
        <p:spPr bwMode="auto">
          <a:xfrm>
            <a:off x="9184640" y="1793116"/>
            <a:ext cx="1869440" cy="3575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80172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439A8A-5309-A15A-8171-6EBA016FE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D01488-4DCD-213F-1923-70AB4887A9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86293"/>
          </a:xfrm>
        </p:spPr>
        <p:txBody>
          <a:bodyPr>
            <a:normAutofit/>
          </a:bodyPr>
          <a:lstStyle/>
          <a:p>
            <a:r>
              <a:rPr lang="es-ES" dirty="0"/>
              <a:t>SEMÁFOROS. MÉTODOS</a:t>
            </a:r>
          </a:p>
        </p:txBody>
      </p:sp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16F809B7-81FC-6918-C6F1-AA6EC8CF6FB6}"/>
              </a:ext>
            </a:extLst>
          </p:cNvPr>
          <p:cNvGraphicFramePr>
            <a:graphicFrameLocks noGrp="1"/>
          </p:cNvGraphicFramePr>
          <p:nvPr/>
        </p:nvGraphicFramePr>
        <p:xfrm>
          <a:off x="2120220" y="2120901"/>
          <a:ext cx="7957910" cy="4051297"/>
        </p:xfrm>
        <a:graphic>
          <a:graphicData uri="http://schemas.openxmlformats.org/drawingml/2006/table">
            <a:tbl>
              <a:tblPr/>
              <a:tblGrid>
                <a:gridCol w="3978955">
                  <a:extLst>
                    <a:ext uri="{9D8B030D-6E8A-4147-A177-3AD203B41FA5}">
                      <a16:colId xmlns:a16="http://schemas.microsoft.com/office/drawing/2014/main" val="1579617888"/>
                    </a:ext>
                  </a:extLst>
                </a:gridCol>
                <a:gridCol w="3978955">
                  <a:extLst>
                    <a:ext uri="{9D8B030D-6E8A-4147-A177-3AD203B41FA5}">
                      <a16:colId xmlns:a16="http://schemas.microsoft.com/office/drawing/2014/main" val="3249475527"/>
                    </a:ext>
                  </a:extLst>
                </a:gridCol>
              </a:tblGrid>
              <a:tr h="28937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400"/>
                        <a:t>Método</a:t>
                      </a:r>
                    </a:p>
                  </a:txBody>
                  <a:tcPr marL="72345" marR="72345" marT="36172" marB="36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400" dirty="0"/>
                        <a:t>Descripción</a:t>
                      </a:r>
                    </a:p>
                  </a:txBody>
                  <a:tcPr marL="72345" marR="72345" marT="36172" marB="36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5136428"/>
                  </a:ext>
                </a:extLst>
              </a:tr>
              <a:tr h="5064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>
                          <a:latin typeface="Courier New" panose="02070309020205020404" pitchFamily="49" charset="0"/>
                        </a:rPr>
                        <a:t>acquire()</a:t>
                      </a:r>
                      <a:endParaRPr lang="es-ES" sz="1400"/>
                    </a:p>
                  </a:txBody>
                  <a:tcPr marL="72345" marR="72345" marT="36172" marB="36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/>
                        <a:t>El hilo </a:t>
                      </a:r>
                      <a:r>
                        <a:rPr lang="es-ES" sz="1400" b="1"/>
                        <a:t>intenta obtener un permiso</a:t>
                      </a:r>
                      <a:r>
                        <a:rPr lang="es-ES" sz="1400"/>
                        <a:t>. Si no hay disponibles, </a:t>
                      </a:r>
                      <a:r>
                        <a:rPr lang="es-ES" sz="1400" b="1"/>
                        <a:t>espera</a:t>
                      </a:r>
                      <a:r>
                        <a:rPr lang="es-ES" sz="1400"/>
                        <a:t> hasta que se libere uno.</a:t>
                      </a:r>
                    </a:p>
                  </a:txBody>
                  <a:tcPr marL="72345" marR="72345" marT="36172" marB="36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9891343"/>
                  </a:ext>
                </a:extLst>
              </a:tr>
              <a:tr h="7234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>
                          <a:latin typeface="Courier New" panose="02070309020205020404" pitchFamily="49" charset="0"/>
                        </a:rPr>
                        <a:t>tryAcquire()</a:t>
                      </a:r>
                      <a:endParaRPr lang="es-ES" sz="1400"/>
                    </a:p>
                  </a:txBody>
                  <a:tcPr marL="72345" marR="72345" marT="36172" marB="36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/>
                        <a:t>Igual que </a:t>
                      </a:r>
                      <a:r>
                        <a:rPr lang="es-ES" sz="1400">
                          <a:latin typeface="Courier New" panose="02070309020205020404" pitchFamily="49" charset="0"/>
                        </a:rPr>
                        <a:t>acquire()</a:t>
                      </a:r>
                      <a:r>
                        <a:rPr lang="es-ES" sz="1400"/>
                        <a:t>, pero </a:t>
                      </a:r>
                      <a:r>
                        <a:rPr lang="es-ES" sz="1400" b="1"/>
                        <a:t>no bloquea</a:t>
                      </a:r>
                      <a:r>
                        <a:rPr lang="es-ES" sz="1400"/>
                        <a:t>; devuelve </a:t>
                      </a:r>
                      <a:r>
                        <a:rPr lang="es-ES" sz="1400">
                          <a:latin typeface="Courier New" panose="02070309020205020404" pitchFamily="49" charset="0"/>
                        </a:rPr>
                        <a:t>true</a:t>
                      </a:r>
                      <a:r>
                        <a:rPr lang="es-ES" sz="1400"/>
                        <a:t> si obtuvo el permiso, </a:t>
                      </a:r>
                      <a:r>
                        <a:rPr lang="es-ES" sz="1400">
                          <a:latin typeface="Courier New" panose="02070309020205020404" pitchFamily="49" charset="0"/>
                        </a:rPr>
                        <a:t>false</a:t>
                      </a:r>
                      <a:r>
                        <a:rPr lang="es-ES" sz="1400"/>
                        <a:t> si no.</a:t>
                      </a:r>
                    </a:p>
                  </a:txBody>
                  <a:tcPr marL="72345" marR="72345" marT="36172" marB="36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4225797"/>
                  </a:ext>
                </a:extLst>
              </a:tr>
              <a:tr h="5064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>
                          <a:latin typeface="Courier New" panose="02070309020205020404" pitchFamily="49" charset="0"/>
                        </a:rPr>
                        <a:t>release()</a:t>
                      </a:r>
                      <a:endParaRPr lang="es-ES" sz="1400"/>
                    </a:p>
                  </a:txBody>
                  <a:tcPr marL="72345" marR="72345" marT="36172" marB="36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b="1"/>
                        <a:t>Libera un permiso</a:t>
                      </a:r>
                      <a:r>
                        <a:rPr lang="es-ES" sz="1400"/>
                        <a:t>, aumentando el contador. Permite que otro hilo pueda entrar.</a:t>
                      </a:r>
                    </a:p>
                  </a:txBody>
                  <a:tcPr marL="72345" marR="72345" marT="36172" marB="36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5380169"/>
                  </a:ext>
                </a:extLst>
              </a:tr>
              <a:tr h="5064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>
                          <a:latin typeface="Courier New" panose="02070309020205020404" pitchFamily="49" charset="0"/>
                        </a:rPr>
                        <a:t>availablePermits()</a:t>
                      </a:r>
                      <a:endParaRPr lang="es-ES" sz="1400"/>
                    </a:p>
                  </a:txBody>
                  <a:tcPr marL="72345" marR="72345" marT="36172" marB="36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/>
                        <a:t>Devuelve el número actual de permisos disponibles.</a:t>
                      </a:r>
                    </a:p>
                  </a:txBody>
                  <a:tcPr marL="72345" marR="72345" marT="36172" marB="36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489522"/>
                  </a:ext>
                </a:extLst>
              </a:tr>
              <a:tr h="5064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>
                          <a:latin typeface="Courier New" panose="02070309020205020404" pitchFamily="49" charset="0"/>
                        </a:rPr>
                        <a:t>drainPermits()</a:t>
                      </a:r>
                      <a:endParaRPr lang="es-ES" sz="1400"/>
                    </a:p>
                  </a:txBody>
                  <a:tcPr marL="72345" marR="72345" marT="36172" marB="36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/>
                        <a:t>Quita y devuelve todos los permisos disponibles (los pone a cero).</a:t>
                      </a:r>
                    </a:p>
                  </a:txBody>
                  <a:tcPr marL="72345" marR="72345" marT="36172" marB="36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1041110"/>
                  </a:ext>
                </a:extLst>
              </a:tr>
              <a:tr h="5064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>
                          <a:latin typeface="Courier New" panose="02070309020205020404" pitchFamily="49" charset="0"/>
                        </a:rPr>
                        <a:t>new Semaphore(int permits)</a:t>
                      </a:r>
                      <a:endParaRPr lang="es-ES" sz="1400"/>
                    </a:p>
                  </a:txBody>
                  <a:tcPr marL="72345" marR="72345" marT="36172" marB="36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/>
                        <a:t>Crea un semáforo con un número inicial de permisos.</a:t>
                      </a:r>
                    </a:p>
                  </a:txBody>
                  <a:tcPr marL="72345" marR="72345" marT="36172" marB="36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9802832"/>
                  </a:ext>
                </a:extLst>
              </a:tr>
              <a:tr h="5064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new Semaphore(int permits, boolean fair)</a:t>
                      </a:r>
                      <a:endParaRPr lang="en-US" sz="1400"/>
                    </a:p>
                  </a:txBody>
                  <a:tcPr marL="72345" marR="72345" marT="36172" marB="36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dirty="0"/>
                        <a:t>Crea un semáforo “justo” (</a:t>
                      </a:r>
                      <a:r>
                        <a:rPr lang="es-ES" sz="1400" dirty="0" err="1">
                          <a:latin typeface="Courier New" panose="02070309020205020404" pitchFamily="49" charset="0"/>
                        </a:rPr>
                        <a:t>fair</a:t>
                      </a:r>
                      <a:r>
                        <a:rPr lang="es-ES" sz="1400" dirty="0">
                          <a:latin typeface="Courier New" panose="02070309020205020404" pitchFamily="49" charset="0"/>
                        </a:rPr>
                        <a:t> = true</a:t>
                      </a:r>
                      <a:r>
                        <a:rPr lang="es-ES" sz="1400" dirty="0"/>
                        <a:t>), en el que los hilos esperan en orden FIFO.</a:t>
                      </a:r>
                    </a:p>
                  </a:txBody>
                  <a:tcPr marL="72345" marR="72345" marT="36172" marB="361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44947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85535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F52350-C5E6-F36B-FF8A-CFAC4D55D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FB745A-A277-FFE4-F4AB-DB341C4A5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86293"/>
          </a:xfrm>
        </p:spPr>
        <p:txBody>
          <a:bodyPr>
            <a:normAutofit/>
          </a:bodyPr>
          <a:lstStyle/>
          <a:p>
            <a:r>
              <a:rPr lang="es-ES" dirty="0"/>
              <a:t>SEMÁFOROS. MÉTODOS</a:t>
            </a: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687DAD2F-BC82-522D-1326-24C2CF83BD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7783289"/>
              </p:ext>
            </p:extLst>
          </p:nvPr>
        </p:nvGraphicFramePr>
        <p:xfrm>
          <a:off x="755343" y="2469166"/>
          <a:ext cx="10058400" cy="2834640"/>
        </p:xfrm>
        <a:graphic>
          <a:graphicData uri="http://schemas.openxmlformats.org/drawingml/2006/table">
            <a:tbl>
              <a:tblPr/>
              <a:tblGrid>
                <a:gridCol w="2514600">
                  <a:extLst>
                    <a:ext uri="{9D8B030D-6E8A-4147-A177-3AD203B41FA5}">
                      <a16:colId xmlns:a16="http://schemas.microsoft.com/office/drawing/2014/main" val="31849286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3457027309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214031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41963049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b="1"/>
                        <a:t>Método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b="1" dirty="0"/>
                        <a:t>Qué hace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b="1" dirty="0"/>
                        <a:t>Cuándo se usa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b="1" dirty="0"/>
                        <a:t>Qué pasa si no hay permisos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62725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>
                          <a:latin typeface="Courier New" panose="02070309020205020404" pitchFamily="49" charset="0"/>
                        </a:rPr>
                        <a:t>acquire()</a:t>
                      </a:r>
                      <a:endParaRPr lang="es-E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Resta 1 permiso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Antes de acceder al recurso compartido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El hilo se </a:t>
                      </a:r>
                      <a:r>
                        <a:rPr lang="es-ES" b="1"/>
                        <a:t>bloquea</a:t>
                      </a:r>
                      <a:r>
                        <a:rPr lang="es-ES"/>
                        <a:t> hasta que haya permiso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2782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dirty="0" err="1">
                          <a:latin typeface="Courier New" panose="02070309020205020404" pitchFamily="49" charset="0"/>
                        </a:rPr>
                        <a:t>release</a:t>
                      </a:r>
                      <a:r>
                        <a:rPr lang="es-ES" dirty="0">
                          <a:latin typeface="Courier New" panose="02070309020205020404" pitchFamily="49" charset="0"/>
                        </a:rPr>
                        <a:t>()</a:t>
                      </a:r>
                      <a:endParaRPr lang="es-E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Suma 1 permiso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Al terminar de usar el recurso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dirty="0"/>
                        <a:t>Despierta a un hilo bloqueado, si lo hay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00117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dirty="0" err="1">
                          <a:latin typeface="Courier New" panose="02070309020205020404" pitchFamily="49" charset="0"/>
                        </a:rPr>
                        <a:t>Semaphore</a:t>
                      </a:r>
                      <a:endParaRPr lang="es-E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dirty="0"/>
                        <a:t>Controla cuántos hilos (clientes) pueden ejecutar a la vez (3 camareros)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73891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27363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D1B3F2-DC44-D6ED-2B95-C63A28A0A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2696" y="1279013"/>
            <a:ext cx="4702003" cy="265383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800" dirty="0"/>
              <a:t>Ejemplo</a:t>
            </a:r>
            <a:br>
              <a:rPr lang="en-US" sz="4800" dirty="0"/>
            </a:br>
            <a:r>
              <a:rPr lang="en-US" sz="1600" dirty="0" err="1"/>
              <a:t>Synchronised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64663135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5713B4-3B64-6192-C6BE-D7A1C3BB8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4337" y="1265314"/>
            <a:ext cx="4299666" cy="324913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Actividad</a:t>
            </a:r>
            <a:br>
              <a:rPr lang="en-US" sz="5400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</a:br>
            <a:r>
              <a:rPr lang="en-US" sz="1800" kern="1200" dirty="0" err="1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Ejercicio</a:t>
            </a:r>
            <a:r>
              <a:rPr lang="en-US" sz="1800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1800" dirty="0" err="1"/>
              <a:t>tabla</a:t>
            </a:r>
            <a:r>
              <a:rPr lang="en-US" sz="1800" dirty="0"/>
              <a:t> X</a:t>
            </a:r>
            <a:endParaRPr lang="en-US" sz="1800" kern="12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7" name="Graphic 6" descr="Head with Gears">
            <a:extLst>
              <a:ext uri="{FF2B5EF4-FFF2-40B4-BE49-F238E27FC236}">
                <a16:creationId xmlns:a16="http://schemas.microsoft.com/office/drawing/2014/main" id="{2F5BA4C0-66F5-5D0E-74DB-032CFE1B30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8604" y="1550139"/>
            <a:ext cx="3765692" cy="3765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92220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5713B4-3B64-6192-C6BE-D7A1C3BB8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4337" y="1265314"/>
            <a:ext cx="4299666" cy="324913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Actividad</a:t>
            </a:r>
            <a:br>
              <a:rPr lang="en-US" sz="5400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</a:br>
            <a:r>
              <a:rPr lang="en-US" sz="1800" kern="1200" dirty="0" err="1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Ejercicio</a:t>
            </a:r>
            <a:r>
              <a:rPr lang="en-US" sz="1800" kern="12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1800"/>
              <a:t>gun</a:t>
            </a:r>
            <a:endParaRPr lang="en-US" sz="1800" kern="12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7" name="Graphic 6" descr="Head with Gears">
            <a:extLst>
              <a:ext uri="{FF2B5EF4-FFF2-40B4-BE49-F238E27FC236}">
                <a16:creationId xmlns:a16="http://schemas.microsoft.com/office/drawing/2014/main" id="{2F5BA4C0-66F5-5D0E-74DB-032CFE1B30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8604" y="1550139"/>
            <a:ext cx="3765692" cy="3765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4964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5713B4-3B64-6192-C6BE-D7A1C3BB8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4337" y="1265314"/>
            <a:ext cx="4299666" cy="324913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Actividad</a:t>
            </a:r>
            <a:br>
              <a:rPr lang="en-US" sz="5400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</a:br>
            <a:r>
              <a:rPr lang="en-US" sz="1800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Ejercicio </a:t>
            </a:r>
            <a:r>
              <a:rPr lang="en-US" sz="1800" dirty="0" err="1"/>
              <a:t>confesionario</a:t>
            </a:r>
            <a:endParaRPr lang="en-US" sz="1800" kern="12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7" name="Graphic 6" descr="Head with Gears">
            <a:extLst>
              <a:ext uri="{FF2B5EF4-FFF2-40B4-BE49-F238E27FC236}">
                <a16:creationId xmlns:a16="http://schemas.microsoft.com/office/drawing/2014/main" id="{2F5BA4C0-66F5-5D0E-74DB-032CFE1B30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8604" y="1550139"/>
            <a:ext cx="3765692" cy="3765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66410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Letras en madera">
  <a:themeElements>
    <a:clrScheme name="Azul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Letras en madera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Letras en madera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TM03090434[[fn=Letras en madera]]</Template>
  <TotalTime>923</TotalTime>
  <Words>1868</Words>
  <Application>Microsoft Office PowerPoint</Application>
  <PresentationFormat>Panorámica</PresentationFormat>
  <Paragraphs>267</Paragraphs>
  <Slides>35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13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35</vt:i4>
      </vt:variant>
    </vt:vector>
  </HeadingPairs>
  <TitlesOfParts>
    <vt:vector size="49" baseType="lpstr">
      <vt:lpstr>-apple-system</vt:lpstr>
      <vt:lpstr>Aptos</vt:lpstr>
      <vt:lpstr>Arial</vt:lpstr>
      <vt:lpstr>Calibri</vt:lpstr>
      <vt:lpstr>Courier New</vt:lpstr>
      <vt:lpstr>Lora</vt:lpstr>
      <vt:lpstr>Menlo</vt:lpstr>
      <vt:lpstr>Rockwell</vt:lpstr>
      <vt:lpstr>Rockwell Condensed</vt:lpstr>
      <vt:lpstr>Source Code Pro</vt:lpstr>
      <vt:lpstr>Trebuchet MS (Cuerpo)</vt:lpstr>
      <vt:lpstr>verdana</vt:lpstr>
      <vt:lpstr>Wingdings</vt:lpstr>
      <vt:lpstr>Letras en madera</vt:lpstr>
      <vt:lpstr>UD.2 Programación multihilo</vt:lpstr>
      <vt:lpstr>Programación concurrente</vt:lpstr>
      <vt:lpstr>Programación concurrente</vt:lpstr>
      <vt:lpstr>Presentación de PowerPoint</vt:lpstr>
      <vt:lpstr>Presentación de PowerPoint</vt:lpstr>
      <vt:lpstr>Presentación de PowerPoint</vt:lpstr>
      <vt:lpstr>Problemas programación concurrente</vt:lpstr>
      <vt:lpstr>Problemas programación concurrente</vt:lpstr>
      <vt:lpstr>Problemas programación concurrente</vt:lpstr>
      <vt:lpstr>Estados de un hilo</vt:lpstr>
      <vt:lpstr>Estados de un hilo</vt:lpstr>
      <vt:lpstr>Concurrencia en JAVA</vt:lpstr>
      <vt:lpstr>Ejemplo Creación multihilo</vt:lpstr>
      <vt:lpstr>Ejemplo clase THREAD</vt:lpstr>
      <vt:lpstr>Comunicación entre hilos</vt:lpstr>
      <vt:lpstr>Problemas de sincronización</vt:lpstr>
      <vt:lpstr>Bloque synchronized</vt:lpstr>
      <vt:lpstr>Finalización de hilos</vt:lpstr>
      <vt:lpstr>Comunicación de subprocesos</vt:lpstr>
      <vt:lpstr>El problema del PRODUCTOR - CONSUMIDOR</vt:lpstr>
      <vt:lpstr>Prioridad de hilos</vt:lpstr>
      <vt:lpstr>Funciones DE SINCRONIZACIÓN</vt:lpstr>
      <vt:lpstr>MÉTODOS PRINCIPALES (THREAD=</vt:lpstr>
      <vt:lpstr>Alternativa de comunicación de subprocesos: Lock() /unlock()</vt:lpstr>
      <vt:lpstr>Thread pool  Piscina de hilos</vt:lpstr>
      <vt:lpstr>Thread pool  Piscina de hilos</vt:lpstr>
      <vt:lpstr>Thread pool  Piscina de hilos</vt:lpstr>
      <vt:lpstr>SEMÁFOROS. MÉTODOS</vt:lpstr>
      <vt:lpstr>SEMÁFOROS. USOS</vt:lpstr>
      <vt:lpstr>SEMÁFOROS. MÉTODOS</vt:lpstr>
      <vt:lpstr>SEMÁFOROS. MÉTODOS</vt:lpstr>
      <vt:lpstr>Ejemplo Synchronised</vt:lpstr>
      <vt:lpstr>Actividad Ejercicio tabla X</vt:lpstr>
      <vt:lpstr>Actividad Ejercicio gun</vt:lpstr>
      <vt:lpstr>Actividad Ejercicio confesionario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UD.2 Programación multihilo</dc:title>
  <dc:creator>Eduardo Del Olmo</dc:creator>
  <cp:lastModifiedBy>Office</cp:lastModifiedBy>
  <cp:revision>35</cp:revision>
  <dcterms:created xsi:type="dcterms:W3CDTF">2022-08-26T20:38:56Z</dcterms:created>
  <dcterms:modified xsi:type="dcterms:W3CDTF">2025-10-14T17:40:42Z</dcterms:modified>
</cp:coreProperties>
</file>